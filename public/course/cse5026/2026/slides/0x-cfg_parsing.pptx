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1" r:id="rId6"/>
    <p:sldId id="316" r:id="rId7"/>
    <p:sldId id="312" r:id="rId8"/>
    <p:sldId id="260" r:id="rId9"/>
    <p:sldId id="262" r:id="rId10"/>
    <p:sldId id="270" r:id="rId11"/>
    <p:sldId id="271" r:id="rId12"/>
    <p:sldId id="272" r:id="rId13"/>
    <p:sldId id="273" r:id="rId14"/>
    <p:sldId id="274" r:id="rId15"/>
    <p:sldId id="263" r:id="rId16"/>
    <p:sldId id="264" r:id="rId17"/>
    <p:sldId id="265" r:id="rId18"/>
    <p:sldId id="310" r:id="rId19"/>
    <p:sldId id="266" r:id="rId20"/>
    <p:sldId id="286" r:id="rId21"/>
    <p:sldId id="276" r:id="rId22"/>
    <p:sldId id="277" r:id="rId23"/>
    <p:sldId id="309" r:id="rId24"/>
    <p:sldId id="311" r:id="rId25"/>
    <p:sldId id="275" r:id="rId26"/>
    <p:sldId id="278" r:id="rId27"/>
    <p:sldId id="279" r:id="rId28"/>
    <p:sldId id="280" r:id="rId29"/>
    <p:sldId id="282" r:id="rId30"/>
    <p:sldId id="281" r:id="rId31"/>
    <p:sldId id="283" r:id="rId32"/>
    <p:sldId id="284" r:id="rId33"/>
    <p:sldId id="267" r:id="rId34"/>
    <p:sldId id="285" r:id="rId35"/>
    <p:sldId id="287" r:id="rId36"/>
    <p:sldId id="288" r:id="rId37"/>
    <p:sldId id="289" r:id="rId38"/>
    <p:sldId id="290" r:id="rId39"/>
    <p:sldId id="291" r:id="rId40"/>
    <p:sldId id="293" r:id="rId41"/>
    <p:sldId id="300" r:id="rId42"/>
    <p:sldId id="306" r:id="rId43"/>
    <p:sldId id="307" r:id="rId44"/>
    <p:sldId id="308" r:id="rId45"/>
    <p:sldId id="292" r:id="rId46"/>
    <p:sldId id="268" r:id="rId47"/>
    <p:sldId id="295" r:id="rId48"/>
    <p:sldId id="296" r:id="rId49"/>
    <p:sldId id="297" r:id="rId50"/>
    <p:sldId id="298" r:id="rId51"/>
    <p:sldId id="299" r:id="rId52"/>
    <p:sldId id="314" r:id="rId53"/>
    <p:sldId id="269" r:id="rId54"/>
    <p:sldId id="303" r:id="rId55"/>
    <p:sldId id="302" r:id="rId56"/>
    <p:sldId id="315" r:id="rId57"/>
    <p:sldId id="313" r:id="rId58"/>
    <p:sldId id="305" r:id="rId5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27"/>
    <p:restoredTop sz="89596"/>
  </p:normalViewPr>
  <p:slideViewPr>
    <p:cSldViewPr snapToGrid="0">
      <p:cViewPr varScale="1">
        <p:scale>
          <a:sx n="156" d="100"/>
          <a:sy n="15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Xu" userId="ea595d08-535a-4843-90d2-3b60a2d34bc5" providerId="ADAL" clId="{99677592-326D-58B7-AFDD-92815F0CB544}"/>
    <pc:docChg chg="custSel modSld">
      <pc:chgData name="Yang Xu" userId="ea595d08-535a-4843-90d2-3b60a2d34bc5" providerId="ADAL" clId="{99677592-326D-58B7-AFDD-92815F0CB544}" dt="2025-12-27T02:44:47.318" v="4" actId="21"/>
      <pc:docMkLst>
        <pc:docMk/>
      </pc:docMkLst>
      <pc:sldChg chg="addSp delSp modSp mod">
        <pc:chgData name="Yang Xu" userId="ea595d08-535a-4843-90d2-3b60a2d34bc5" providerId="ADAL" clId="{99677592-326D-58B7-AFDD-92815F0CB544}" dt="2025-12-27T02:44:47.318" v="4" actId="21"/>
        <pc:sldMkLst>
          <pc:docMk/>
          <pc:sldMk cId="1215317837" sldId="290"/>
        </pc:sldMkLst>
        <pc:spChg chg="add mod">
          <ac:chgData name="Yang Xu" userId="ea595d08-535a-4843-90d2-3b60a2d34bc5" providerId="ADAL" clId="{99677592-326D-58B7-AFDD-92815F0CB544}" dt="2025-12-27T02:44:43.216" v="1"/>
          <ac:spMkLst>
            <pc:docMk/>
            <pc:sldMk cId="1215317837" sldId="290"/>
            <ac:spMk id="19" creationId="{A42BA292-66A8-073C-53E2-168E4E67F6D7}"/>
          </ac:spMkLst>
        </pc:spChg>
        <pc:spChg chg="add mod">
          <ac:chgData name="Yang Xu" userId="ea595d08-535a-4843-90d2-3b60a2d34bc5" providerId="ADAL" clId="{99677592-326D-58B7-AFDD-92815F0CB544}" dt="2025-12-27T02:44:43.216" v="1"/>
          <ac:spMkLst>
            <pc:docMk/>
            <pc:sldMk cId="1215317837" sldId="290"/>
            <ac:spMk id="23" creationId="{1F91E965-D19B-9458-D20C-1221955462FB}"/>
          </ac:spMkLst>
        </pc:spChg>
        <pc:spChg chg="add mod">
          <ac:chgData name="Yang Xu" userId="ea595d08-535a-4843-90d2-3b60a2d34bc5" providerId="ADAL" clId="{99677592-326D-58B7-AFDD-92815F0CB544}" dt="2025-12-27T02:44:43.216" v="1"/>
          <ac:spMkLst>
            <pc:docMk/>
            <pc:sldMk cId="1215317837" sldId="290"/>
            <ac:spMk id="25" creationId="{D4E5915E-BF0A-7FD0-5AE1-4325B360DCCB}"/>
          </ac:spMkLst>
        </pc:spChg>
        <pc:spChg chg="add mod">
          <ac:chgData name="Yang Xu" userId="ea595d08-535a-4843-90d2-3b60a2d34bc5" providerId="ADAL" clId="{99677592-326D-58B7-AFDD-92815F0CB544}" dt="2025-12-27T02:44:43.216" v="1"/>
          <ac:spMkLst>
            <pc:docMk/>
            <pc:sldMk cId="1215317837" sldId="290"/>
            <ac:spMk id="28" creationId="{2C8C8261-E589-FA2B-E0ED-B98654AB0AF8}"/>
          </ac:spMkLst>
        </pc:spChg>
        <pc:spChg chg="add mod">
          <ac:chgData name="Yang Xu" userId="ea595d08-535a-4843-90d2-3b60a2d34bc5" providerId="ADAL" clId="{99677592-326D-58B7-AFDD-92815F0CB544}" dt="2025-12-27T02:44:43.216" v="1"/>
          <ac:spMkLst>
            <pc:docMk/>
            <pc:sldMk cId="1215317837" sldId="290"/>
            <ac:spMk id="32" creationId="{4251BB4F-6C5E-E4EE-C925-B4A275EF2D71}"/>
          </ac:spMkLst>
        </pc:spChg>
        <pc:spChg chg="add mod">
          <ac:chgData name="Yang Xu" userId="ea595d08-535a-4843-90d2-3b60a2d34bc5" providerId="ADAL" clId="{99677592-326D-58B7-AFDD-92815F0CB544}" dt="2025-12-27T02:44:43.216" v="1"/>
          <ac:spMkLst>
            <pc:docMk/>
            <pc:sldMk cId="1215317837" sldId="290"/>
            <ac:spMk id="39" creationId="{23EAFCDB-C9A2-6CBA-6141-157637981925}"/>
          </ac:spMkLst>
        </pc:spChg>
        <pc:spChg chg="add mod">
          <ac:chgData name="Yang Xu" userId="ea595d08-535a-4843-90d2-3b60a2d34bc5" providerId="ADAL" clId="{99677592-326D-58B7-AFDD-92815F0CB544}" dt="2025-12-27T02:44:43.216" v="1"/>
          <ac:spMkLst>
            <pc:docMk/>
            <pc:sldMk cId="1215317837" sldId="290"/>
            <ac:spMk id="46" creationId="{D42B44A1-91CF-3B99-26C7-E61B38629998}"/>
          </ac:spMkLst>
        </pc:spChg>
        <pc:spChg chg="add mod">
          <ac:chgData name="Yang Xu" userId="ea595d08-535a-4843-90d2-3b60a2d34bc5" providerId="ADAL" clId="{99677592-326D-58B7-AFDD-92815F0CB544}" dt="2025-12-27T02:44:43.216" v="1"/>
          <ac:spMkLst>
            <pc:docMk/>
            <pc:sldMk cId="1215317837" sldId="290"/>
            <ac:spMk id="47" creationId="{DE32F867-41D8-C0B6-AAF5-14CE8085665C}"/>
          </ac:spMkLst>
        </pc:spChg>
        <pc:grpChg chg="add mod">
          <ac:chgData name="Yang Xu" userId="ea595d08-535a-4843-90d2-3b60a2d34bc5" providerId="ADAL" clId="{99677592-326D-58B7-AFDD-92815F0CB544}" dt="2025-12-27T02:44:43.216" v="1"/>
          <ac:grpSpMkLst>
            <pc:docMk/>
            <pc:sldMk cId="1215317837" sldId="290"/>
            <ac:grpSpMk id="3" creationId="{E0E2D198-1F74-EA9E-0A3D-E88AE282B166}"/>
          </ac:grpSpMkLst>
        </pc:grpChg>
        <pc:grpChg chg="add mod">
          <ac:chgData name="Yang Xu" userId="ea595d08-535a-4843-90d2-3b60a2d34bc5" providerId="ADAL" clId="{99677592-326D-58B7-AFDD-92815F0CB544}" dt="2025-12-27T02:44:43.216" v="1"/>
          <ac:grpSpMkLst>
            <pc:docMk/>
            <pc:sldMk cId="1215317837" sldId="290"/>
            <ac:grpSpMk id="7" creationId="{D24A7AE0-0496-FE6E-A11A-D0892576F427}"/>
          </ac:grpSpMkLst>
        </pc:grpChg>
        <pc:picChg chg="add del mod">
          <ac:chgData name="Yang Xu" userId="ea595d08-535a-4843-90d2-3b60a2d34bc5" providerId="ADAL" clId="{99677592-326D-58B7-AFDD-92815F0CB544}" dt="2025-12-27T02:44:47.318" v="4" actId="21"/>
          <ac:picMkLst>
            <pc:docMk/>
            <pc:sldMk cId="1215317837" sldId="290"/>
            <ac:picMk id="49" creationId="{A0390C84-CD5A-E691-2588-82C2E852C46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E9BC82-72DF-5C40-BCBB-4D23D79BC7F7}" type="datetimeFigureOut">
              <a:rPr kumimoji="1" lang="zh-CN" altLang="en-US" smtClean="0"/>
              <a:t>2026/9/1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CEE0E-E5DC-1B4E-9E76-0F1F99BF99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3687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noun</a:t>
            </a:r>
            <a:r>
              <a:rPr kumimoji="1" lang="zh-CN" altLang="en-US" dirty="0"/>
              <a:t> </a:t>
            </a:r>
            <a:r>
              <a:rPr kumimoji="1" lang="en-US" altLang="zh-CN" dirty="0"/>
              <a:t>phrase:</a:t>
            </a:r>
            <a:r>
              <a:rPr kumimoji="1" lang="zh-CN" altLang="en-US" dirty="0"/>
              <a:t> </a:t>
            </a:r>
            <a:r>
              <a:rPr lang="en-US" altLang="zh-CN" sz="1800" dirty="0">
                <a:effectLst/>
                <a:latin typeface="NimbusRomNo9L"/>
              </a:rPr>
              <a:t>a sequence of words surrounding at least one noun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>
              <a:effectLst/>
              <a:latin typeface="NimbusRomNo9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dirty="0">
                <a:effectLst/>
                <a:latin typeface="NimbusRomNo9L"/>
              </a:rPr>
              <a:t>why</a:t>
            </a:r>
            <a:r>
              <a:rPr lang="zh-CN" altLang="en-US" sz="1800" dirty="0">
                <a:effectLst/>
                <a:latin typeface="NimbusRomNo9L"/>
              </a:rPr>
              <a:t> </a:t>
            </a:r>
            <a:r>
              <a:rPr lang="en-US" altLang="zh-CN" sz="1800" dirty="0">
                <a:effectLst/>
                <a:latin typeface="NimbusRomNo9L"/>
              </a:rPr>
              <a:t>(evidence):</a:t>
            </a:r>
            <a:r>
              <a:rPr lang="zh-CN" altLang="en-US" sz="1800" dirty="0">
                <a:effectLst/>
                <a:latin typeface="NimbusRomNo9L"/>
              </a:rPr>
              <a:t> </a:t>
            </a:r>
            <a:r>
              <a:rPr lang="en-US" altLang="zh-CN" sz="1800" dirty="0">
                <a:effectLst/>
                <a:latin typeface="NimbusRomNo9L"/>
              </a:rPr>
              <a:t>can all appear in similar syntactic environments,</a:t>
            </a:r>
            <a:r>
              <a:rPr lang="zh-CN" altLang="en-US" sz="1800" dirty="0">
                <a:effectLst/>
                <a:latin typeface="NimbusRomNo9L"/>
              </a:rPr>
              <a:t> </a:t>
            </a:r>
            <a:r>
              <a:rPr lang="en-US" altLang="zh-CN" sz="1800" dirty="0">
                <a:effectLst/>
                <a:latin typeface="NimbusRomNo9L"/>
              </a:rPr>
              <a:t>say,</a:t>
            </a:r>
            <a:r>
              <a:rPr lang="zh-CN" altLang="en-US" sz="1800" dirty="0">
                <a:effectLst/>
                <a:latin typeface="NimbusRomNo9L"/>
              </a:rPr>
              <a:t> </a:t>
            </a:r>
            <a:r>
              <a:rPr lang="en-US" altLang="zh-CN" sz="1800" dirty="0">
                <a:effectLst/>
                <a:latin typeface="NimbusRomNo9L"/>
              </a:rPr>
              <a:t>before</a:t>
            </a:r>
            <a:r>
              <a:rPr lang="zh-CN" altLang="en-US" sz="1800" dirty="0">
                <a:effectLst/>
                <a:latin typeface="NimbusRomNo9L"/>
              </a:rPr>
              <a:t> </a:t>
            </a:r>
            <a:r>
              <a:rPr lang="en-US" altLang="zh-CN" sz="1800" dirty="0">
                <a:effectLst/>
                <a:latin typeface="NimbusRomNo9L"/>
              </a:rPr>
              <a:t>a</a:t>
            </a:r>
            <a:r>
              <a:rPr lang="zh-CN" altLang="en-US" sz="1800" dirty="0">
                <a:effectLst/>
                <a:latin typeface="NimbusRomNo9L"/>
              </a:rPr>
              <a:t> </a:t>
            </a:r>
            <a:r>
              <a:rPr lang="en-US" altLang="zh-CN" sz="1800" dirty="0">
                <a:effectLst/>
                <a:latin typeface="NimbusRomNo9L"/>
              </a:rPr>
              <a:t>verb</a:t>
            </a:r>
            <a:r>
              <a:rPr lang="zh-CN" altLang="en-US" sz="1800" dirty="0">
                <a:effectLst/>
                <a:latin typeface="NimbusRomNo9L"/>
              </a:rPr>
              <a:t> （都可以出现在动词前面）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CEE0E-E5DC-1B4E-9E76-0F1F99BF9951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400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→: goes to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CEE0E-E5DC-1B4E-9E76-0F1F99BF9951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0589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dirty="0">
                <a:effectLst/>
                <a:latin typeface="NimbusRomNo9L"/>
              </a:rPr>
              <a:t>The symbols that are used in a CFG are divided into two classes: terminal and non terminal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CEE0E-E5DC-1B4E-9E76-0F1F99BF9951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8832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“sentence”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CEE0E-E5DC-1B4E-9E76-0F1F99BF9951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6311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70FF52-47E2-257D-4F9C-4AB1DFB4C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D13843-3DF1-B9E4-2284-CEB49670A7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81D1F6-A677-3470-3709-88845D5DB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9188C0-B72F-BDC5-4F69-1800958F3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3628FE-E637-1D53-EC29-37B0D7594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B1E8C85-A08E-0745-AC03-803657F4B28A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4202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DF83A8-C7AA-2F76-DC60-DF0429877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065DDA-34A9-E635-2B45-75B05D3D5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1552D6-8195-6474-6B9C-09E960D05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20B9B6-937C-E417-4271-B13EADC61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308180-661A-3E57-03F5-409705EB7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B1E8C85-A08E-0745-AC03-803657F4B28A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339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CC0EB-2BDE-EC45-6223-2DDD08917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5E1A2C-9334-DEFD-7D55-18369EF8B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B47FA1-7904-16E2-B939-06D71E90B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8FDF35-481E-155B-DE50-64BE25B0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372E00-EEB6-3B6E-28D2-C3596C922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1965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60CA1-8481-4F57-E02F-466BF3929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E037B2-BBE6-A6D4-8B9E-13E85B25E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E22244-C226-AD78-471E-83CDDABE6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B1C375-126C-0327-9758-423EEB2D5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1E3A0C-62EF-F528-5BAE-97A41FB9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345780-FF10-E639-80B6-FAEECE63D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427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1A56A-96EC-94C4-DF19-147E8E0E8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E84628-5B62-1640-BB57-8A5C81649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633F5C-F606-7F55-3DF3-E5158573D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4DB5EC5-FFE9-4622-6BEF-207F0E724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F917BB0-2758-5118-ABA7-BEEE929C13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E64EA20-E166-A276-4BBE-C39AA2E1F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CC0BABD-70C3-EBDC-EA2B-AB144894A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96879D9-33FC-BEA9-C4A3-C0AEF880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4809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3E3B08-45F7-D524-4379-BD1C34890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02CCFD-1D7D-2BE6-7ABF-AF30E7CF5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3F34BF5-5F86-89AD-69A6-20D1C859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977E3C-04C0-7D59-D7DE-2C46E5F70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6160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D4BB20-C740-1B28-7656-4A32DC758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BEC1852-0D31-525D-A5C3-7E99A8E38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F43322-9B06-9C54-A93E-CA58FB952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10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F69E3-D9F4-2869-04C3-B99375597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D072DB-2CEF-2BC8-4203-C2799C200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560DC6-A201-F2B7-5084-E50F11017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720FA8-17F6-D832-B448-2A878C914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4F4882-2B2A-5F04-4C52-605F12A7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FCB40A-340D-9751-0105-3B2B667C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6589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98E156-C10A-4B65-4C59-54390C562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94E2BC-B0B8-54FB-550A-0D735120DD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4C891B-50EE-A063-73E5-4C95A2A58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B17693-E3B9-F854-8319-695DFBCB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929EF8-581B-BA92-2A18-313F3C30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3420B1-4D1A-A49F-8691-96921D888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0744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0FEAE4-DA00-9011-0714-B3B66B950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15CE2A-58E7-E2D8-117F-C60965B1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A4B7A7-DE97-481F-190E-615D88C73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3A002D-B5FD-7F5B-DDEB-993919D4A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D57F17-219D-AC20-DF3B-B21FB1BFB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6332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9A0F7A3-5B02-04C8-9B46-072B356D7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D0D4FD-E264-64CD-1B5E-C473C9715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CE7B9B-3823-D8A3-41B4-B96F2FA3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2CE97F-020F-7B12-C99E-CDFE6236A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1CA1DE-E5D4-8247-971A-248069C46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085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50C2AE5-8E42-A131-BD28-529E94CCB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F92D8B-E6F2-7508-DD9A-7BAE4330B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E33B06-88D3-E634-215E-81E51315E6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9F5269-F804-1075-6325-6A0CD216D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E39188-18A0-2245-1D94-B82398C0A2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E8C85-A08E-0745-AC03-803657F4B28A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CF74B1F-42E3-C25A-9668-E95FA89FBA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23875" t="39751" r="23821" b="39047"/>
          <a:stretch/>
        </p:blipFill>
        <p:spPr>
          <a:xfrm>
            <a:off x="10287207" y="20782"/>
            <a:ext cx="1887474" cy="54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4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Songti SC" panose="02010600040101010101" pitchFamily="2" charset="-122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Songti SC" panose="02010600040101010101" pitchFamily="2" charset="-122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Songti SC" panose="02010600040101010101" pitchFamily="2" charset="-122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Songti SC" panose="02010600040101010101" pitchFamily="2" charset="-122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Songti SC" panose="02010600040101010101" pitchFamily="2" charset="-122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Songti SC" panose="02010600040101010101" pitchFamily="2" charset="-122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clanthology.org/H90-1021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0.png"/><Relationship Id="rId3" Type="http://schemas.openxmlformats.org/officeDocument/2006/relationships/image" Target="../media/image970.png"/><Relationship Id="rId7" Type="http://schemas.openxmlformats.org/officeDocument/2006/relationships/image" Target="../media/image101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0.png"/><Relationship Id="rId5" Type="http://schemas.openxmlformats.org/officeDocument/2006/relationships/image" Target="../media/image990.png"/><Relationship Id="rId4" Type="http://schemas.openxmlformats.org/officeDocument/2006/relationships/image" Target="../media/image980.png"/><Relationship Id="rId9" Type="http://schemas.openxmlformats.org/officeDocument/2006/relationships/image" Target="../media/image11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0.png"/><Relationship Id="rId2" Type="http://schemas.openxmlformats.org/officeDocument/2006/relationships/image" Target="../media/image10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0.png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0.png"/><Relationship Id="rId2" Type="http://schemas.openxmlformats.org/officeDocument/2006/relationships/image" Target="../media/image1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544E21-ADD5-7A3A-4376-BB92EAAD3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8303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4300" dirty="0"/>
              <a:t>CSE5026</a:t>
            </a:r>
            <a:r>
              <a:rPr kumimoji="1" lang="zh-CN" altLang="en-US" sz="4300" dirty="0"/>
              <a:t> </a:t>
            </a:r>
            <a:r>
              <a:rPr kumimoji="1" lang="en-US" altLang="zh-CN" sz="4300" dirty="0"/>
              <a:t>Introduction</a:t>
            </a:r>
            <a:r>
              <a:rPr kumimoji="1" lang="zh-CN" altLang="en-US" sz="4300" dirty="0"/>
              <a:t> </a:t>
            </a:r>
            <a:r>
              <a:rPr kumimoji="1" lang="en-US" altLang="zh-CN" sz="4300" dirty="0"/>
              <a:t>and</a:t>
            </a:r>
            <a:r>
              <a:rPr kumimoji="1" lang="zh-CN" altLang="en-US" sz="4300" dirty="0"/>
              <a:t> </a:t>
            </a:r>
            <a:r>
              <a:rPr kumimoji="1" lang="en-US" altLang="zh-CN" sz="4300" dirty="0"/>
              <a:t>Frontiers</a:t>
            </a:r>
            <a:r>
              <a:rPr kumimoji="1" lang="zh-CN" altLang="en-US" sz="4300" dirty="0"/>
              <a:t> </a:t>
            </a:r>
            <a:r>
              <a:rPr kumimoji="1" lang="en-US" altLang="zh-CN" sz="4300" dirty="0"/>
              <a:t>of</a:t>
            </a:r>
            <a:r>
              <a:rPr kumimoji="1" lang="zh-CN" altLang="en-US" sz="4300" dirty="0"/>
              <a:t> </a:t>
            </a:r>
            <a:r>
              <a:rPr kumimoji="1" lang="en-US" altLang="zh-CN" sz="4300" dirty="0"/>
              <a:t>Cognitive</a:t>
            </a:r>
            <a:r>
              <a:rPr kumimoji="1" lang="zh-CN" altLang="en-US" sz="4300" dirty="0"/>
              <a:t> </a:t>
            </a:r>
            <a:r>
              <a:rPr kumimoji="1" lang="en-US" altLang="zh-CN" sz="4300" dirty="0"/>
              <a:t>Science</a:t>
            </a:r>
            <a:br>
              <a:rPr kumimoji="1" lang="en-US" altLang="zh-CN" sz="4300" dirty="0"/>
            </a:br>
            <a:r>
              <a:rPr kumimoji="1" lang="zh-CN" altLang="en-US" sz="4300" dirty="0"/>
              <a:t>认知科学导论与前沿</a:t>
            </a:r>
            <a:br>
              <a:rPr kumimoji="1" lang="en-US" altLang="zh-CN" sz="4300" dirty="0"/>
            </a:br>
            <a:r>
              <a:rPr kumimoji="1" lang="en-US" altLang="zh-CN" sz="4300" dirty="0"/>
              <a:t>Lecture</a:t>
            </a:r>
            <a:r>
              <a:rPr kumimoji="1" lang="zh-CN" altLang="en-US" sz="4300" dirty="0"/>
              <a:t> </a:t>
            </a:r>
            <a:r>
              <a:rPr kumimoji="1" lang="en-US" altLang="zh-CN" sz="4300" dirty="0"/>
              <a:t>0x</a:t>
            </a:r>
            <a:r>
              <a:rPr kumimoji="1" lang="zh-CN" altLang="en-US" sz="4300" dirty="0"/>
              <a:t> </a:t>
            </a:r>
            <a:r>
              <a:rPr kumimoji="1" lang="en-US" altLang="zh-CN" sz="4300" dirty="0"/>
              <a:t>-</a:t>
            </a:r>
            <a:r>
              <a:rPr kumimoji="1" lang="zh-CN" altLang="en-US" sz="4300" dirty="0"/>
              <a:t> </a:t>
            </a:r>
            <a:r>
              <a:rPr kumimoji="1" lang="en-US" altLang="zh-CN" sz="4300" dirty="0"/>
              <a:t>Context-Free</a:t>
            </a:r>
            <a:r>
              <a:rPr kumimoji="1" lang="zh-CN" altLang="en-US" sz="4300" dirty="0"/>
              <a:t> </a:t>
            </a:r>
            <a:r>
              <a:rPr kumimoji="1" lang="en-US" altLang="zh-CN" sz="4300" dirty="0"/>
              <a:t>Grammars</a:t>
            </a:r>
            <a:r>
              <a:rPr kumimoji="1" lang="zh-CN" altLang="en-US" sz="4300" dirty="0"/>
              <a:t> </a:t>
            </a:r>
            <a:r>
              <a:rPr kumimoji="1" lang="en-US" altLang="zh-CN" sz="4300" dirty="0"/>
              <a:t>and</a:t>
            </a:r>
            <a:r>
              <a:rPr kumimoji="1" lang="zh-CN" altLang="en-US" sz="4300" dirty="0"/>
              <a:t> </a:t>
            </a:r>
            <a:r>
              <a:rPr kumimoji="1" lang="en-US" altLang="zh-CN" sz="4300" dirty="0"/>
              <a:t>Constituency</a:t>
            </a:r>
            <a:r>
              <a:rPr kumimoji="1" lang="zh-CN" altLang="en-US" sz="4300" dirty="0"/>
              <a:t> </a:t>
            </a:r>
            <a:r>
              <a:rPr kumimoji="1" lang="en-US" altLang="zh-CN" sz="4300" dirty="0"/>
              <a:t>Parsing</a:t>
            </a:r>
            <a:endParaRPr kumimoji="1" lang="zh-CN" altLang="en-US" sz="43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F6A4E7-D90C-6F8B-8D56-DF9A48FCC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42643"/>
            <a:ext cx="9144000" cy="1376464"/>
          </a:xfrm>
        </p:spPr>
        <p:txBody>
          <a:bodyPr/>
          <a:lstStyle/>
          <a:p>
            <a:r>
              <a:rPr kumimoji="1" lang="en-US" altLang="zh-CN" dirty="0"/>
              <a:t>Instructor:</a:t>
            </a:r>
            <a:r>
              <a:rPr kumimoji="1" lang="zh-CN" altLang="en-US" dirty="0"/>
              <a:t> </a:t>
            </a:r>
            <a:r>
              <a:rPr kumimoji="1" lang="en-US" altLang="zh-CN" dirty="0"/>
              <a:t>Yang</a:t>
            </a:r>
            <a:r>
              <a:rPr kumimoji="1" lang="zh-CN" altLang="en-US" dirty="0"/>
              <a:t> </a:t>
            </a:r>
            <a:r>
              <a:rPr kumimoji="1" lang="en-US" altLang="zh-CN" dirty="0"/>
              <a:t>Xu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zh-CN" altLang="en-US" dirty="0"/>
              <a:t>主讲人：徐炀</a:t>
            </a:r>
            <a:endParaRPr kumimoji="1" lang="en-US" altLang="zh-CN" dirty="0"/>
          </a:p>
          <a:p>
            <a:r>
              <a:rPr kumimoji="1" lang="en-US" altLang="zh-CN" dirty="0" err="1"/>
              <a:t>xuyang@sustech.edu.cn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722BE3-F258-FAD4-9703-C65449B0D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DE43E1-BD06-6E84-4EFD-D790E98F1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t>1</a:t>
            </a:fld>
            <a:endParaRPr kumimoji="1" lang="zh-CN" altLang="en-US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A101B0D9-9099-90D9-A038-22B2CAEE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6090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A0EFC-EE88-7B3F-F084-F7CF180F3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Overview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33C1D7-3FF7-75C7-1188-D2829879C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Context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Grammars</a:t>
            </a:r>
            <a:r>
              <a:rPr kumimoji="1" lang="zh-CN" altLang="en-US" dirty="0"/>
              <a:t> </a:t>
            </a:r>
            <a:r>
              <a:rPr kumimoji="1" lang="en-US" altLang="zh-CN" dirty="0"/>
              <a:t>(CFG)</a:t>
            </a:r>
          </a:p>
          <a:p>
            <a:r>
              <a:rPr kumimoji="1" lang="en-US" altLang="zh-CN" dirty="0"/>
              <a:t>Constituency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</a:p>
          <a:p>
            <a:r>
              <a:rPr kumimoji="1" lang="en-US" altLang="zh-CN" dirty="0"/>
              <a:t>Neural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Constituency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</a:p>
          <a:p>
            <a:endParaRPr kumimoji="1" lang="en-US" alt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9B49E5-2AC7-71F2-FFC7-3E6FC2B9C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785920-3802-CDFA-4F32-32F782E2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t>2</a:t>
            </a:fld>
            <a:endParaRPr kumimoji="1" lang="zh-CN" altLang="en-US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B934E61-FC27-3DFE-6ACA-0CCABCE7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646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DF1404C5-6312-A38A-1BB9-11C189B6F2A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Grammar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Syntax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DF1404C5-6312-A38A-1BB9-11C189B6F2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B0CBC2-BA93-3DE8-615E-BCE904804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Greek:</a:t>
            </a:r>
            <a:r>
              <a:rPr kumimoji="1" lang="zh-CN" altLang="en-US" dirty="0"/>
              <a:t> </a:t>
            </a:r>
            <a:r>
              <a:rPr kumimoji="1" lang="en-US" altLang="zh-CN" i="1" dirty="0">
                <a:solidFill>
                  <a:schemeClr val="accent2"/>
                </a:solidFill>
              </a:rPr>
              <a:t>syntaxis</a:t>
            </a:r>
            <a:r>
              <a:rPr kumimoji="1" lang="en-US" altLang="zh-CN" dirty="0"/>
              <a:t>, meaning “setting out together”</a:t>
            </a:r>
          </a:p>
          <a:p>
            <a:r>
              <a:rPr kumimoji="1" lang="en-US" altLang="zh-CN" dirty="0"/>
              <a:t>The way words are arranged together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Syntax: </a:t>
            </a:r>
            <a:r>
              <a:rPr lang="en-US" altLang="zh-CN" b="0" i="1" dirty="0">
                <a:solidFill>
                  <a:srgbClr val="939599"/>
                </a:solidFill>
                <a:effectLst/>
                <a:latin typeface="Georgia" panose="02040502050405020303" pitchFamily="18" charset="0"/>
              </a:rPr>
              <a:t>n.</a:t>
            </a:r>
            <a:r>
              <a:rPr lang="zh-CN" altLang="en-US" b="0" i="0" dirty="0">
                <a:solidFill>
                  <a:srgbClr val="101214"/>
                </a:solidFill>
                <a:effectLst/>
                <a:latin typeface="Gilroy"/>
              </a:rPr>
              <a:t>句法，句法规则；</a:t>
            </a:r>
            <a:endParaRPr lang="en-US" altLang="zh-CN" b="0" i="0" dirty="0">
              <a:solidFill>
                <a:srgbClr val="101214"/>
              </a:solidFill>
              <a:effectLst/>
              <a:latin typeface="Gilroy"/>
            </a:endParaRPr>
          </a:p>
          <a:p>
            <a:r>
              <a:rPr kumimoji="1" lang="en-US" altLang="zh-CN" dirty="0">
                <a:solidFill>
                  <a:srgbClr val="101214"/>
                </a:solidFill>
                <a:latin typeface="Gilroy"/>
              </a:rPr>
              <a:t>Part-of-speech</a:t>
            </a:r>
            <a:r>
              <a:rPr kumimoji="1" lang="zh-CN" altLang="en-US" dirty="0">
                <a:solidFill>
                  <a:srgbClr val="101214"/>
                </a:solidFill>
                <a:latin typeface="Gilroy"/>
              </a:rPr>
              <a:t> </a:t>
            </a:r>
            <a:r>
              <a:rPr kumimoji="1" lang="en-US" altLang="zh-CN" dirty="0">
                <a:solidFill>
                  <a:srgbClr val="101214"/>
                </a:solidFill>
                <a:latin typeface="Gilroy"/>
              </a:rPr>
              <a:t>is</a:t>
            </a:r>
            <a:r>
              <a:rPr kumimoji="1" lang="zh-CN" altLang="en-US" dirty="0">
                <a:solidFill>
                  <a:srgbClr val="101214"/>
                </a:solidFill>
                <a:latin typeface="Gilroy"/>
              </a:rPr>
              <a:t> </a:t>
            </a:r>
            <a:r>
              <a:rPr kumimoji="1" lang="en-US" altLang="zh-CN" dirty="0">
                <a:solidFill>
                  <a:srgbClr val="101214"/>
                </a:solidFill>
                <a:latin typeface="Gilroy"/>
              </a:rPr>
              <a:t>already</a:t>
            </a:r>
            <a:r>
              <a:rPr kumimoji="1" lang="zh-CN" altLang="en-US" dirty="0">
                <a:solidFill>
                  <a:srgbClr val="101214"/>
                </a:solidFill>
                <a:latin typeface="Gilroy"/>
              </a:rPr>
              <a:t> </a:t>
            </a:r>
            <a:r>
              <a:rPr kumimoji="1" lang="en-US" altLang="zh-CN" dirty="0">
                <a:solidFill>
                  <a:srgbClr val="101214"/>
                </a:solidFill>
                <a:latin typeface="Gilroy"/>
              </a:rPr>
              <a:t>a</a:t>
            </a:r>
            <a:r>
              <a:rPr kumimoji="1" lang="zh-CN" altLang="en-US" dirty="0">
                <a:solidFill>
                  <a:srgbClr val="101214"/>
                </a:solidFill>
                <a:latin typeface="Gilroy"/>
              </a:rPr>
              <a:t> </a:t>
            </a:r>
            <a:r>
              <a:rPr kumimoji="1" lang="en-US" altLang="zh-CN" dirty="0">
                <a:solidFill>
                  <a:srgbClr val="101214"/>
                </a:solidFill>
                <a:latin typeface="Gilroy"/>
              </a:rPr>
              <a:t>kind</a:t>
            </a:r>
            <a:r>
              <a:rPr kumimoji="1" lang="zh-CN" altLang="en-US" dirty="0">
                <a:solidFill>
                  <a:srgbClr val="101214"/>
                </a:solidFill>
                <a:latin typeface="Gilroy"/>
              </a:rPr>
              <a:t> </a:t>
            </a:r>
            <a:r>
              <a:rPr kumimoji="1" lang="en-US" altLang="zh-CN" dirty="0">
                <a:solidFill>
                  <a:srgbClr val="101214"/>
                </a:solidFill>
                <a:latin typeface="Gilroy"/>
              </a:rPr>
              <a:t>of</a:t>
            </a:r>
            <a:r>
              <a:rPr kumimoji="1" lang="zh-CN" altLang="en-US" dirty="0">
                <a:solidFill>
                  <a:srgbClr val="101214"/>
                </a:solidFill>
                <a:latin typeface="Gilroy"/>
              </a:rPr>
              <a:t> </a:t>
            </a:r>
            <a:r>
              <a:rPr kumimoji="1" lang="en-US" altLang="zh-CN" dirty="0">
                <a:solidFill>
                  <a:srgbClr val="101214"/>
                </a:solidFill>
                <a:latin typeface="Gilroy"/>
              </a:rPr>
              <a:t>syntactic</a:t>
            </a:r>
            <a:r>
              <a:rPr kumimoji="1" lang="zh-CN" altLang="en-US" dirty="0">
                <a:solidFill>
                  <a:srgbClr val="101214"/>
                </a:solidFill>
                <a:latin typeface="Gilroy"/>
              </a:rPr>
              <a:t> </a:t>
            </a:r>
            <a:r>
              <a:rPr kumimoji="1" lang="en-US" altLang="zh-CN" dirty="0">
                <a:solidFill>
                  <a:srgbClr val="101214"/>
                </a:solidFill>
                <a:latin typeface="Gilroy"/>
              </a:rPr>
              <a:t>notions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BDFCD3-19A7-EF9A-86DE-C2CBD13F2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2AE74EF-A5EB-AFA7-FF6A-6A87AF759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t>3</a:t>
            </a:fld>
            <a:endParaRPr kumimoji="1" lang="zh-CN" altLang="en-US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20B30CF8-322C-4FF2-89A4-6FA89D46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45528D4-7C92-661D-0307-6E7B4D734001}"/>
              </a:ext>
            </a:extLst>
          </p:cNvPr>
          <p:cNvGrpSpPr/>
          <p:nvPr/>
        </p:nvGrpSpPr>
        <p:grpSpPr>
          <a:xfrm>
            <a:off x="2209800" y="4852304"/>
            <a:ext cx="7103007" cy="1324659"/>
            <a:chOff x="1663041" y="4376198"/>
            <a:chExt cx="7103007" cy="132465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97F6FC7-D132-00CB-7D70-D45A9BD778F2}"/>
                </a:ext>
              </a:extLst>
            </p:cNvPr>
            <p:cNvSpPr txBox="1"/>
            <p:nvPr/>
          </p:nvSpPr>
          <p:spPr>
            <a:xfrm>
              <a:off x="2720353" y="5239192"/>
              <a:ext cx="6045695" cy="4616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400" dirty="0">
                  <a:latin typeface="Consolas" panose="020B0609020204030204" pitchFamily="49" charset="0"/>
                  <a:ea typeface="Kaiti SC" panose="02010600040101010101" pitchFamily="2" charset="-122"/>
                  <a:cs typeface="Consolas" panose="020B0609020204030204" pitchFamily="49" charset="0"/>
                </a:rPr>
                <a:t>the</a:t>
              </a:r>
              <a:r>
                <a:rPr kumimoji="1" lang="zh-CN" altLang="en-US" sz="2400" dirty="0">
                  <a:latin typeface="Consolas" panose="020B0609020204030204" pitchFamily="49" charset="0"/>
                  <a:ea typeface="Kaiti SC" panose="02010600040101010101" pitchFamily="2" charset="-122"/>
                  <a:cs typeface="Consolas" panose="020B0609020204030204" pitchFamily="49" charset="0"/>
                </a:rPr>
                <a:t>  </a:t>
              </a:r>
              <a:r>
                <a:rPr kumimoji="1" lang="en-US" altLang="zh-CN" sz="2400" dirty="0">
                  <a:latin typeface="Consolas" panose="020B0609020204030204" pitchFamily="49" charset="0"/>
                  <a:ea typeface="Kaiti SC" panose="02010600040101010101" pitchFamily="2" charset="-122"/>
                  <a:cs typeface="Consolas" panose="020B0609020204030204" pitchFamily="49" charset="0"/>
                </a:rPr>
                <a:t>Sun</a:t>
              </a:r>
              <a:r>
                <a:rPr kumimoji="1" lang="zh-CN" altLang="en-US" sz="2400" dirty="0">
                  <a:latin typeface="Consolas" panose="020B0609020204030204" pitchFamily="49" charset="0"/>
                  <a:ea typeface="Kaiti SC" panose="02010600040101010101" pitchFamily="2" charset="-122"/>
                  <a:cs typeface="Consolas" panose="020B0609020204030204" pitchFamily="49" charset="0"/>
                </a:rPr>
                <a:t>  </a:t>
              </a:r>
              <a:r>
                <a:rPr kumimoji="1" lang="en-US" altLang="zh-CN" sz="2400" dirty="0">
                  <a:latin typeface="Consolas" panose="020B0609020204030204" pitchFamily="49" charset="0"/>
                  <a:ea typeface="Kaiti SC" panose="02010600040101010101" pitchFamily="2" charset="-122"/>
                  <a:cs typeface="Consolas" panose="020B0609020204030204" pitchFamily="49" charset="0"/>
                </a:rPr>
                <a:t>rises</a:t>
              </a:r>
              <a:r>
                <a:rPr kumimoji="1" lang="zh-CN" altLang="en-US" sz="2400" dirty="0">
                  <a:latin typeface="Consolas" panose="020B0609020204030204" pitchFamily="49" charset="0"/>
                  <a:ea typeface="Kaiti SC" panose="02010600040101010101" pitchFamily="2" charset="-122"/>
                  <a:cs typeface="Consolas" panose="020B0609020204030204" pitchFamily="49" charset="0"/>
                </a:rPr>
                <a:t>  </a:t>
              </a:r>
              <a:r>
                <a:rPr kumimoji="1" lang="en-US" altLang="zh-CN" sz="2400" dirty="0">
                  <a:latin typeface="Consolas" panose="020B0609020204030204" pitchFamily="49" charset="0"/>
                  <a:ea typeface="Kaiti SC" panose="02010600040101010101" pitchFamily="2" charset="-122"/>
                  <a:cs typeface="Consolas" panose="020B0609020204030204" pitchFamily="49" charset="0"/>
                </a:rPr>
                <a:t>every</a:t>
              </a:r>
              <a:r>
                <a:rPr kumimoji="1" lang="zh-CN" altLang="en-US" sz="2400" dirty="0">
                  <a:latin typeface="Consolas" panose="020B0609020204030204" pitchFamily="49" charset="0"/>
                  <a:ea typeface="Kaiti SC" panose="02010600040101010101" pitchFamily="2" charset="-122"/>
                  <a:cs typeface="Consolas" panose="020B0609020204030204" pitchFamily="49" charset="0"/>
                </a:rPr>
                <a:t>  </a:t>
              </a:r>
              <a:r>
                <a:rPr kumimoji="1" lang="en-US" altLang="zh-CN" sz="2400" dirty="0">
                  <a:latin typeface="Consolas" panose="020B0609020204030204" pitchFamily="49" charset="0"/>
                  <a:ea typeface="Kaiti SC" panose="02010600040101010101" pitchFamily="2" charset="-122"/>
                  <a:cs typeface="Consolas" panose="020B0609020204030204" pitchFamily="49" charset="0"/>
                </a:rPr>
                <a:t>morning</a:t>
              </a:r>
              <a:endParaRPr kumimoji="1" lang="zh-CN" altLang="en-US" sz="2400" dirty="0">
                <a:latin typeface="Consolas" panose="020B0609020204030204" pitchFamily="49" charset="0"/>
                <a:ea typeface="Kaiti SC" panose="02010600040101010101" pitchFamily="2" charset="-122"/>
                <a:cs typeface="Consolas" panose="020B0609020204030204" pitchFamily="49" charset="0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48E7A5BB-7F04-4DE1-8513-3EFF0F193357}"/>
                </a:ext>
              </a:extLst>
            </p:cNvPr>
            <p:cNvGrpSpPr/>
            <p:nvPr/>
          </p:nvGrpSpPr>
          <p:grpSpPr>
            <a:xfrm>
              <a:off x="1663041" y="4376198"/>
              <a:ext cx="7038575" cy="862994"/>
              <a:chOff x="1659253" y="2388452"/>
              <a:chExt cx="7038575" cy="862994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4BB82D9-1B7E-2340-F537-8064715479F7}"/>
                  </a:ext>
                </a:extLst>
              </p:cNvPr>
              <p:cNvSpPr txBox="1"/>
              <p:nvPr/>
            </p:nvSpPr>
            <p:spPr>
              <a:xfrm>
                <a:off x="1659253" y="2388453"/>
                <a:ext cx="1877758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Determinator</a:t>
                </a:r>
                <a:endPara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34379BF-1F46-443D-86E2-F6531FDB259A}"/>
                  </a:ext>
                </a:extLst>
              </p:cNvPr>
              <p:cNvSpPr txBox="1"/>
              <p:nvPr/>
            </p:nvSpPr>
            <p:spPr>
              <a:xfrm>
                <a:off x="3729230" y="2388453"/>
                <a:ext cx="869149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Noun</a:t>
                </a:r>
                <a:endPara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ED6EBCD-8EFB-9E7F-A44F-999944264833}"/>
                  </a:ext>
                </a:extLst>
              </p:cNvPr>
              <p:cNvSpPr txBox="1"/>
              <p:nvPr/>
            </p:nvSpPr>
            <p:spPr>
              <a:xfrm>
                <a:off x="4790598" y="2388452"/>
                <a:ext cx="767261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Verb</a:t>
                </a:r>
                <a:endPara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9069C4D-B4F2-D75D-391E-06474D1E972E}"/>
                  </a:ext>
                </a:extLst>
              </p:cNvPr>
              <p:cNvSpPr txBox="1"/>
              <p:nvPr/>
            </p:nvSpPr>
            <p:spPr>
              <a:xfrm>
                <a:off x="5750078" y="2388811"/>
                <a:ext cx="1877758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Determinator</a:t>
                </a:r>
                <a:endPara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247906E-5D6F-FBF7-CEA2-8F9DC2E27A36}"/>
                  </a:ext>
                </a:extLst>
              </p:cNvPr>
              <p:cNvSpPr txBox="1"/>
              <p:nvPr/>
            </p:nvSpPr>
            <p:spPr>
              <a:xfrm>
                <a:off x="7828679" y="2388452"/>
                <a:ext cx="869149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Noun</a:t>
                </a:r>
                <a:endPara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5" name="直线箭头连接符 14">
                <a:extLst>
                  <a:ext uri="{FF2B5EF4-FFF2-40B4-BE49-F238E27FC236}">
                    <a16:creationId xmlns:a16="http://schemas.microsoft.com/office/drawing/2014/main" id="{E69E151F-E6DA-18CF-0E72-C6A4206AD229}"/>
                  </a:ext>
                </a:extLst>
              </p:cNvPr>
              <p:cNvCxnSpPr>
                <a:endCxn id="10" idx="2"/>
              </p:cNvCxnSpPr>
              <p:nvPr/>
            </p:nvCxnSpPr>
            <p:spPr>
              <a:xfrm flipH="1" flipV="1">
                <a:off x="2598132" y="2850118"/>
                <a:ext cx="704361" cy="401328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线箭头连接符 15">
                <a:extLst>
                  <a:ext uri="{FF2B5EF4-FFF2-40B4-BE49-F238E27FC236}">
                    <a16:creationId xmlns:a16="http://schemas.microsoft.com/office/drawing/2014/main" id="{92A5E802-C149-2D15-133F-1B5A83B6FED4}"/>
                  </a:ext>
                </a:extLst>
              </p:cNvPr>
              <p:cNvCxnSpPr>
                <a:cxnSpLocks/>
                <a:endCxn id="11" idx="2"/>
              </p:cNvCxnSpPr>
              <p:nvPr/>
            </p:nvCxnSpPr>
            <p:spPr>
              <a:xfrm flipH="1" flipV="1">
                <a:off x="4163805" y="2850118"/>
                <a:ext cx="8024" cy="40097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线箭头连接符 16">
                <a:extLst>
                  <a:ext uri="{FF2B5EF4-FFF2-40B4-BE49-F238E27FC236}">
                    <a16:creationId xmlns:a16="http://schemas.microsoft.com/office/drawing/2014/main" id="{BB20BFAE-E7A2-D657-5357-F65517259236}"/>
                  </a:ext>
                </a:extLst>
              </p:cNvPr>
              <p:cNvCxnSpPr>
                <a:cxnSpLocks/>
                <a:endCxn id="12" idx="2"/>
              </p:cNvCxnSpPr>
              <p:nvPr/>
            </p:nvCxnSpPr>
            <p:spPr>
              <a:xfrm flipV="1">
                <a:off x="5174229" y="2850117"/>
                <a:ext cx="0" cy="40097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线箭头连接符 17">
                <a:extLst>
                  <a:ext uri="{FF2B5EF4-FFF2-40B4-BE49-F238E27FC236}">
                    <a16:creationId xmlns:a16="http://schemas.microsoft.com/office/drawing/2014/main" id="{A75E5C40-A518-FCB1-DDD9-24100EC46711}"/>
                  </a:ext>
                </a:extLst>
              </p:cNvPr>
              <p:cNvCxnSpPr>
                <a:cxnSpLocks/>
                <a:endCxn id="13" idx="2"/>
              </p:cNvCxnSpPr>
              <p:nvPr/>
            </p:nvCxnSpPr>
            <p:spPr>
              <a:xfrm flipV="1">
                <a:off x="6442649" y="2850476"/>
                <a:ext cx="246308" cy="400611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线箭头连接符 18">
                <a:extLst>
                  <a:ext uri="{FF2B5EF4-FFF2-40B4-BE49-F238E27FC236}">
                    <a16:creationId xmlns:a16="http://schemas.microsoft.com/office/drawing/2014/main" id="{FFC6E422-80A8-F016-F730-64FB0B2E92B0}"/>
                  </a:ext>
                </a:extLst>
              </p:cNvPr>
              <p:cNvCxnSpPr>
                <a:cxnSpLocks/>
                <a:endCxn id="14" idx="2"/>
              </p:cNvCxnSpPr>
              <p:nvPr/>
            </p:nvCxnSpPr>
            <p:spPr>
              <a:xfrm flipV="1">
                <a:off x="7864508" y="2850117"/>
                <a:ext cx="398746" cy="40097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5447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07B0B-B814-0257-F887-88E17A641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3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Constituency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9B212D-6F32-85C3-05F1-9A2CBF5CA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1129"/>
            <a:ext cx="10515600" cy="4351338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Groups of words can behave as </a:t>
            </a:r>
            <a:r>
              <a:rPr kumimoji="1" lang="en-US" altLang="zh-CN" sz="2400" b="1" dirty="0"/>
              <a:t>single units</a:t>
            </a:r>
            <a:r>
              <a:rPr kumimoji="1" lang="en-US" altLang="zh-CN" sz="2400" dirty="0"/>
              <a:t>, or </a:t>
            </a:r>
            <a:r>
              <a:rPr kumimoji="1" lang="en-US" altLang="zh-CN" sz="2400" b="1" dirty="0"/>
              <a:t>constituents</a:t>
            </a:r>
          </a:p>
          <a:p>
            <a:r>
              <a:rPr kumimoji="1" lang="en-US" altLang="zh-CN" sz="2400" dirty="0"/>
              <a:t>Ex.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noun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phrases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</a:t>
            </a:r>
            <a:r>
              <a:rPr kumimoji="1" lang="en-US" altLang="zh-CN" sz="2400" b="1" i="1" dirty="0"/>
              <a:t>NP</a:t>
            </a:r>
            <a:r>
              <a:rPr kumimoji="1" lang="en-US" altLang="zh-CN" sz="2400" dirty="0"/>
              <a:t>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sequence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of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words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surrounding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least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one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noun)</a:t>
            </a:r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en-US" altLang="zh-CN" sz="2400" dirty="0"/>
              <a:t>Why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form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constituents?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following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NPs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all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appear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before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verbs)</a:t>
            </a:r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0B96BA-C50F-4CD1-884C-3374CF6791C1}"/>
              </a:ext>
            </a:extLst>
          </p:cNvPr>
          <p:cNvSpPr txBox="1"/>
          <p:nvPr/>
        </p:nvSpPr>
        <p:spPr>
          <a:xfrm>
            <a:off x="8826505" y="1316944"/>
            <a:ext cx="1111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sz="2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zh-CN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zh-CN" alt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en-US" sz="2000" dirty="0">
                <a:effectLst/>
                <a:latin typeface="Calibri" panose="020F0502020204030204" pitchFamily="34" charset="0"/>
                <a:ea typeface="Songti SC" panose="02010600040101010101" pitchFamily="2" charset="-122"/>
                <a:cs typeface="Calibri" panose="020F0502020204030204" pitchFamily="34" charset="0"/>
              </a:rPr>
              <a:t>成分</a:t>
            </a:r>
            <a:r>
              <a:rPr lang="en-US" altLang="zh-CN" sz="2000" dirty="0">
                <a:effectLst/>
                <a:latin typeface="Calibri" panose="020F0502020204030204" pitchFamily="34" charset="0"/>
                <a:ea typeface="Songti SC" panose="02010600040101010101" pitchFamily="2" charset="-122"/>
                <a:cs typeface="Calibri" panose="020F0502020204030204" pitchFamily="34" charset="0"/>
              </a:rPr>
              <a:t>)</a:t>
            </a:r>
            <a:endParaRPr lang="en-US" altLang="zh-CN" sz="2000" dirty="0">
              <a:latin typeface="Calibri" panose="020F0502020204030204" pitchFamily="34" charset="0"/>
              <a:ea typeface="Songti SC" panose="02010600040101010101" pitchFamily="2" charset="-122"/>
              <a:cs typeface="Calibri" panose="020F05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B1B6CCE-B879-4409-94B3-5ED965E9D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053" y="2261655"/>
            <a:ext cx="8320099" cy="125447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7F1323A-EF42-3FBF-8B05-4682864E2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860" y="4282641"/>
            <a:ext cx="5087471" cy="147952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B9F73FAB-CB7C-EEB5-443A-19328A7DF55F}"/>
              </a:ext>
            </a:extLst>
          </p:cNvPr>
          <p:cNvGrpSpPr/>
          <p:nvPr/>
        </p:nvGrpSpPr>
        <p:grpSpPr>
          <a:xfrm>
            <a:off x="7247765" y="4452082"/>
            <a:ext cx="3885662" cy="1220385"/>
            <a:chOff x="7994525" y="4884580"/>
            <a:chExt cx="3885662" cy="1220385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F8E20722-52D5-FF39-DAD7-AC50F9F2B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94525" y="5254417"/>
              <a:ext cx="3885662" cy="850548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EDE189D-80A7-4A92-0E82-6B6A140FA808}"/>
                </a:ext>
              </a:extLst>
            </p:cNvPr>
            <p:cNvSpPr txBox="1"/>
            <p:nvPr/>
          </p:nvSpPr>
          <p:spPr>
            <a:xfrm>
              <a:off x="8083002" y="4884580"/>
              <a:ext cx="18543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Invalid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sentences:</a:t>
              </a:r>
              <a:endPara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B34C8B-79AE-0996-AADA-3C2D60D6F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BE3604-1EB9-2712-3463-DF7290D7F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t>4</a:t>
            </a:fld>
            <a:endParaRPr kumimoji="1" lang="zh-CN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6EF68C-4A35-478C-1194-8B5CD6700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2589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F50D8-4ADB-9F14-159B-C142BAA4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Evidence for constituency</a:t>
            </a:r>
            <a:r>
              <a:rPr kumimoji="1" lang="zh-CN" altLang="en-US" dirty="0"/>
              <a:t> </a:t>
            </a:r>
            <a:r>
              <a:rPr kumimoji="1" lang="en-US" altLang="zh-CN" dirty="0"/>
              <a:t>(more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examples)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279C89-882D-AA74-B459-ADD5D4113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Preposed (</a:t>
            </a:r>
            <a:r>
              <a:rPr kumimoji="1" lang="zh-CN" altLang="en-US" dirty="0"/>
              <a:t>前置</a:t>
            </a:r>
            <a:r>
              <a:rPr kumimoji="1" lang="en-US" altLang="zh-CN" dirty="0"/>
              <a:t>) or postposed (</a:t>
            </a:r>
            <a:r>
              <a:rPr kumimoji="1" lang="zh-CN" altLang="en-US" dirty="0"/>
              <a:t>后置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8F0293-BD99-3A0F-240F-C1441E5A433D}"/>
              </a:ext>
            </a:extLst>
          </p:cNvPr>
          <p:cNvSpPr txBox="1"/>
          <p:nvPr/>
        </p:nvSpPr>
        <p:spPr>
          <a:xfrm>
            <a:off x="838200" y="2579302"/>
            <a:ext cx="5945858" cy="1421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kumimoji="1" lang="zh-CN" alt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February</a:t>
            </a:r>
            <a:r>
              <a:rPr kumimoji="1" lang="zh-CN" alt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000" baseline="30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I’d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Shanghai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Osaka.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I’d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kumimoji="1" lang="zh-CN" alt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February</a:t>
            </a:r>
            <a:r>
              <a:rPr kumimoji="1" lang="zh-CN" alt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000" baseline="30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kumimoji="1" lang="zh-CN" alt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Shanghai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Osaka.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I’d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Shanghai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Osaka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kumimoji="1" lang="zh-CN" alt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February</a:t>
            </a:r>
            <a:r>
              <a:rPr kumimoji="1" lang="zh-CN" alt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000" baseline="30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CE0A93-E415-3A42-37E9-92E7E43E29F4}"/>
              </a:ext>
            </a:extLst>
          </p:cNvPr>
          <p:cNvSpPr txBox="1"/>
          <p:nvPr/>
        </p:nvSpPr>
        <p:spPr>
          <a:xfrm>
            <a:off x="5092626" y="4483342"/>
            <a:ext cx="6121548" cy="1421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kumimoji="1" lang="en-US" altLang="zh-CN" sz="2000" dirty="0"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kumimoji="1" lang="zh-CN" altLang="en-US" sz="2000" dirty="0"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February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I’d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Shanghai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Osaka.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kumimoji="1" lang="en-US" altLang="zh-CN" sz="2000" dirty="0"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I’d like to fly on February</a:t>
            </a:r>
            <a:r>
              <a:rPr kumimoji="1" lang="zh-CN" altLang="en-US" sz="2000" dirty="0"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000" baseline="30000" dirty="0"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Shanghai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Osaka.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I’d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kumimoji="1" lang="zh-CN" altLang="en-US" sz="2000" dirty="0"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February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Shanghai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Osaka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000" baseline="30000" dirty="0"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B4DFA5-23D4-C7DB-03FA-6C558B87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5DB97E-3926-FE04-D87F-508BDEC3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t>5</a:t>
            </a:fld>
            <a:endParaRPr kumimoji="1" lang="zh-CN" altLang="en-US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E8D402F0-3CB9-7735-038D-47D56FD61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9C7806-BF98-0826-5797-D7EA43D2B66B}"/>
              </a:ext>
            </a:extLst>
          </p:cNvPr>
          <p:cNvSpPr txBox="1"/>
          <p:nvPr/>
        </p:nvSpPr>
        <p:spPr>
          <a:xfrm>
            <a:off x="7378263" y="2041634"/>
            <a:ext cx="3909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“On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February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2nd”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prepositional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phrase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1" lang="en-US" altLang="zh-CN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kumimoji="1" lang="en-US" altLang="zh-CN" sz="2400" b="1" i="1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639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997170-45FE-655A-01CB-151371E28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Terminology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20D15F-6D18-2762-8204-4AF913FA8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Phrase:</a:t>
            </a:r>
            <a:r>
              <a:rPr kumimoji="1" lang="zh-CN" altLang="en-US" dirty="0"/>
              <a:t> 词组</a:t>
            </a:r>
            <a:endParaRPr kumimoji="1" lang="en-US" altLang="zh-CN" dirty="0"/>
          </a:p>
          <a:p>
            <a:r>
              <a:rPr kumimoji="1" lang="en-US" altLang="zh-CN" dirty="0"/>
              <a:t>Noun</a:t>
            </a:r>
            <a:r>
              <a:rPr kumimoji="1" lang="zh-CN" altLang="en-US" dirty="0"/>
              <a:t> </a:t>
            </a:r>
            <a:r>
              <a:rPr kumimoji="1" lang="en-US" altLang="zh-CN" dirty="0"/>
              <a:t>Phrase:</a:t>
            </a:r>
            <a:r>
              <a:rPr kumimoji="1" lang="zh-CN" altLang="en-US" dirty="0"/>
              <a:t> 名词词组；</a:t>
            </a:r>
            <a:r>
              <a:rPr kumimoji="1" lang="en-US" altLang="zh-CN" dirty="0"/>
              <a:t>Prepositional</a:t>
            </a:r>
            <a:r>
              <a:rPr kumimoji="1" lang="zh-CN" altLang="en-US" dirty="0"/>
              <a:t> </a:t>
            </a:r>
            <a:r>
              <a:rPr kumimoji="1" lang="en-US" altLang="zh-CN" dirty="0"/>
              <a:t>Phrase:</a:t>
            </a:r>
            <a:r>
              <a:rPr kumimoji="1" lang="zh-CN" altLang="en-US" dirty="0"/>
              <a:t> 介词词组</a:t>
            </a:r>
            <a:endParaRPr kumimoji="1" lang="en-US" altLang="zh-CN" dirty="0"/>
          </a:p>
          <a:p>
            <a:r>
              <a:rPr kumimoji="1" lang="en-US" altLang="zh-CN" dirty="0"/>
              <a:t>Proper</a:t>
            </a:r>
            <a:r>
              <a:rPr kumimoji="1" lang="zh-CN" altLang="en-US" dirty="0"/>
              <a:t> </a:t>
            </a:r>
            <a:r>
              <a:rPr kumimoji="1" lang="en-US" altLang="zh-CN" dirty="0"/>
              <a:t>Noun:</a:t>
            </a:r>
            <a:r>
              <a:rPr kumimoji="1" lang="zh-CN" altLang="en-US" dirty="0"/>
              <a:t> 专有名词</a:t>
            </a:r>
            <a:endParaRPr kumimoji="1" lang="en-US" altLang="zh-CN" dirty="0"/>
          </a:p>
          <a:p>
            <a:r>
              <a:rPr kumimoji="1" lang="en-US" altLang="zh-CN" dirty="0"/>
              <a:t>Nominal:</a:t>
            </a:r>
            <a:r>
              <a:rPr kumimoji="1" lang="zh-CN" altLang="en-US" dirty="0"/>
              <a:t> 名词性的词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2C902C-3FCD-ABAA-A145-70232733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0515A4-7E10-BA9B-7309-ED767128C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C45109-BE71-551F-7ABC-9EC70DB72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8765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3D3CC3-4435-713D-C05F-07FCB6B7C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000" dirty="0"/>
              <a:t>How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do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we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use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constituency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to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describe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grammar?</a:t>
            </a:r>
            <a:endParaRPr kumimoji="1"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11759F-C6F0-3285-0554-86A8F8EFE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do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describe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r>
              <a:rPr kumimoji="1" lang="zh-CN" altLang="en-US" dirty="0"/>
              <a:t> </a:t>
            </a:r>
            <a:r>
              <a:rPr kumimoji="1" lang="en-US" altLang="zh-CN" dirty="0"/>
              <a:t>such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dirty="0"/>
              <a:t>“</a:t>
            </a:r>
            <a:r>
              <a:rPr kumimoji="1" lang="en-US" altLang="zh-CN" i="1" dirty="0">
                <a:solidFill>
                  <a:schemeClr val="accent1"/>
                </a:solidFill>
              </a:rPr>
              <a:t>Noun</a:t>
            </a:r>
            <a:r>
              <a:rPr kumimoji="1" lang="zh-CN" altLang="en-US" i="1" dirty="0">
                <a:solidFill>
                  <a:schemeClr val="accent1"/>
                </a:solidFill>
              </a:rPr>
              <a:t> </a:t>
            </a:r>
            <a:r>
              <a:rPr kumimoji="1" lang="en-US" altLang="zh-CN" i="1" dirty="0">
                <a:solidFill>
                  <a:schemeClr val="accent1"/>
                </a:solidFill>
              </a:rPr>
              <a:t>Phrases</a:t>
            </a:r>
            <a:r>
              <a:rPr kumimoji="1" lang="zh-CN" altLang="en-US" i="1" dirty="0">
                <a:solidFill>
                  <a:schemeClr val="accent1"/>
                </a:solidFill>
              </a:rPr>
              <a:t> </a:t>
            </a:r>
            <a:r>
              <a:rPr kumimoji="1" lang="en-US" altLang="zh-CN" i="1" dirty="0">
                <a:solidFill>
                  <a:schemeClr val="accent1"/>
                </a:solidFill>
              </a:rPr>
              <a:t>can</a:t>
            </a:r>
            <a:r>
              <a:rPr kumimoji="1" lang="zh-CN" altLang="en-US" i="1" dirty="0">
                <a:solidFill>
                  <a:schemeClr val="accent1"/>
                </a:solidFill>
              </a:rPr>
              <a:t> </a:t>
            </a:r>
            <a:r>
              <a:rPr kumimoji="1" lang="en-US" altLang="zh-CN" i="1" dirty="0">
                <a:solidFill>
                  <a:schemeClr val="accent1"/>
                </a:solidFill>
              </a:rPr>
              <a:t>occur</a:t>
            </a:r>
            <a:r>
              <a:rPr kumimoji="1" lang="zh-CN" altLang="en-US" i="1" dirty="0">
                <a:solidFill>
                  <a:schemeClr val="accent1"/>
                </a:solidFill>
              </a:rPr>
              <a:t> </a:t>
            </a:r>
            <a:r>
              <a:rPr kumimoji="1" lang="en-US" altLang="zh-CN" i="1" dirty="0">
                <a:solidFill>
                  <a:schemeClr val="accent1"/>
                </a:solidFill>
              </a:rPr>
              <a:t>before</a:t>
            </a:r>
            <a:r>
              <a:rPr kumimoji="1" lang="zh-CN" altLang="en-US" i="1" dirty="0">
                <a:solidFill>
                  <a:schemeClr val="accent1"/>
                </a:solidFill>
              </a:rPr>
              <a:t> </a:t>
            </a:r>
            <a:r>
              <a:rPr kumimoji="1" lang="en-US" altLang="zh-CN" i="1" dirty="0">
                <a:solidFill>
                  <a:schemeClr val="accent1"/>
                </a:solidFill>
              </a:rPr>
              <a:t>verbs</a:t>
            </a:r>
            <a:r>
              <a:rPr kumimoji="1" lang="en-US" altLang="zh-CN" dirty="0"/>
              <a:t>”,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dirty="0"/>
              <a:t>“</a:t>
            </a:r>
            <a:r>
              <a:rPr kumimoji="1" lang="en-US" altLang="zh-CN" i="1" dirty="0">
                <a:solidFill>
                  <a:schemeClr val="accent1"/>
                </a:solidFill>
              </a:rPr>
              <a:t>Prepositional</a:t>
            </a:r>
            <a:r>
              <a:rPr kumimoji="1" lang="zh-CN" altLang="en-US" i="1" dirty="0">
                <a:solidFill>
                  <a:schemeClr val="accent1"/>
                </a:solidFill>
              </a:rPr>
              <a:t> </a:t>
            </a:r>
            <a:r>
              <a:rPr kumimoji="1" lang="en-US" altLang="zh-CN" i="1" dirty="0">
                <a:solidFill>
                  <a:schemeClr val="accent1"/>
                </a:solidFill>
              </a:rPr>
              <a:t>Phrases</a:t>
            </a:r>
            <a:r>
              <a:rPr kumimoji="1" lang="zh-CN" altLang="en-US" i="1" dirty="0">
                <a:solidFill>
                  <a:schemeClr val="accent1"/>
                </a:solidFill>
              </a:rPr>
              <a:t> </a:t>
            </a:r>
            <a:r>
              <a:rPr kumimoji="1" lang="en-US" altLang="zh-CN" i="1" dirty="0">
                <a:solidFill>
                  <a:schemeClr val="accent1"/>
                </a:solidFill>
              </a:rPr>
              <a:t>can</a:t>
            </a:r>
            <a:r>
              <a:rPr kumimoji="1" lang="zh-CN" altLang="en-US" i="1" dirty="0">
                <a:solidFill>
                  <a:schemeClr val="accent1"/>
                </a:solidFill>
              </a:rPr>
              <a:t> </a:t>
            </a:r>
            <a:r>
              <a:rPr kumimoji="1" lang="en-US" altLang="zh-CN" i="1" dirty="0">
                <a:solidFill>
                  <a:schemeClr val="accent1"/>
                </a:solidFill>
              </a:rPr>
              <a:t>occur</a:t>
            </a:r>
            <a:r>
              <a:rPr kumimoji="1" lang="zh-CN" altLang="en-US" i="1" dirty="0">
                <a:solidFill>
                  <a:schemeClr val="accent1"/>
                </a:solidFill>
              </a:rPr>
              <a:t> </a:t>
            </a:r>
            <a:r>
              <a:rPr kumimoji="1" lang="en-US" altLang="zh-CN" i="1" dirty="0">
                <a:solidFill>
                  <a:schemeClr val="accent1"/>
                </a:solidFill>
              </a:rPr>
              <a:t>after</a:t>
            </a:r>
            <a:r>
              <a:rPr kumimoji="1" lang="zh-CN" altLang="en-US" i="1" dirty="0">
                <a:solidFill>
                  <a:schemeClr val="accent1"/>
                </a:solidFill>
              </a:rPr>
              <a:t> </a:t>
            </a:r>
            <a:r>
              <a:rPr kumimoji="1" lang="en-US" altLang="zh-CN" i="1" dirty="0">
                <a:solidFill>
                  <a:schemeClr val="accent1"/>
                </a:solidFill>
              </a:rPr>
              <a:t>verbs</a:t>
            </a:r>
            <a:r>
              <a:rPr kumimoji="1" lang="en-US" altLang="zh-CN" dirty="0"/>
              <a:t>”</a:t>
            </a:r>
            <a:r>
              <a:rPr kumimoji="1" lang="zh-CN" altLang="en-US" dirty="0"/>
              <a:t> </a:t>
            </a:r>
            <a:br>
              <a:rPr kumimoji="1" lang="en-US" altLang="zh-CN" dirty="0"/>
            </a:b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so</a:t>
            </a:r>
            <a:r>
              <a:rPr kumimoji="1" lang="zh-CN" altLang="en-US" dirty="0"/>
              <a:t> </a:t>
            </a:r>
            <a:r>
              <a:rPr kumimoji="1" lang="en-US" altLang="zh-CN" dirty="0"/>
              <a:t>on?</a:t>
            </a:r>
          </a:p>
          <a:p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formal</a:t>
            </a:r>
            <a:r>
              <a:rPr kumimoji="1" lang="zh-CN" altLang="en-US" dirty="0"/>
              <a:t> </a:t>
            </a:r>
            <a:r>
              <a:rPr kumimoji="1" lang="en-US" altLang="zh-CN" dirty="0"/>
              <a:t>way!</a:t>
            </a:r>
          </a:p>
          <a:p>
            <a:r>
              <a:rPr kumimoji="1" lang="zh-CN" altLang="en-US" dirty="0"/>
              <a:t> </a:t>
            </a:r>
            <a:r>
              <a:rPr kumimoji="1" lang="en-US" altLang="zh-CN" dirty="0"/>
              <a:t>--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Context-Free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Grammar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16DE23-1579-38B5-A508-7D45069B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EF59FE-07C7-210A-8DBC-631AF897D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4D9FA4-B6BB-D6BE-C2F0-4DD367F7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021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4752A3-5BB3-2503-F1D6-098A5C099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Context-Free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Grammars</a:t>
            </a:r>
            <a:r>
              <a:rPr kumimoji="1" lang="zh-CN" altLang="en-US" dirty="0"/>
              <a:t> </a:t>
            </a:r>
            <a:r>
              <a:rPr kumimoji="1" lang="en-US" altLang="zh-CN" dirty="0"/>
              <a:t>(CFG)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5C6A7F-131A-8959-C79F-503F09A76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856694" cy="4180728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Also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called</a:t>
            </a:r>
            <a:r>
              <a:rPr kumimoji="1" lang="zh-CN" altLang="en-US" dirty="0"/>
              <a:t> </a:t>
            </a:r>
            <a:r>
              <a:rPr kumimoji="1" lang="en-US" altLang="zh-CN" dirty="0"/>
              <a:t>Phrase-Structure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Grammar</a:t>
            </a:r>
          </a:p>
          <a:p>
            <a:r>
              <a:rPr kumimoji="1" lang="en-US" altLang="zh-CN" sz="2000" dirty="0"/>
              <a:t>Wilhelm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Wundt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(1900),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Chomsky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(1956),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Backus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(1959),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Naur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(1963)</a:t>
            </a:r>
            <a:endParaRPr kumimoji="1" lang="en-US" altLang="zh-CN" dirty="0"/>
          </a:p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b="1" dirty="0"/>
              <a:t>rules</a:t>
            </a:r>
            <a:r>
              <a:rPr kumimoji="1" lang="zh-CN" altLang="en-US" dirty="0"/>
              <a:t> </a:t>
            </a:r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b="1" dirty="0"/>
              <a:t>productions</a:t>
            </a:r>
            <a:r>
              <a:rPr kumimoji="1" lang="zh-CN" altLang="en-US" b="1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express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ways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symbols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grouped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ordered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together.</a:t>
            </a:r>
            <a:endParaRPr kumimoji="1" lang="zh-CN" altLang="en-US" b="1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E856CF-DF8F-1D99-4F97-9F1037AD2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D4C7D7-D2F9-E1AC-C8F7-64EEE613B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t>8</a:t>
            </a:fld>
            <a:endParaRPr kumimoji="1"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E161876-57F7-4A53-75DB-22F458B345D8}"/>
              </a:ext>
            </a:extLst>
          </p:cNvPr>
          <p:cNvGrpSpPr/>
          <p:nvPr/>
        </p:nvGrpSpPr>
        <p:grpSpPr>
          <a:xfrm>
            <a:off x="1059270" y="3939271"/>
            <a:ext cx="5419432" cy="1228041"/>
            <a:chOff x="1059270" y="3939271"/>
            <a:chExt cx="5419432" cy="1228041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A29F199-7362-36C9-CB91-60435F5B3CAF}"/>
                </a:ext>
              </a:extLst>
            </p:cNvPr>
            <p:cNvSpPr txBox="1"/>
            <p:nvPr/>
          </p:nvSpPr>
          <p:spPr>
            <a:xfrm>
              <a:off x="1059270" y="3939271"/>
              <a:ext cx="6142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Ex.</a:t>
              </a:r>
              <a:r>
                <a:rPr kumimoji="1" lang="zh-CN" alt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70E9BAA-41CF-3481-84A4-6BCBB1F4E7B4}"/>
                </a:ext>
              </a:extLst>
            </p:cNvPr>
            <p:cNvSpPr txBox="1"/>
            <p:nvPr/>
          </p:nvSpPr>
          <p:spPr>
            <a:xfrm>
              <a:off x="1366405" y="3966983"/>
              <a:ext cx="5112297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NP</a:t>
              </a:r>
              <a:r>
                <a:rPr kumimoji="1" lang="zh-CN" alt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→ Det Nominal</a:t>
              </a:r>
            </a:p>
            <a:p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NP → </a:t>
              </a:r>
              <a:r>
                <a:rPr kumimoji="1" lang="en-US" altLang="zh-CN" sz="2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ProperNoun</a:t>
              </a:r>
              <a:endPara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Nominal → Noun | Nominal Noun</a:t>
              </a:r>
              <a:endPara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90ACD44-2F9D-4C58-C465-1ABD4B64E473}"/>
              </a:ext>
            </a:extLst>
          </p:cNvPr>
          <p:cNvGrpSpPr/>
          <p:nvPr/>
        </p:nvGrpSpPr>
        <p:grpSpPr>
          <a:xfrm>
            <a:off x="7827264" y="3566161"/>
            <a:ext cx="4005072" cy="2790190"/>
            <a:chOff x="7827264" y="3566161"/>
            <a:chExt cx="4005072" cy="2790190"/>
          </a:xfrm>
        </p:grpSpPr>
        <p:sp>
          <p:nvSpPr>
            <p:cNvPr id="9" name="圆角矩形标注 8">
              <a:extLst>
                <a:ext uri="{FF2B5EF4-FFF2-40B4-BE49-F238E27FC236}">
                  <a16:creationId xmlns:a16="http://schemas.microsoft.com/office/drawing/2014/main" id="{DF03ADEA-4B0B-ED43-C5F9-AAA32D6527E2}"/>
                </a:ext>
              </a:extLst>
            </p:cNvPr>
            <p:cNvSpPr/>
            <p:nvPr/>
          </p:nvSpPr>
          <p:spPr>
            <a:xfrm>
              <a:off x="7827264" y="3566161"/>
              <a:ext cx="4005072" cy="2790190"/>
            </a:xfrm>
            <a:prstGeom prst="wedgeRoundRectCallout">
              <a:avLst>
                <a:gd name="adj1" fmla="val -84729"/>
                <a:gd name="adj2" fmla="val -19793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13A1342-D979-728F-C8C9-EF5CB3C2CBF3}"/>
                </a:ext>
              </a:extLst>
            </p:cNvPr>
            <p:cNvSpPr txBox="1"/>
            <p:nvPr/>
          </p:nvSpPr>
          <p:spPr>
            <a:xfrm>
              <a:off x="8086344" y="3939271"/>
              <a:ext cx="3630034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A </a:t>
              </a:r>
              <a:r>
                <a:rPr kumimoji="1" lang="en-US" altLang="zh-CN" b="1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NP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(</a:t>
              </a:r>
              <a:r>
                <a:rPr kumimoji="1" lang="en-US" altLang="zh-CN" b="1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noun phrase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) can be composed of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either a </a:t>
              </a:r>
              <a:r>
                <a:rPr kumimoji="1" lang="en-US" altLang="zh-CN" i="1" dirty="0" err="1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ProperNoun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(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专有名词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)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</a:t>
              </a:r>
              <a:endParaRPr kumimoji="1" lang="en-US" altLang="zh-CN" dirty="0">
                <a:latin typeface="Calibri" panose="020F0502020204030204" pitchFamily="34" charset="0"/>
                <a:ea typeface="Songti SC" panose="02010600040101010101" pitchFamily="2" charset="-122"/>
                <a:cs typeface="Calibri" panose="020F050202020403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or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a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determiner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(</a:t>
              </a:r>
              <a:r>
                <a:rPr kumimoji="1" lang="en-US" altLang="zh-CN" i="1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Det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冠词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)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followed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by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a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</a:t>
              </a:r>
              <a:r>
                <a:rPr kumimoji="1" lang="en-US" altLang="zh-CN" i="1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Nominal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(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名词性词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)</a:t>
              </a:r>
            </a:p>
            <a:p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A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Nominal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can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be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one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or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more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</a:t>
              </a:r>
              <a:r>
                <a:rPr kumimoji="1" lang="en-US" altLang="zh-CN" i="1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Nouns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(</a:t>
              </a:r>
              <a:r>
                <a:rPr kumimoji="1" lang="zh-CN" altLang="en-US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名词</a:t>
              </a:r>
              <a:r>
                <a:rPr kumimoji="1" lang="en-US" altLang="zh-CN" dirty="0">
                  <a:latin typeface="Calibri" panose="020F0502020204030204" pitchFamily="34" charset="0"/>
                  <a:ea typeface="Songti SC" panose="02010600040101010101" pitchFamily="2" charset="-122"/>
                  <a:cs typeface="Calibri" panose="020F0502020204030204" pitchFamily="34" charset="0"/>
                </a:rPr>
                <a:t>)</a:t>
              </a:r>
              <a:endParaRPr kumimoji="1" lang="zh-CN" altLang="en-US" dirty="0">
                <a:latin typeface="Calibri" panose="020F0502020204030204" pitchFamily="34" charset="0"/>
                <a:ea typeface="Songti SC" panose="02010600040101010101" pitchFamily="2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ABE6E4D2-50D4-642C-B828-9C4E030BC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91BD49-4133-40F3-785C-C1DC8AB3883A}"/>
              </a:ext>
            </a:extLst>
          </p:cNvPr>
          <p:cNvSpPr txBox="1"/>
          <p:nvPr/>
        </p:nvSpPr>
        <p:spPr>
          <a:xfrm>
            <a:off x="8723376" y="952025"/>
            <a:ext cx="3339253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Wundt,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German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psychologist</a:t>
            </a:r>
          </a:p>
          <a:p>
            <a:pPr algn="l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Chomsky,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American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linguist</a:t>
            </a:r>
          </a:p>
          <a:p>
            <a:pPr algn="l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Backus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Naur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American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computer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scientists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(FORTRAN,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ALGO)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29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3210B5-592A-92E7-D2E4-5B689B76B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Rules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hierarchically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embedded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30BFCB-556A-CCD3-818B-B71DB259D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69F9D6-F3F5-C8D7-C32C-09A5CCFC5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9</a:t>
            </a:fld>
            <a:endParaRPr kumimoji="1"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7706A8F-31CB-7EF6-49F7-729D15FB9843}"/>
              </a:ext>
            </a:extLst>
          </p:cNvPr>
          <p:cNvGrpSpPr/>
          <p:nvPr/>
        </p:nvGrpSpPr>
        <p:grpSpPr>
          <a:xfrm>
            <a:off x="838200" y="2200959"/>
            <a:ext cx="5419432" cy="1228041"/>
            <a:chOff x="1059270" y="3939271"/>
            <a:chExt cx="5419432" cy="1228041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E70ED93-003C-CF37-F00A-89A5B50DEB03}"/>
                </a:ext>
              </a:extLst>
            </p:cNvPr>
            <p:cNvSpPr txBox="1"/>
            <p:nvPr/>
          </p:nvSpPr>
          <p:spPr>
            <a:xfrm>
              <a:off x="1059270" y="3939271"/>
              <a:ext cx="6142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Ex.</a:t>
              </a:r>
              <a:r>
                <a:rPr kumimoji="1" lang="zh-CN" alt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64CEEDD-1E6E-9AF8-41C8-7AA6A8D0329B}"/>
                </a:ext>
              </a:extLst>
            </p:cNvPr>
            <p:cNvSpPr txBox="1"/>
            <p:nvPr/>
          </p:nvSpPr>
          <p:spPr>
            <a:xfrm>
              <a:off x="1366405" y="3966983"/>
              <a:ext cx="5112297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NP</a:t>
              </a:r>
              <a:r>
                <a:rPr kumimoji="1" lang="zh-CN" alt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→ Det Nominal</a:t>
              </a:r>
            </a:p>
            <a:p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NP → </a:t>
              </a:r>
              <a:r>
                <a:rPr kumimoji="1" lang="en-US" altLang="zh-CN" sz="2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ProperNoun</a:t>
              </a:r>
              <a:endPara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Nominal → Noun | Nominal Noun</a:t>
              </a:r>
              <a:endPara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486564C-2FCC-9270-AC8F-6090DE48FD43}"/>
              </a:ext>
            </a:extLst>
          </p:cNvPr>
          <p:cNvGrpSpPr/>
          <p:nvPr/>
        </p:nvGrpSpPr>
        <p:grpSpPr>
          <a:xfrm>
            <a:off x="3701484" y="2198214"/>
            <a:ext cx="5908819" cy="1230785"/>
            <a:chOff x="3701484" y="2198214"/>
            <a:chExt cx="5908819" cy="1230785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74E51BF-8DDA-84DC-7528-84F42A218897}"/>
                </a:ext>
              </a:extLst>
            </p:cNvPr>
            <p:cNvSpPr txBox="1"/>
            <p:nvPr/>
          </p:nvSpPr>
          <p:spPr>
            <a:xfrm>
              <a:off x="7248759" y="2198214"/>
              <a:ext cx="236154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Det</a:t>
              </a:r>
              <a:r>
                <a:rPr kumimoji="1" lang="zh-CN" alt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→ </a:t>
              </a:r>
              <a:r>
                <a:rPr kumimoji="1"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  <a:p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Det → </a:t>
              </a:r>
              <a:r>
                <a:rPr kumimoji="1"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</a:p>
            <a:p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Noun → | </a:t>
              </a:r>
              <a:r>
                <a:rPr kumimoji="1"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flight</a:t>
              </a:r>
              <a:endParaRPr kumimoji="1"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曲线连接符 10">
              <a:extLst>
                <a:ext uri="{FF2B5EF4-FFF2-40B4-BE49-F238E27FC236}">
                  <a16:creationId xmlns:a16="http://schemas.microsoft.com/office/drawing/2014/main" id="{4ECD716B-4304-5085-2980-5C26C119DD6A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 rot="10800000">
              <a:off x="3701484" y="2228672"/>
              <a:ext cx="3696012" cy="112193"/>
            </a:xfrm>
            <a:prstGeom prst="curvedConnector4">
              <a:avLst>
                <a:gd name="adj1" fmla="val 8740"/>
                <a:gd name="adj2" fmla="val 303756"/>
              </a:avLst>
            </a:prstGeom>
            <a:ln w="19050">
              <a:solidFill>
                <a:srgbClr val="0070C0"/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曲线连接符 16">
              <a:extLst>
                <a:ext uri="{FF2B5EF4-FFF2-40B4-BE49-F238E27FC236}">
                  <a16:creationId xmlns:a16="http://schemas.microsoft.com/office/drawing/2014/main" id="{C4D084F2-5A2F-BE37-02D5-30ED8C02B0FA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rot="10800000">
              <a:off x="4215385" y="2284769"/>
              <a:ext cx="3033375" cy="513610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0070C0"/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曲线连接符 19">
              <a:extLst>
                <a:ext uri="{FF2B5EF4-FFF2-40B4-BE49-F238E27FC236}">
                  <a16:creationId xmlns:a16="http://schemas.microsoft.com/office/drawing/2014/main" id="{A8267866-9272-5397-8BC0-EDE74EDFA5DA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rot="10800000" flipV="1">
              <a:off x="3701484" y="3249062"/>
              <a:ext cx="3547276" cy="179937"/>
            </a:xfrm>
            <a:prstGeom prst="curvedConnector4">
              <a:avLst>
                <a:gd name="adj1" fmla="val 6237"/>
                <a:gd name="adj2" fmla="val 227044"/>
              </a:avLst>
            </a:prstGeom>
            <a:ln w="19050">
              <a:solidFill>
                <a:srgbClr val="0070C0"/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933B2A7F-6C6F-8A98-C5DB-4DCB17C32FF2}"/>
              </a:ext>
            </a:extLst>
          </p:cNvPr>
          <p:cNvSpPr txBox="1"/>
          <p:nvPr/>
        </p:nvSpPr>
        <p:spPr>
          <a:xfrm>
            <a:off x="933941" y="4209706"/>
            <a:ext cx="656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Two classes of symbols: </a:t>
            </a:r>
            <a:r>
              <a:rPr kumimoji="1"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terminal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1"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non-terminal</a:t>
            </a:r>
            <a:endParaRPr kumimoji="1" lang="zh-CN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83B3E87-EF23-648E-5189-6D013057AB6C}"/>
              </a:ext>
            </a:extLst>
          </p:cNvPr>
          <p:cNvSpPr txBox="1"/>
          <p:nvPr/>
        </p:nvSpPr>
        <p:spPr>
          <a:xfrm>
            <a:off x="1267955" y="4789434"/>
            <a:ext cx="87142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terminal: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symbols that are actual words in language (“a”, “the”, 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non-terminal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: symbols that express abstractions over terminals</a:t>
            </a:r>
            <a:endParaRPr kumimoji="1" lang="zh-CN" altLang="en-US" sz="2400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82B21F-6809-98DF-03B4-04081124A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702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A84B4C-7C95-C7B8-8AA6-EA8297346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59" y="144870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CFG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device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sentences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706DDB-8998-C8F0-E5B6-4F4F6427E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2E3E41-59E8-0D47-797C-55969A81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10</a:t>
            </a:fld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FC93A8-DB8A-3E24-AF20-911AF20AB67A}"/>
              </a:ext>
            </a:extLst>
          </p:cNvPr>
          <p:cNvSpPr txBox="1"/>
          <p:nvPr/>
        </p:nvSpPr>
        <p:spPr>
          <a:xfrm>
            <a:off x="5909359" y="1070323"/>
            <a:ext cx="854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Calibri" panose="020F0502020204030204" pitchFamily="34" charset="0"/>
                <a:ea typeface="Songti SC" panose="02010600040101010101" pitchFamily="2" charset="-122"/>
                <a:cs typeface="Calibri" panose="020F0502020204030204" pitchFamily="34" charset="0"/>
              </a:rPr>
              <a:t>(</a:t>
            </a:r>
            <a:r>
              <a:rPr kumimoji="1" lang="zh-CN" altLang="en-US" sz="2000" dirty="0">
                <a:latin typeface="Calibri" panose="020F0502020204030204" pitchFamily="34" charset="0"/>
                <a:ea typeface="Songti SC" panose="02010600040101010101" pitchFamily="2" charset="-122"/>
                <a:cs typeface="Calibri" panose="020F0502020204030204" pitchFamily="34" charset="0"/>
              </a:rPr>
              <a:t>生成</a:t>
            </a:r>
            <a:r>
              <a:rPr kumimoji="1" lang="en-US" altLang="zh-CN" sz="2000" dirty="0">
                <a:latin typeface="Calibri" panose="020F0502020204030204" pitchFamily="34" charset="0"/>
                <a:ea typeface="Songti SC" panose="02010600040101010101" pitchFamily="2" charset="-122"/>
                <a:cs typeface="Calibri" panose="020F0502020204030204" pitchFamily="34" charset="0"/>
              </a:rPr>
              <a:t>)</a:t>
            </a:r>
            <a:endParaRPr kumimoji="1" lang="zh-CN" altLang="en-US" sz="2000" dirty="0">
              <a:latin typeface="Calibri" panose="020F0502020204030204" pitchFamily="34" charset="0"/>
              <a:ea typeface="Songti SC" panose="02010600040101010101" pitchFamily="2" charset="-122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44AE4E-69D1-0047-481E-0F6F9C51A7FD}"/>
              </a:ext>
            </a:extLst>
          </p:cNvPr>
          <p:cNvSpPr txBox="1"/>
          <p:nvPr/>
        </p:nvSpPr>
        <p:spPr>
          <a:xfrm>
            <a:off x="907591" y="2950021"/>
            <a:ext cx="42755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  NP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→ Det Nominal</a:t>
            </a:r>
          </a:p>
          <a:p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  NP → 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ProperNoun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Nominal → Noun | Nominal Noun</a:t>
            </a:r>
            <a:endParaRPr kumimoji="1"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AC7353-4BB7-456B-0D2C-D2120BD4AA6D}"/>
              </a:ext>
            </a:extLst>
          </p:cNvPr>
          <p:cNvSpPr txBox="1"/>
          <p:nvPr/>
        </p:nvSpPr>
        <p:spPr>
          <a:xfrm>
            <a:off x="403286" y="2343612"/>
            <a:ext cx="1008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Rules: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065239-4587-2CE5-AD21-ECBBAB714DBE}"/>
              </a:ext>
            </a:extLst>
          </p:cNvPr>
          <p:cNvSpPr txBox="1"/>
          <p:nvPr/>
        </p:nvSpPr>
        <p:spPr>
          <a:xfrm>
            <a:off x="1329599" y="4182863"/>
            <a:ext cx="19928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Det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→ </a:t>
            </a:r>
            <a:r>
              <a:rPr kumimoji="1"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Det → </a:t>
            </a:r>
            <a:r>
              <a:rPr kumimoji="1"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</a:p>
          <a:p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Noun → | </a:t>
            </a:r>
            <a:r>
              <a:rPr kumimoji="1"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</a:t>
            </a:r>
            <a:endParaRPr kumimoji="1"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14410-F950-90E9-93A7-34E95BEB6CDC}"/>
              </a:ext>
            </a:extLst>
          </p:cNvPr>
          <p:cNvSpPr/>
          <p:nvPr/>
        </p:nvSpPr>
        <p:spPr>
          <a:xfrm>
            <a:off x="305950" y="2271177"/>
            <a:ext cx="4877168" cy="315315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>
                <a:solidFill>
                  <a:sysClr val="windowText" lastClr="000000"/>
                </a:solidFill>
              </a:ln>
              <a:noFill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4117095-FAEC-C047-0FD6-EDCB3195FB7E}"/>
              </a:ext>
            </a:extLst>
          </p:cNvPr>
          <p:cNvSpPr txBox="1"/>
          <p:nvPr/>
        </p:nvSpPr>
        <p:spPr>
          <a:xfrm>
            <a:off x="5474209" y="2271177"/>
            <a:ext cx="1610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Start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i="1" dirty="0">
                <a:latin typeface="Calibri" panose="020F0502020204030204" pitchFamily="34" charset="0"/>
                <a:cs typeface="Calibri" panose="020F0502020204030204" pitchFamily="34" charset="0"/>
              </a:rPr>
              <a:t>NP</a:t>
            </a:r>
            <a:endParaRPr kumimoji="1" lang="zh-CN" altLang="en-US" sz="20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6BD17B-4757-5463-337A-1E488ECA8884}"/>
              </a:ext>
            </a:extLst>
          </p:cNvPr>
          <p:cNvSpPr txBox="1"/>
          <p:nvPr/>
        </p:nvSpPr>
        <p:spPr>
          <a:xfrm>
            <a:off x="526523" y="295002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5659B47-2536-6F07-67D6-6759A91F44DC}"/>
              </a:ext>
            </a:extLst>
          </p:cNvPr>
          <p:cNvSpPr txBox="1"/>
          <p:nvPr/>
        </p:nvSpPr>
        <p:spPr>
          <a:xfrm>
            <a:off x="526523" y="325779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22E4809-96D7-73D9-4BED-6CA11D630B2A}"/>
              </a:ext>
            </a:extLst>
          </p:cNvPr>
          <p:cNvSpPr txBox="1"/>
          <p:nvPr/>
        </p:nvSpPr>
        <p:spPr>
          <a:xfrm>
            <a:off x="526523" y="355590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ECF0134-AB78-B70D-AFBF-5E9FC4EC4186}"/>
              </a:ext>
            </a:extLst>
          </p:cNvPr>
          <p:cNvSpPr txBox="1"/>
          <p:nvPr/>
        </p:nvSpPr>
        <p:spPr>
          <a:xfrm>
            <a:off x="526523" y="415176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327B94B-57D1-9EEB-FC0F-CACBB3BD0E7C}"/>
              </a:ext>
            </a:extLst>
          </p:cNvPr>
          <p:cNvSpPr txBox="1"/>
          <p:nvPr/>
        </p:nvSpPr>
        <p:spPr>
          <a:xfrm>
            <a:off x="526523" y="448708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⑤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639E61-C22C-DB8C-8E00-6F2C60C372E7}"/>
              </a:ext>
            </a:extLst>
          </p:cNvPr>
          <p:cNvSpPr txBox="1"/>
          <p:nvPr/>
        </p:nvSpPr>
        <p:spPr>
          <a:xfrm>
            <a:off x="529922" y="480499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⑥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7579D31-B3A0-ABAC-FE67-91EE4EF5896C}"/>
              </a:ext>
            </a:extLst>
          </p:cNvPr>
          <p:cNvSpPr txBox="1"/>
          <p:nvPr/>
        </p:nvSpPr>
        <p:spPr>
          <a:xfrm>
            <a:off x="5474208" y="2802735"/>
            <a:ext cx="45800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rule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① 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rewrite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i="1" dirty="0">
                <a:latin typeface="Calibri" panose="020F0502020204030204" pitchFamily="34" charset="0"/>
                <a:cs typeface="Calibri" panose="020F0502020204030204" pitchFamily="34" charset="0"/>
              </a:rPr>
              <a:t>NP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as: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i="1" dirty="0">
                <a:latin typeface="Calibri" panose="020F0502020204030204" pitchFamily="34" charset="0"/>
                <a:cs typeface="Calibri" panose="020F0502020204030204" pitchFamily="34" charset="0"/>
              </a:rPr>
              <a:t>Det</a:t>
            </a:r>
            <a:r>
              <a:rPr kumimoji="1" lang="zh-CN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i="1" dirty="0">
                <a:latin typeface="Calibri" panose="020F0502020204030204" pitchFamily="34" charset="0"/>
                <a:cs typeface="Calibri" panose="020F0502020204030204" pitchFamily="34" charset="0"/>
              </a:rPr>
              <a:t>Nominal</a:t>
            </a:r>
            <a:endParaRPr kumimoji="1" lang="zh-CN" altLang="en-US" sz="20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2E007345-999F-3943-A951-6C50EC1BAC11}"/>
              </a:ext>
            </a:extLst>
          </p:cNvPr>
          <p:cNvGrpSpPr/>
          <p:nvPr/>
        </p:nvGrpSpPr>
        <p:grpSpPr>
          <a:xfrm>
            <a:off x="5474208" y="3147981"/>
            <a:ext cx="4419480" cy="612713"/>
            <a:chOff x="5474208" y="3147981"/>
            <a:chExt cx="4419480" cy="612713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2FEAA20-B5B4-5646-76A7-D5DEB8C4F838}"/>
                </a:ext>
              </a:extLst>
            </p:cNvPr>
            <p:cNvSpPr txBox="1"/>
            <p:nvPr/>
          </p:nvSpPr>
          <p:spPr>
            <a:xfrm>
              <a:off x="5474208" y="3360584"/>
              <a:ext cx="4419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Use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rule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③ 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to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rewrite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i="1" dirty="0">
                  <a:latin typeface="Calibri" panose="020F0502020204030204" pitchFamily="34" charset="0"/>
                  <a:cs typeface="Calibri" panose="020F0502020204030204" pitchFamily="34" charset="0"/>
                </a:rPr>
                <a:t>Nominal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as: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i="1" dirty="0">
                  <a:latin typeface="Calibri" panose="020F0502020204030204" pitchFamily="34" charset="0"/>
                  <a:cs typeface="Calibri" panose="020F0502020204030204" pitchFamily="34" charset="0"/>
                </a:rPr>
                <a:t>Noun</a:t>
              </a:r>
              <a:endParaRPr kumimoji="1" lang="zh-CN" altLang="en-US" sz="2000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1" name="直线箭头连接符 20">
              <a:extLst>
                <a:ext uri="{FF2B5EF4-FFF2-40B4-BE49-F238E27FC236}">
                  <a16:creationId xmlns:a16="http://schemas.microsoft.com/office/drawing/2014/main" id="{87A54062-DAAB-8467-798B-29669E0E3653}"/>
                </a:ext>
              </a:extLst>
            </p:cNvPr>
            <p:cNvCxnSpPr/>
            <p:nvPr/>
          </p:nvCxnSpPr>
          <p:spPr>
            <a:xfrm>
              <a:off x="9464040" y="3147981"/>
              <a:ext cx="0" cy="278924"/>
            </a:xfrm>
            <a:prstGeom prst="straightConnector1">
              <a:avLst/>
            </a:prstGeom>
            <a:ln w="19050">
              <a:solidFill>
                <a:srgbClr val="0070C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818E8CA-45A1-DABC-992B-2C8789BBC57C}"/>
              </a:ext>
            </a:extLst>
          </p:cNvPr>
          <p:cNvGrpSpPr/>
          <p:nvPr/>
        </p:nvGrpSpPr>
        <p:grpSpPr>
          <a:xfrm>
            <a:off x="5474208" y="3202845"/>
            <a:ext cx="3473964" cy="1115698"/>
            <a:chOff x="5474208" y="3202845"/>
            <a:chExt cx="3473964" cy="1115698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C8C9B3A-A872-A207-919A-16F76DF1BBDC}"/>
                </a:ext>
              </a:extLst>
            </p:cNvPr>
            <p:cNvSpPr txBox="1"/>
            <p:nvPr/>
          </p:nvSpPr>
          <p:spPr>
            <a:xfrm>
              <a:off x="5474208" y="3918433"/>
              <a:ext cx="34739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Use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rule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④ 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to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rewrite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i="1" dirty="0">
                  <a:latin typeface="Calibri" panose="020F0502020204030204" pitchFamily="34" charset="0"/>
                  <a:cs typeface="Calibri" panose="020F0502020204030204" pitchFamily="34" charset="0"/>
                </a:rPr>
                <a:t>Det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as: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i="1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kumimoji="1" lang="zh-CN" altLang="en-US" sz="2000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3" name="直线箭头连接符 22">
              <a:extLst>
                <a:ext uri="{FF2B5EF4-FFF2-40B4-BE49-F238E27FC236}">
                  <a16:creationId xmlns:a16="http://schemas.microsoft.com/office/drawing/2014/main" id="{C0A607B0-3D89-B8C9-42AC-57603F4BCA01}"/>
                </a:ext>
              </a:extLst>
            </p:cNvPr>
            <p:cNvCxnSpPr>
              <a:cxnSpLocks/>
            </p:cNvCxnSpPr>
            <p:nvPr/>
          </p:nvCxnSpPr>
          <p:spPr>
            <a:xfrm>
              <a:off x="8775192" y="3202845"/>
              <a:ext cx="0" cy="805936"/>
            </a:xfrm>
            <a:prstGeom prst="straightConnector1">
              <a:avLst/>
            </a:prstGeom>
            <a:ln w="19050">
              <a:solidFill>
                <a:srgbClr val="0070C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5790F5A3-2E28-7C46-1C23-A1D8BF543662}"/>
              </a:ext>
            </a:extLst>
          </p:cNvPr>
          <p:cNvGrpSpPr/>
          <p:nvPr/>
        </p:nvGrpSpPr>
        <p:grpSpPr>
          <a:xfrm>
            <a:off x="5474208" y="3710676"/>
            <a:ext cx="4081951" cy="1165716"/>
            <a:chOff x="5474208" y="3710676"/>
            <a:chExt cx="4081951" cy="1165716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9C3056C-3966-8ED1-E44B-3482EAAB9545}"/>
                </a:ext>
              </a:extLst>
            </p:cNvPr>
            <p:cNvSpPr txBox="1"/>
            <p:nvPr/>
          </p:nvSpPr>
          <p:spPr>
            <a:xfrm>
              <a:off x="5474208" y="4476282"/>
              <a:ext cx="40819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Use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rule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⑥ 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to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rewrite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i="1" dirty="0">
                  <a:latin typeface="Calibri" panose="020F0502020204030204" pitchFamily="34" charset="0"/>
                  <a:cs typeface="Calibri" panose="020F0502020204030204" pitchFamily="34" charset="0"/>
                </a:rPr>
                <a:t>Noun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as: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i="1" dirty="0">
                  <a:latin typeface="Calibri" panose="020F0502020204030204" pitchFamily="34" charset="0"/>
                  <a:cs typeface="Calibri" panose="020F0502020204030204" pitchFamily="34" charset="0"/>
                </a:rPr>
                <a:t>flight</a:t>
              </a:r>
              <a:endParaRPr kumimoji="1" lang="zh-CN" altLang="en-US" sz="2000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6" name="直线箭头连接符 25">
              <a:extLst>
                <a:ext uri="{FF2B5EF4-FFF2-40B4-BE49-F238E27FC236}">
                  <a16:creationId xmlns:a16="http://schemas.microsoft.com/office/drawing/2014/main" id="{4216632B-C498-87C4-0472-9E152A58AFAE}"/>
                </a:ext>
              </a:extLst>
            </p:cNvPr>
            <p:cNvCxnSpPr>
              <a:cxnSpLocks/>
            </p:cNvCxnSpPr>
            <p:nvPr/>
          </p:nvCxnSpPr>
          <p:spPr>
            <a:xfrm>
              <a:off x="9293352" y="3710676"/>
              <a:ext cx="0" cy="805936"/>
            </a:xfrm>
            <a:prstGeom prst="straightConnector1">
              <a:avLst/>
            </a:prstGeom>
            <a:ln w="19050">
              <a:solidFill>
                <a:srgbClr val="0070C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E409387-DC02-D4C9-323A-F26FDD603806}"/>
              </a:ext>
            </a:extLst>
          </p:cNvPr>
          <p:cNvGrpSpPr/>
          <p:nvPr/>
        </p:nvGrpSpPr>
        <p:grpSpPr>
          <a:xfrm>
            <a:off x="7820107" y="3723102"/>
            <a:ext cx="4065943" cy="2419791"/>
            <a:chOff x="7820107" y="3723102"/>
            <a:chExt cx="4065943" cy="2419791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C8770AE3-6494-0F05-EC82-D479981355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16554" y="3723102"/>
              <a:ext cx="1269496" cy="2419791"/>
            </a:xfrm>
            <a:prstGeom prst="rect">
              <a:avLst/>
            </a:prstGeom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9591AC3E-33B1-DB83-CE86-0E83427D0845}"/>
                </a:ext>
              </a:extLst>
            </p:cNvPr>
            <p:cNvSpPr txBox="1"/>
            <p:nvPr/>
          </p:nvSpPr>
          <p:spPr>
            <a:xfrm>
              <a:off x="7820107" y="5608354"/>
              <a:ext cx="20735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Result: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parse</a:t>
              </a:r>
              <a:r>
                <a:rPr kumimoji="1" lang="zh-CN" altLang="en-US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tree</a:t>
              </a:r>
              <a:endParaRPr kumimoji="1"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右箭头 29">
              <a:extLst>
                <a:ext uri="{FF2B5EF4-FFF2-40B4-BE49-F238E27FC236}">
                  <a16:creationId xmlns:a16="http://schemas.microsoft.com/office/drawing/2014/main" id="{6A79834C-D367-05CD-90E1-5ED7AA9CF1E1}"/>
                </a:ext>
              </a:extLst>
            </p:cNvPr>
            <p:cNvSpPr/>
            <p:nvPr/>
          </p:nvSpPr>
          <p:spPr>
            <a:xfrm>
              <a:off x="10035665" y="5665187"/>
              <a:ext cx="438912" cy="3059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1A1492-1C77-599C-12B2-15B40C8B7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350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03AD7-63C0-27F5-E203-AF4812ED0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402" y="136525"/>
            <a:ext cx="10515600" cy="812123"/>
          </a:xfrm>
        </p:spPr>
        <p:txBody>
          <a:bodyPr/>
          <a:lstStyle/>
          <a:p>
            <a:r>
              <a:rPr kumimoji="1" lang="en-US" altLang="zh-CN" dirty="0"/>
              <a:t>CFG: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terms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1C15AC-D2A8-0E74-820D-4D6BBF84C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71ACDC-0972-C6F7-F5C2-4064E3BCE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11</a:t>
            </a:fld>
            <a:endParaRPr kumimoji="1" lang="zh-CN" altLang="en-US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3C701648-D052-8E3E-5BEE-8321E04333AB}"/>
              </a:ext>
            </a:extLst>
          </p:cNvPr>
          <p:cNvGrpSpPr/>
          <p:nvPr/>
        </p:nvGrpSpPr>
        <p:grpSpPr>
          <a:xfrm>
            <a:off x="239824" y="1841508"/>
            <a:ext cx="1773936" cy="2930934"/>
            <a:chOff x="239824" y="1841508"/>
            <a:chExt cx="1773936" cy="2930934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CE2AC14-7037-1AF2-B1C4-F9980DB7E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8375" y="2625097"/>
              <a:ext cx="1126563" cy="2147345"/>
            </a:xfrm>
            <a:prstGeom prst="rect">
              <a:avLst/>
            </a:prstGeom>
          </p:spPr>
        </p:pic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A918D449-4747-DCF3-5B49-AFC5E405C889}"/>
                </a:ext>
              </a:extLst>
            </p:cNvPr>
            <p:cNvSpPr/>
            <p:nvPr/>
          </p:nvSpPr>
          <p:spPr>
            <a:xfrm>
              <a:off x="834184" y="2523144"/>
              <a:ext cx="585216" cy="430720"/>
            </a:xfrm>
            <a:prstGeom prst="ellipse">
              <a:avLst/>
            </a:prstGeom>
            <a:solidFill>
              <a:srgbClr val="C00000">
                <a:alpha val="3787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9037E5-FE87-A5E0-2393-741A968553A8}"/>
                </a:ext>
              </a:extLst>
            </p:cNvPr>
            <p:cNvSpPr txBox="1"/>
            <p:nvPr/>
          </p:nvSpPr>
          <p:spPr>
            <a:xfrm>
              <a:off x="239824" y="1841508"/>
              <a:ext cx="17739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NP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b="1" dirty="0">
                  <a:latin typeface="Calibri" panose="020F0502020204030204" pitchFamily="34" charset="0"/>
                  <a:cs typeface="Calibri" panose="020F0502020204030204" pitchFamily="34" charset="0"/>
                </a:rPr>
                <a:t>dominates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all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nodes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in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the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tree</a:t>
              </a:r>
              <a:endPara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4AC78A7-433D-8504-21CE-11076B2B5041}"/>
              </a:ext>
            </a:extLst>
          </p:cNvPr>
          <p:cNvSpPr txBox="1"/>
          <p:nvPr/>
        </p:nvSpPr>
        <p:spPr>
          <a:xfrm>
            <a:off x="2515789" y="999364"/>
            <a:ext cx="71604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effectLst/>
                <a:latin typeface="NimbusRomNo9L"/>
              </a:rPr>
              <a:t>A</a:t>
            </a:r>
            <a:r>
              <a:rPr lang="zh-CN" altLang="en-US" sz="2000" dirty="0">
                <a:effectLst/>
                <a:latin typeface="NimbusRomNo9L"/>
              </a:rPr>
              <a:t> </a:t>
            </a:r>
            <a:r>
              <a:rPr lang="en-US" altLang="zh-CN" sz="2000" dirty="0">
                <a:effectLst/>
                <a:latin typeface="NimbusRomNo9L"/>
              </a:rPr>
              <a:t>grammar must have one designated </a:t>
            </a:r>
            <a:r>
              <a:rPr lang="en-US" altLang="zh-CN" sz="2000" b="1" dirty="0">
                <a:effectLst/>
                <a:latin typeface="NimbusRomNo9L"/>
              </a:rPr>
              <a:t>start symbol</a:t>
            </a:r>
            <a:r>
              <a:rPr lang="en-US" altLang="zh-CN" sz="2000" dirty="0">
                <a:effectLst/>
                <a:latin typeface="NimbusRomNo9L"/>
              </a:rPr>
              <a:t>,</a:t>
            </a:r>
            <a:r>
              <a:rPr lang="zh-CN" altLang="en-US" sz="2000" dirty="0">
                <a:effectLst/>
                <a:latin typeface="NimbusRomNo9L"/>
              </a:rPr>
              <a:t> </a:t>
            </a:r>
            <a:r>
              <a:rPr lang="en-US" altLang="zh-CN" sz="2000" dirty="0">
                <a:latin typeface="NimbusRomNo9L"/>
              </a:rPr>
              <a:t>often</a:t>
            </a:r>
            <a:r>
              <a:rPr lang="zh-CN" altLang="en-US" sz="2000" dirty="0">
                <a:latin typeface="NimbusRomNo9L"/>
              </a:rPr>
              <a:t> </a:t>
            </a:r>
            <a:r>
              <a:rPr lang="en-US" altLang="zh-CN" sz="2000" dirty="0">
                <a:latin typeface="NimbusRomNo9L"/>
              </a:rPr>
              <a:t>called</a:t>
            </a:r>
            <a:r>
              <a:rPr lang="zh-CN" altLang="en-US" sz="2000" dirty="0">
                <a:latin typeface="NimbusRomNo9L"/>
              </a:rPr>
              <a:t> </a:t>
            </a:r>
            <a:r>
              <a:rPr lang="en-US" altLang="zh-CN" sz="2000" b="1" i="1" dirty="0">
                <a:latin typeface="NimbusRomNo9L"/>
              </a:rPr>
              <a:t>S</a:t>
            </a:r>
            <a:r>
              <a:rPr lang="en-US" altLang="zh-CN" sz="2000" dirty="0">
                <a:latin typeface="NimbusRomNo9L"/>
              </a:rPr>
              <a:t>.</a:t>
            </a:r>
            <a:r>
              <a:rPr lang="zh-CN" altLang="en-US" sz="2000" dirty="0">
                <a:latin typeface="NimbusRomNo9L"/>
              </a:rPr>
              <a:t> </a:t>
            </a:r>
            <a:endParaRPr lang="en-US" altLang="zh-CN" sz="2000" dirty="0">
              <a:effectLst/>
              <a:latin typeface="NimbusRomNo9L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F5438A-D7B4-D494-2960-5C7D5469CAE8}"/>
              </a:ext>
            </a:extLst>
          </p:cNvPr>
          <p:cNvSpPr txBox="1"/>
          <p:nvPr/>
        </p:nvSpPr>
        <p:spPr>
          <a:xfrm>
            <a:off x="2515789" y="1512801"/>
            <a:ext cx="18036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effectLst/>
                <a:latin typeface="NimbusRomNo9L"/>
              </a:rPr>
              <a:t>Common</a:t>
            </a:r>
            <a:r>
              <a:rPr lang="zh-CN" altLang="en-US" sz="2000" dirty="0">
                <a:effectLst/>
                <a:latin typeface="NimbusRomNo9L"/>
              </a:rPr>
              <a:t> </a:t>
            </a:r>
            <a:r>
              <a:rPr lang="en-US" altLang="zh-CN" sz="2000" dirty="0">
                <a:latin typeface="NimbusRomNo9L"/>
              </a:rPr>
              <a:t>rules:</a:t>
            </a:r>
            <a:endParaRPr lang="en-US" altLang="zh-CN" sz="2000" dirty="0">
              <a:effectLst/>
              <a:latin typeface="NimbusRomNo9L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A380689-AB3E-10DA-AE70-14AEB7D8EB20}"/>
              </a:ext>
            </a:extLst>
          </p:cNvPr>
          <p:cNvGrpSpPr/>
          <p:nvPr/>
        </p:nvGrpSpPr>
        <p:grpSpPr>
          <a:xfrm>
            <a:off x="2588716" y="2082188"/>
            <a:ext cx="6757416" cy="833344"/>
            <a:chOff x="2588716" y="2082188"/>
            <a:chExt cx="6757416" cy="833344"/>
          </a:xfrm>
        </p:grpSpPr>
        <p:sp>
          <p:nvSpPr>
            <p:cNvPr id="14" name="圆角矩形 13">
              <a:extLst>
                <a:ext uri="{FF2B5EF4-FFF2-40B4-BE49-F238E27FC236}">
                  <a16:creationId xmlns:a16="http://schemas.microsoft.com/office/drawing/2014/main" id="{A5A0E664-AB36-0F4A-9A3F-F77E7DE5ACB6}"/>
                </a:ext>
              </a:extLst>
            </p:cNvPr>
            <p:cNvSpPr/>
            <p:nvPr/>
          </p:nvSpPr>
          <p:spPr>
            <a:xfrm>
              <a:off x="2588716" y="2082188"/>
              <a:ext cx="6757416" cy="833344"/>
            </a:xfrm>
            <a:prstGeom prst="roundRect">
              <a:avLst/>
            </a:prstGeom>
            <a:solidFill>
              <a:schemeClr val="accent5">
                <a:alpha val="51429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8DCC080-C21C-D80D-A78B-A520164328B9}"/>
                </a:ext>
              </a:extLst>
            </p:cNvPr>
            <p:cNvSpPr txBox="1"/>
            <p:nvPr/>
          </p:nvSpPr>
          <p:spPr>
            <a:xfrm>
              <a:off x="2799028" y="2109620"/>
              <a:ext cx="6406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sentence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can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consist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of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noun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phrase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followed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by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verb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phrase</a:t>
              </a:r>
              <a:endPara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3C96AA0-9AA2-5AEF-8ED8-7C002B51AEF1}"/>
                </a:ext>
              </a:extLst>
            </p:cNvPr>
            <p:cNvSpPr txBox="1"/>
            <p:nvPr/>
          </p:nvSpPr>
          <p:spPr>
            <a:xfrm>
              <a:off x="3001710" y="2478952"/>
              <a:ext cx="14542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→ NP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VP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810F192A-5294-29E5-E20F-CCE77D9E100B}"/>
                </a:ext>
              </a:extLst>
            </p:cNvPr>
            <p:cNvSpPr txBox="1"/>
            <p:nvPr/>
          </p:nvSpPr>
          <p:spPr>
            <a:xfrm>
              <a:off x="5213392" y="2451414"/>
              <a:ext cx="24111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prefer</a:t>
              </a:r>
              <a:r>
                <a: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morning</a:t>
              </a:r>
              <a:r>
                <a: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flight</a:t>
              </a:r>
              <a:endParaRPr kumimoji="1"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5C5B5EC-1D66-162B-4EBC-CC6EC9289F23}"/>
              </a:ext>
            </a:extLst>
          </p:cNvPr>
          <p:cNvGrpSpPr/>
          <p:nvPr/>
        </p:nvGrpSpPr>
        <p:grpSpPr>
          <a:xfrm>
            <a:off x="2588716" y="3229894"/>
            <a:ext cx="6757416" cy="833344"/>
            <a:chOff x="2588716" y="3229894"/>
            <a:chExt cx="6757416" cy="833344"/>
          </a:xfrm>
        </p:grpSpPr>
        <p:sp>
          <p:nvSpPr>
            <p:cNvPr id="15" name="圆角矩形 14">
              <a:extLst>
                <a:ext uri="{FF2B5EF4-FFF2-40B4-BE49-F238E27FC236}">
                  <a16:creationId xmlns:a16="http://schemas.microsoft.com/office/drawing/2014/main" id="{65F53598-0DDE-96EF-E709-B7FA2C22C707}"/>
                </a:ext>
              </a:extLst>
            </p:cNvPr>
            <p:cNvSpPr/>
            <p:nvPr/>
          </p:nvSpPr>
          <p:spPr>
            <a:xfrm>
              <a:off x="2588716" y="3229894"/>
              <a:ext cx="6757416" cy="833344"/>
            </a:xfrm>
            <a:prstGeom prst="roundRect">
              <a:avLst/>
            </a:prstGeom>
            <a:solidFill>
              <a:schemeClr val="accent5">
                <a:alpha val="51429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69FF829-0264-CBA4-6971-3137317EFF6F}"/>
                </a:ext>
              </a:extLst>
            </p:cNvPr>
            <p:cNvSpPr txBox="1"/>
            <p:nvPr/>
          </p:nvSpPr>
          <p:spPr>
            <a:xfrm>
              <a:off x="2799028" y="3257326"/>
              <a:ext cx="52091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VP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can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consist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of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verb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followed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by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assorted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things</a:t>
              </a:r>
              <a:endPara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82C3DF2-447F-ABC8-770A-D54791F20370}"/>
                </a:ext>
              </a:extLst>
            </p:cNvPr>
            <p:cNvSpPr txBox="1"/>
            <p:nvPr/>
          </p:nvSpPr>
          <p:spPr>
            <a:xfrm>
              <a:off x="3001710" y="3629638"/>
              <a:ext cx="18774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VP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→ Verb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NP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8C41503-1AB6-411F-F0C4-27A6123542DD}"/>
                </a:ext>
              </a:extLst>
            </p:cNvPr>
            <p:cNvSpPr txBox="1"/>
            <p:nvPr/>
          </p:nvSpPr>
          <p:spPr>
            <a:xfrm>
              <a:off x="5213391" y="3623840"/>
              <a:ext cx="2298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prefer</a:t>
              </a:r>
              <a:r>
                <a: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morning</a:t>
              </a:r>
              <a:r>
                <a: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flight</a:t>
              </a:r>
              <a:endParaRPr kumimoji="1"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7712B7F-F211-C6B7-48B1-999FB83D3C8D}"/>
              </a:ext>
            </a:extLst>
          </p:cNvPr>
          <p:cNvGrpSpPr/>
          <p:nvPr/>
        </p:nvGrpSpPr>
        <p:grpSpPr>
          <a:xfrm>
            <a:off x="2588716" y="4378496"/>
            <a:ext cx="6757416" cy="833344"/>
            <a:chOff x="2588716" y="4378496"/>
            <a:chExt cx="6757416" cy="833344"/>
          </a:xfrm>
        </p:grpSpPr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4B078926-7ACD-78DA-A78D-669DC34DAFB0}"/>
                </a:ext>
              </a:extLst>
            </p:cNvPr>
            <p:cNvSpPr/>
            <p:nvPr/>
          </p:nvSpPr>
          <p:spPr>
            <a:xfrm>
              <a:off x="2588716" y="4378496"/>
              <a:ext cx="6757416" cy="833344"/>
            </a:xfrm>
            <a:prstGeom prst="roundRect">
              <a:avLst/>
            </a:prstGeom>
            <a:solidFill>
              <a:schemeClr val="accent5">
                <a:alpha val="51429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F201567-4E27-10C6-1EB6-6DCEF8EFD7A0}"/>
                </a:ext>
              </a:extLst>
            </p:cNvPr>
            <p:cNvSpPr txBox="1"/>
            <p:nvPr/>
          </p:nvSpPr>
          <p:spPr>
            <a:xfrm>
              <a:off x="2799028" y="4405928"/>
              <a:ext cx="55894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Or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VP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may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have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verb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followed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by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prepositional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phrase</a:t>
              </a:r>
              <a:endPara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DC3F45F-A246-4189-3465-30CDCDAE2902}"/>
                </a:ext>
              </a:extLst>
            </p:cNvPr>
            <p:cNvSpPr txBox="1"/>
            <p:nvPr/>
          </p:nvSpPr>
          <p:spPr>
            <a:xfrm>
              <a:off x="3001710" y="4778240"/>
              <a:ext cx="18774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VP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→ Verb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PP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B2F609D2-604C-D5C5-AE36-F62E8FD7ED32}"/>
                </a:ext>
              </a:extLst>
            </p:cNvPr>
            <p:cNvSpPr txBox="1"/>
            <p:nvPr/>
          </p:nvSpPr>
          <p:spPr>
            <a:xfrm>
              <a:off x="5213391" y="4772442"/>
              <a:ext cx="20826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leaving</a:t>
              </a:r>
              <a:r>
                <a: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</a:t>
              </a:r>
              <a:r>
                <a: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Thursday</a:t>
              </a:r>
              <a:endParaRPr kumimoji="1"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02A520B-11B4-459C-2F4A-0BACC3BBFB02}"/>
              </a:ext>
            </a:extLst>
          </p:cNvPr>
          <p:cNvGrpSpPr/>
          <p:nvPr/>
        </p:nvGrpSpPr>
        <p:grpSpPr>
          <a:xfrm>
            <a:off x="2588716" y="5529460"/>
            <a:ext cx="6757416" cy="833344"/>
            <a:chOff x="2588716" y="5529460"/>
            <a:chExt cx="6757416" cy="833344"/>
          </a:xfrm>
        </p:grpSpPr>
        <p:sp>
          <p:nvSpPr>
            <p:cNvPr id="23" name="圆角矩形 22">
              <a:extLst>
                <a:ext uri="{FF2B5EF4-FFF2-40B4-BE49-F238E27FC236}">
                  <a16:creationId xmlns:a16="http://schemas.microsoft.com/office/drawing/2014/main" id="{35192626-BC8F-BC48-C06D-73E37B807E5D}"/>
                </a:ext>
              </a:extLst>
            </p:cNvPr>
            <p:cNvSpPr/>
            <p:nvPr/>
          </p:nvSpPr>
          <p:spPr>
            <a:xfrm>
              <a:off x="2588716" y="5529460"/>
              <a:ext cx="6757416" cy="833344"/>
            </a:xfrm>
            <a:prstGeom prst="roundRect">
              <a:avLst/>
            </a:prstGeom>
            <a:solidFill>
              <a:schemeClr val="accent5">
                <a:alpha val="51429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4C28EBF-6672-2B10-DC88-B4349F2DAF85}"/>
                </a:ext>
              </a:extLst>
            </p:cNvPr>
            <p:cNvSpPr txBox="1"/>
            <p:nvPr/>
          </p:nvSpPr>
          <p:spPr>
            <a:xfrm>
              <a:off x="2799028" y="5556892"/>
              <a:ext cx="57188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PP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generally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has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preposition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followed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by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noun</a:t>
              </a:r>
              <a:r>
                <a:rPr kumimoji="1"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phrase</a:t>
              </a:r>
              <a:endPara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2FFC94B-1955-10DA-E919-87BEC24A1D68}"/>
                </a:ext>
              </a:extLst>
            </p:cNvPr>
            <p:cNvSpPr txBox="1"/>
            <p:nvPr/>
          </p:nvSpPr>
          <p:spPr>
            <a:xfrm>
              <a:off x="3001710" y="5929204"/>
              <a:ext cx="28648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PP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→ Preposition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NP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A3F6F07-1810-9418-AEE0-D3D76A5C1748}"/>
                </a:ext>
              </a:extLst>
            </p:cNvPr>
            <p:cNvSpPr txBox="1"/>
            <p:nvPr/>
          </p:nvSpPr>
          <p:spPr>
            <a:xfrm>
              <a:off x="6719621" y="5926224"/>
              <a:ext cx="17877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from</a:t>
              </a:r>
              <a:r>
                <a: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Los</a:t>
              </a:r>
              <a:r>
                <a: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Angeles</a:t>
              </a:r>
              <a:endParaRPr kumimoji="1"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C94BB9-2AA7-3882-6A2E-70F8DE9B0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172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FB3B2-A115-1821-4097-A4C3022FA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31413"/>
          </a:xfrm>
        </p:spPr>
        <p:txBody>
          <a:bodyPr/>
          <a:lstStyle/>
          <a:p>
            <a:r>
              <a:rPr kumimoji="1" lang="en-US" altLang="zh-CN" dirty="0"/>
              <a:t>CFG: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AITS</a:t>
            </a:r>
            <a:r>
              <a:rPr kumimoji="1" lang="zh-CN" altLang="en-US" dirty="0"/>
              <a:t> </a:t>
            </a:r>
            <a:r>
              <a:rPr kumimoji="1" lang="en-US" altLang="zh-CN" dirty="0"/>
              <a:t>corpus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8ED1F7-34BD-5DEF-0D79-4D3B74FF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B3FC5D-81C2-BFB7-4832-81C231BF8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12</a:t>
            </a:fld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07936C-BE80-8E07-0E64-F6534544BEFC}"/>
              </a:ext>
            </a:extLst>
          </p:cNvPr>
          <p:cNvSpPr txBox="1"/>
          <p:nvPr/>
        </p:nvSpPr>
        <p:spPr>
          <a:xfrm>
            <a:off x="538941" y="5668873"/>
            <a:ext cx="4183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Air Travel Information System (</a:t>
            </a:r>
            <a:r>
              <a:rPr lang="en-US" altLang="zh-CN" sz="16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ATIS</a:t>
            </a:r>
            <a:r>
              <a:rPr lang="en-US" altLang="zh-CN" sz="1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pilot </a:t>
            </a:r>
            <a:r>
              <a:rPr lang="en-US" altLang="zh-CN" sz="16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corpus</a:t>
            </a:r>
            <a:endParaRPr kumimoji="1" lang="en-US" altLang="zh-CN" sz="1600" dirty="0">
              <a:latin typeface="Calibri" panose="020F0502020204030204" pitchFamily="34" charset="0"/>
              <a:cs typeface="Calibri" panose="020F050202020403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r>
              <a:rPr kumimoji="1" lang="en-US" altLang="zh-CN" sz="1600" dirty="0">
                <a:solidFill>
                  <a:srgbClr val="0563C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https://aclanthology.org/H90-1021/</a:t>
            </a:r>
            <a:endParaRPr kumimoji="1"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C16A5AE-1F88-908B-8607-FAE467AC0D65}"/>
              </a:ext>
            </a:extLst>
          </p:cNvPr>
          <p:cNvGrpSpPr/>
          <p:nvPr/>
        </p:nvGrpSpPr>
        <p:grpSpPr>
          <a:xfrm>
            <a:off x="538941" y="1132046"/>
            <a:ext cx="5777346" cy="2555978"/>
            <a:chOff x="538941" y="1132046"/>
            <a:chExt cx="5777346" cy="255597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3325197-7826-B45E-120E-06066157D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8941" y="1578743"/>
              <a:ext cx="5777346" cy="2109281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8D5FA6B-2DBB-29C2-0094-B4E15B46E888}"/>
                </a:ext>
              </a:extLst>
            </p:cNvPr>
            <p:cNvSpPr txBox="1"/>
            <p:nvPr/>
          </p:nvSpPr>
          <p:spPr>
            <a:xfrm>
              <a:off x="538941" y="1132046"/>
              <a:ext cx="19307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sample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lexicon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CB3004C-F6D6-53A0-B35B-B7170FA0F876}"/>
              </a:ext>
            </a:extLst>
          </p:cNvPr>
          <p:cNvGrpSpPr/>
          <p:nvPr/>
        </p:nvGrpSpPr>
        <p:grpSpPr>
          <a:xfrm>
            <a:off x="6022110" y="2332335"/>
            <a:ext cx="5892800" cy="3818612"/>
            <a:chOff x="6022110" y="2332335"/>
            <a:chExt cx="5892800" cy="3818612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91C7D53B-16EE-1D14-FA85-F35BFE292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22110" y="2937847"/>
              <a:ext cx="5892800" cy="32131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305FDDDA-EC1B-2461-F739-FCBA0CB5EEAE}"/>
                    </a:ext>
                  </a:extLst>
                </p:cNvPr>
                <p:cNvSpPr txBox="1"/>
                <p:nvPr/>
              </p:nvSpPr>
              <p:spPr>
                <a:xfrm>
                  <a:off x="7115135" y="2332335"/>
                  <a:ext cx="339086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sample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of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grammar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rules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ℒ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kumimoji="1" lang="zh-CN" altLang="en-US" sz="2000" dirty="0">
                    <a:latin typeface="Edwardian Script ITC" panose="030303020407070D0804" pitchFamily="66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305FDDDA-EC1B-2461-F739-FCBA0CB5E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5135" y="2332335"/>
                  <a:ext cx="3390865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1866" t="-9091" b="-212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7AC397-FE31-3806-DFBB-1D596E0BF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401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55BF6C-0091-68A6-5603-EA1854277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9479"/>
          </a:xfrm>
        </p:spPr>
        <p:txBody>
          <a:bodyPr>
            <a:normAutofit/>
          </a:bodyPr>
          <a:lstStyle/>
          <a:p>
            <a:r>
              <a:rPr kumimoji="1" lang="en-US" altLang="zh-CN" sz="4000" dirty="0"/>
              <a:t>Use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ATIS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grammar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to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generate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“AITS-language”</a:t>
            </a:r>
            <a:endParaRPr kumimoji="1" lang="zh-CN" altLang="en-US" sz="40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CD8112-D773-68A9-7400-4EDABF73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821B6A-6B35-FA8C-96D6-0339E91F6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13</a:t>
            </a:fld>
            <a:endParaRPr kumimoji="1"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FFA694F-067C-53FE-4668-177262648FD1}"/>
              </a:ext>
            </a:extLst>
          </p:cNvPr>
          <p:cNvGrpSpPr/>
          <p:nvPr/>
        </p:nvGrpSpPr>
        <p:grpSpPr>
          <a:xfrm>
            <a:off x="838200" y="1625490"/>
            <a:ext cx="5406702" cy="400110"/>
            <a:chOff x="838200" y="1625490"/>
            <a:chExt cx="5406702" cy="400110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CA55802-2F1C-62D9-3281-D05DBDCAD0D1}"/>
                </a:ext>
              </a:extLst>
            </p:cNvPr>
            <p:cNvSpPr txBox="1"/>
            <p:nvPr/>
          </p:nvSpPr>
          <p:spPr>
            <a:xfrm>
              <a:off x="838200" y="1625490"/>
              <a:ext cx="1454244" cy="4001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→ NP VP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37971C4-17AB-F8F4-70E8-182C1CC477C8}"/>
                </a:ext>
              </a:extLst>
            </p:cNvPr>
            <p:cNvSpPr txBox="1"/>
            <p:nvPr/>
          </p:nvSpPr>
          <p:spPr>
            <a:xfrm>
              <a:off x="2559919" y="1625490"/>
              <a:ext cx="36849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Start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with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S,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expand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it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with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NP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VP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C6ED388-F9C7-9BE1-B29B-1F08909B9D26}"/>
              </a:ext>
            </a:extLst>
          </p:cNvPr>
          <p:cNvGrpSpPr/>
          <p:nvPr/>
        </p:nvGrpSpPr>
        <p:grpSpPr>
          <a:xfrm>
            <a:off x="2559919" y="2025600"/>
            <a:ext cx="8198371" cy="940166"/>
            <a:chOff x="2559919" y="2025600"/>
            <a:chExt cx="8198371" cy="940166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94F6E0F-BED8-7CC6-5491-E9DA09FAD200}"/>
                </a:ext>
              </a:extLst>
            </p:cNvPr>
            <p:cNvSpPr txBox="1"/>
            <p:nvPr/>
          </p:nvSpPr>
          <p:spPr>
            <a:xfrm>
              <a:off x="2559919" y="2358109"/>
              <a:ext cx="3942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Choose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random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expansion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of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NP: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1"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C579B9C7-B6A6-BDF1-90BA-9E7AE6AA59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1364" t="20663" r="29248" b="59456"/>
            <a:stretch/>
          </p:blipFill>
          <p:spPr>
            <a:xfrm>
              <a:off x="7068129" y="2292219"/>
              <a:ext cx="3690161" cy="673547"/>
            </a:xfrm>
            <a:prstGeom prst="rect">
              <a:avLst/>
            </a:prstGeom>
          </p:spPr>
        </p:pic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987E37FA-53F0-2BB5-E8F7-7D779755316E}"/>
                </a:ext>
              </a:extLst>
            </p:cNvPr>
            <p:cNvSpPr/>
            <p:nvPr/>
          </p:nvSpPr>
          <p:spPr>
            <a:xfrm>
              <a:off x="7226767" y="2178017"/>
              <a:ext cx="2884516" cy="417285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左大括号 11">
              <a:extLst>
                <a:ext uri="{FF2B5EF4-FFF2-40B4-BE49-F238E27FC236}">
                  <a16:creationId xmlns:a16="http://schemas.microsoft.com/office/drawing/2014/main" id="{63A712CB-320B-5097-1F18-336602D5C758}"/>
                </a:ext>
              </a:extLst>
            </p:cNvPr>
            <p:cNvSpPr/>
            <p:nvPr/>
          </p:nvSpPr>
          <p:spPr>
            <a:xfrm>
              <a:off x="6661111" y="2302777"/>
              <a:ext cx="274320" cy="652430"/>
            </a:xfrm>
            <a:prstGeom prst="leftBrace">
              <a:avLst>
                <a:gd name="adj1" fmla="val 50757"/>
                <a:gd name="adj2" fmla="val 50000"/>
              </a:avLst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下箭头 25">
              <a:extLst>
                <a:ext uri="{FF2B5EF4-FFF2-40B4-BE49-F238E27FC236}">
                  <a16:creationId xmlns:a16="http://schemas.microsoft.com/office/drawing/2014/main" id="{5871C999-376C-2AC9-6791-562024BE4390}"/>
                </a:ext>
              </a:extLst>
            </p:cNvPr>
            <p:cNvSpPr/>
            <p:nvPr/>
          </p:nvSpPr>
          <p:spPr>
            <a:xfrm>
              <a:off x="4596938" y="2025600"/>
              <a:ext cx="324197" cy="33250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5ECE009-04FF-10F5-0962-4D71914E933A}"/>
              </a:ext>
            </a:extLst>
          </p:cNvPr>
          <p:cNvGrpSpPr/>
          <p:nvPr/>
        </p:nvGrpSpPr>
        <p:grpSpPr>
          <a:xfrm>
            <a:off x="2170165" y="2901372"/>
            <a:ext cx="9820314" cy="1539690"/>
            <a:chOff x="2170165" y="2901372"/>
            <a:chExt cx="9820314" cy="1539690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8ECF266-62D7-765B-8821-ED10F8C5E0CD}"/>
                </a:ext>
              </a:extLst>
            </p:cNvPr>
            <p:cNvSpPr txBox="1"/>
            <p:nvPr/>
          </p:nvSpPr>
          <p:spPr>
            <a:xfrm>
              <a:off x="2170165" y="3368598"/>
              <a:ext cx="47220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Choose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random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expansion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of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VP: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Verb</a:t>
              </a:r>
              <a:r>
                <a:rPr kumimoji="1" lang="zh-CN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NP</a:t>
              </a:r>
              <a:endParaRPr kumimoji="1"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8F9EF555-DD63-FCF6-5510-394D096EF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33753" y="3380232"/>
              <a:ext cx="4856726" cy="1060830"/>
            </a:xfrm>
            <a:prstGeom prst="rect">
              <a:avLst/>
            </a:prstGeom>
          </p:spPr>
        </p:pic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6CA239B-4A10-3BBB-BFA0-E0C251916C16}"/>
                </a:ext>
              </a:extLst>
            </p:cNvPr>
            <p:cNvSpPr/>
            <p:nvPr/>
          </p:nvSpPr>
          <p:spPr>
            <a:xfrm>
              <a:off x="7597593" y="3584561"/>
              <a:ext cx="3008569" cy="363759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8" name="下箭头 27">
              <a:extLst>
                <a:ext uri="{FF2B5EF4-FFF2-40B4-BE49-F238E27FC236}">
                  <a16:creationId xmlns:a16="http://schemas.microsoft.com/office/drawing/2014/main" id="{DFC8EF62-F627-B5EA-57FB-02D62C439C34}"/>
                </a:ext>
              </a:extLst>
            </p:cNvPr>
            <p:cNvSpPr/>
            <p:nvPr/>
          </p:nvSpPr>
          <p:spPr>
            <a:xfrm>
              <a:off x="4596938" y="2901372"/>
              <a:ext cx="324197" cy="33250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2E022A59-03F7-C75F-7090-098AAD156806}"/>
              </a:ext>
            </a:extLst>
          </p:cNvPr>
          <p:cNvGrpSpPr/>
          <p:nvPr/>
        </p:nvGrpSpPr>
        <p:grpSpPr>
          <a:xfrm>
            <a:off x="5844386" y="3889595"/>
            <a:ext cx="4232312" cy="2381049"/>
            <a:chOff x="5844386" y="3889595"/>
            <a:chExt cx="4232312" cy="2381049"/>
          </a:xfrm>
        </p:grpSpPr>
        <p:sp>
          <p:nvSpPr>
            <p:cNvPr id="15" name="左大括号 14">
              <a:extLst>
                <a:ext uri="{FF2B5EF4-FFF2-40B4-BE49-F238E27FC236}">
                  <a16:creationId xmlns:a16="http://schemas.microsoft.com/office/drawing/2014/main" id="{7875A998-2299-532F-418F-C1600356E46D}"/>
                </a:ext>
              </a:extLst>
            </p:cNvPr>
            <p:cNvSpPr/>
            <p:nvPr/>
          </p:nvSpPr>
          <p:spPr>
            <a:xfrm>
              <a:off x="6905184" y="4815999"/>
              <a:ext cx="274320" cy="1343732"/>
            </a:xfrm>
            <a:prstGeom prst="leftBrace">
              <a:avLst>
                <a:gd name="adj1" fmla="val 50757"/>
                <a:gd name="adj2" fmla="val 37009"/>
              </a:avLst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F9AC07-92EF-0889-6BAE-F7FA2F168A28}"/>
                </a:ext>
              </a:extLst>
            </p:cNvPr>
            <p:cNvSpPr txBox="1"/>
            <p:nvPr/>
          </p:nvSpPr>
          <p:spPr>
            <a:xfrm>
              <a:off x="5844386" y="5111706"/>
              <a:ext cx="10910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Verb</a:t>
              </a:r>
              <a:r>
                <a: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NP</a:t>
              </a:r>
              <a:endParaRPr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6CF6850-65D9-92C7-F5A0-3107E6F1F0F0}"/>
                </a:ext>
              </a:extLst>
            </p:cNvPr>
            <p:cNvSpPr txBox="1"/>
            <p:nvPr/>
          </p:nvSpPr>
          <p:spPr>
            <a:xfrm>
              <a:off x="7321910" y="4697426"/>
              <a:ext cx="15969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want</a:t>
              </a:r>
              <a:r>
                <a:rPr kumimoji="1"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kumimoji="1"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flight</a:t>
              </a:r>
              <a:r>
                <a:rPr kumimoji="1"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E9A5100-6D40-0E2C-C89F-F022BB3A753B}"/>
                </a:ext>
              </a:extLst>
            </p:cNvPr>
            <p:cNvSpPr txBox="1"/>
            <p:nvPr/>
          </p:nvSpPr>
          <p:spPr>
            <a:xfrm>
              <a:off x="7321910" y="5094772"/>
              <a:ext cx="24368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want</a:t>
              </a:r>
              <a:r>
                <a:rPr kumimoji="1"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kumimoji="1"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morning</a:t>
              </a:r>
              <a:r>
                <a:rPr kumimoji="1"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flight</a:t>
              </a:r>
              <a:r>
                <a:rPr kumimoji="1"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703D00E9-D9D5-334B-386A-E034D2F3E207}"/>
                </a:ext>
              </a:extLst>
            </p:cNvPr>
            <p:cNvSpPr txBox="1"/>
            <p:nvPr/>
          </p:nvSpPr>
          <p:spPr>
            <a:xfrm>
              <a:off x="7321910" y="5498042"/>
              <a:ext cx="25693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prefer</a:t>
              </a:r>
              <a:r>
                <a: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morning</a:t>
              </a:r>
              <a:r>
                <a: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flight</a:t>
              </a:r>
              <a:r>
                <a: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B4DD217-19B0-E15D-36FA-B9FAC2E296BD}"/>
                </a:ext>
              </a:extLst>
            </p:cNvPr>
            <p:cNvSpPr txBox="1"/>
            <p:nvPr/>
          </p:nvSpPr>
          <p:spPr>
            <a:xfrm>
              <a:off x="7321910" y="5901312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</a:t>
              </a:r>
              <a:endParaRPr kumimoji="1"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下箭头 29">
              <a:extLst>
                <a:ext uri="{FF2B5EF4-FFF2-40B4-BE49-F238E27FC236}">
                  <a16:creationId xmlns:a16="http://schemas.microsoft.com/office/drawing/2014/main" id="{79BD4649-778B-B4BB-D163-97A4C708B715}"/>
                </a:ext>
              </a:extLst>
            </p:cNvPr>
            <p:cNvSpPr/>
            <p:nvPr/>
          </p:nvSpPr>
          <p:spPr>
            <a:xfrm>
              <a:off x="6244902" y="3889595"/>
              <a:ext cx="324197" cy="974086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659B3DBB-4DA6-5A45-EB46-52775A5E0378}"/>
                </a:ext>
              </a:extLst>
            </p:cNvPr>
            <p:cNvSpPr/>
            <p:nvPr/>
          </p:nvSpPr>
          <p:spPr>
            <a:xfrm>
              <a:off x="7068129" y="5538588"/>
              <a:ext cx="3008569" cy="363759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C4B270-15A9-A24B-5F5F-E080AD96B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DF056B2-B4EF-6DD8-5A95-498F184ED1E6}"/>
              </a:ext>
            </a:extLst>
          </p:cNvPr>
          <p:cNvGrpSpPr/>
          <p:nvPr/>
        </p:nvGrpSpPr>
        <p:grpSpPr>
          <a:xfrm>
            <a:off x="468230" y="5171037"/>
            <a:ext cx="4561767" cy="461665"/>
            <a:chOff x="468230" y="5171037"/>
            <a:chExt cx="4561767" cy="461665"/>
          </a:xfrm>
        </p:grpSpPr>
        <p:sp>
          <p:nvSpPr>
            <p:cNvPr id="33" name="下箭头 32">
              <a:extLst>
                <a:ext uri="{FF2B5EF4-FFF2-40B4-BE49-F238E27FC236}">
                  <a16:creationId xmlns:a16="http://schemas.microsoft.com/office/drawing/2014/main" id="{70525C72-1EAE-4885-5B39-5ED8A6F72063}"/>
                </a:ext>
              </a:extLst>
            </p:cNvPr>
            <p:cNvSpPr/>
            <p:nvPr/>
          </p:nvSpPr>
          <p:spPr>
            <a:xfrm rot="5400000">
              <a:off x="4380855" y="4882930"/>
              <a:ext cx="324197" cy="974086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59DAF53-CE36-B1B9-024F-787AC06BA6AA}"/>
                </a:ext>
              </a:extLst>
            </p:cNvPr>
            <p:cNvSpPr txBox="1"/>
            <p:nvPr/>
          </p:nvSpPr>
          <p:spPr>
            <a:xfrm>
              <a:off x="468230" y="5171037"/>
              <a:ext cx="3180486" cy="46166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prefer</a:t>
              </a:r>
              <a:r>
                <a:rPr kumimoji="1"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morning</a:t>
              </a:r>
              <a:r>
                <a:rPr kumimoji="1"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flight</a:t>
              </a:r>
              <a:endParaRPr kumimoji="1"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717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21F65-45A9-57FE-E197-BAA67A4B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CFG:</a:t>
            </a:r>
            <a:r>
              <a:rPr kumimoji="1" lang="zh-CN" altLang="en-US" dirty="0"/>
              <a:t> </a:t>
            </a:r>
            <a:r>
              <a:rPr kumimoji="1" lang="en-US" altLang="zh-CN" dirty="0"/>
              <a:t>Bracketed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Notation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75A5129-C3DD-B9B9-1005-F983940A2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9460DD-F130-4DD9-58A6-592B52D6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14</a:t>
            </a:fld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5FDEE54-286E-7085-1E55-01823562CC76}"/>
              </a:ext>
            </a:extLst>
          </p:cNvPr>
          <p:cNvSpPr txBox="1"/>
          <p:nvPr/>
        </p:nvSpPr>
        <p:spPr>
          <a:xfrm>
            <a:off x="4608022" y="1790439"/>
            <a:ext cx="73789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(S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(NP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(PRO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l"/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(VP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(V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prefer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l"/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(NP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(Det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(Nom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(N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morning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(N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flight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))))))</a:t>
            </a:r>
            <a:endParaRPr kumimoji="1"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2EDA884-44C2-7E8C-345A-5430540A7968}"/>
              </a:ext>
            </a:extLst>
          </p:cNvPr>
          <p:cNvSpPr txBox="1"/>
          <p:nvPr/>
        </p:nvSpPr>
        <p:spPr>
          <a:xfrm>
            <a:off x="4608022" y="3352152"/>
            <a:ext cx="73356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Sentences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derived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grammar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called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grammatical;</a:t>
            </a:r>
          </a:p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those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cannot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derived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referred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ungrammatical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7B8CA36-DEA1-10B4-04D1-0A6EE42AA641}"/>
              </a:ext>
            </a:extLst>
          </p:cNvPr>
          <p:cNvSpPr txBox="1"/>
          <p:nvPr/>
        </p:nvSpPr>
        <p:spPr>
          <a:xfrm>
            <a:off x="4608022" y="4331148"/>
            <a:ext cx="7104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distinguishment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vague,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very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i="1" dirty="0">
                <a:latin typeface="Calibri" panose="020F0502020204030204" pitchFamily="34" charset="0"/>
                <a:cs typeface="Calibri" panose="020F0502020204030204" pitchFamily="34" charset="0"/>
              </a:rPr>
              <a:t>simplified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how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natural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language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really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work.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DDAE946-A62F-5DD4-D74F-D9C8AA26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99AD803-F6F6-CA6B-8984-148A3F7EE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3339295" cy="4194623"/>
          </a:xfrm>
          <a:prstGeom prst="rect">
            <a:avLst/>
          </a:prstGeom>
        </p:spPr>
      </p:pic>
      <p:sp>
        <p:nvSpPr>
          <p:cNvPr id="8" name="下箭头 7">
            <a:extLst>
              <a:ext uri="{FF2B5EF4-FFF2-40B4-BE49-F238E27FC236}">
                <a16:creationId xmlns:a16="http://schemas.microsoft.com/office/drawing/2014/main" id="{D1C00EE5-402A-5759-656E-017E3A9FCE33}"/>
              </a:ext>
            </a:extLst>
          </p:cNvPr>
          <p:cNvSpPr/>
          <p:nvPr/>
        </p:nvSpPr>
        <p:spPr>
          <a:xfrm rot="16200000" flipH="1">
            <a:off x="3807269" y="2002269"/>
            <a:ext cx="324197" cy="592001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293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6" grpId="0"/>
      <p:bldP spid="27" grpId="0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339232-1EC9-C346-8C35-D73B4E084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Formal definition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CFG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8BB290-D321-47B7-3280-A43C20707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37567" cy="1108768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A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context-free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grammar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G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defined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by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4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parameters:</a:t>
            </a:r>
            <a:r>
              <a:rPr kumimoji="1" lang="zh-CN" altLang="en-US" sz="2400" dirty="0"/>
              <a:t> </a:t>
            </a:r>
            <a:endParaRPr kumimoji="1" lang="en-US" altLang="zh-CN" sz="2400" dirty="0"/>
          </a:p>
          <a:p>
            <a:r>
              <a:rPr kumimoji="1" lang="en-US" altLang="zh-CN" sz="2400" b="1" i="1" dirty="0"/>
              <a:t>N,</a:t>
            </a:r>
            <a:r>
              <a:rPr kumimoji="1" lang="zh-CN" altLang="en-US" sz="2400" b="1" i="1" dirty="0"/>
              <a:t> </a:t>
            </a:r>
            <a:r>
              <a:rPr kumimoji="1" lang="en-US" altLang="zh-CN" sz="2400" b="1" i="1" dirty="0" err="1"/>
              <a:t>Σ</a:t>
            </a:r>
            <a:r>
              <a:rPr kumimoji="1" lang="en-US" altLang="zh-CN" sz="2400" b="1" i="1" dirty="0"/>
              <a:t>,</a:t>
            </a:r>
            <a:r>
              <a:rPr kumimoji="1" lang="zh-CN" altLang="en-US" sz="2400" b="1" i="1" dirty="0"/>
              <a:t> </a:t>
            </a:r>
            <a:r>
              <a:rPr kumimoji="1" lang="en-US" altLang="zh-CN" sz="2400" b="1" i="1" dirty="0"/>
              <a:t>R,</a:t>
            </a:r>
            <a:r>
              <a:rPr kumimoji="1" lang="zh-CN" altLang="en-US" sz="2400" b="1" i="1" dirty="0"/>
              <a:t> </a:t>
            </a:r>
            <a:r>
              <a:rPr kumimoji="1" lang="en-US" altLang="zh-CN" sz="2400" b="1" i="1" dirty="0"/>
              <a:t>S</a:t>
            </a:r>
            <a:endParaRPr kumimoji="1" lang="zh-CN" altLang="en-US" sz="2400" b="1" i="1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E2D6A5-427D-98E9-1E63-1DF1E388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43B5F5-4488-367A-BA8D-9A5CAC250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15</a:t>
            </a:fld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60D56F7-0C52-0C1B-0EEF-62D59D7D6DC8}"/>
                  </a:ext>
                </a:extLst>
              </p:cNvPr>
              <p:cNvSpPr txBox="1"/>
              <p:nvPr/>
            </p:nvSpPr>
            <p:spPr>
              <a:xfrm>
                <a:off x="2416233" y="2934393"/>
                <a:ext cx="7646389" cy="193899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kumimoji="1" lang="en-US" altLang="zh-CN" sz="2400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set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non-terminal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symbols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kumimoji="1" lang="en-US" altLang="zh-CN" sz="2400" b="1" i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set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terminal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symbols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kumimoji="1" lang="en-US" altLang="zh-CN" sz="2400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set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rules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(or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productions),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each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form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➝ 𝛽</a:t>
                </a:r>
                <a:b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where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𝛽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m:rPr>
                        <m:sty m:val="p"/>
                      </m:rPr>
                      <a:rPr kumimoji="1" lang="en-US" altLang="zh-CN" sz="24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Σ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∪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endParaRPr kumimoji="1" lang="en-US" altLang="zh-CN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kumimoji="1" lang="en-US" altLang="zh-CN" sz="2400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symbol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60D56F7-0C52-0C1B-0EEF-62D59D7D6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33" y="2934393"/>
                <a:ext cx="7646389" cy="1938992"/>
              </a:xfrm>
              <a:prstGeom prst="rect">
                <a:avLst/>
              </a:prstGeom>
              <a:blipFill>
                <a:blip r:embed="rId2"/>
                <a:stretch>
                  <a:fillRect l="-1161" t="-1948" r="-166" b="-64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B53C1818-F698-9FC5-CAD0-759472A90667}"/>
              </a:ext>
            </a:extLst>
          </p:cNvPr>
          <p:cNvSpPr txBox="1"/>
          <p:nvPr/>
        </p:nvSpPr>
        <p:spPr>
          <a:xfrm>
            <a:off x="959427" y="5320145"/>
            <a:ext cx="10273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NimbusRomNo9L"/>
              </a:rPr>
              <a:t>S</a:t>
            </a:r>
            <a:r>
              <a:rPr lang="en-US" altLang="zh-CN" sz="2400" b="1" dirty="0">
                <a:effectLst/>
                <a:latin typeface="NimbusRomNo9L"/>
              </a:rPr>
              <a:t>yntactic parsing</a:t>
            </a:r>
            <a:r>
              <a:rPr lang="en-US" altLang="zh-CN" sz="2400" b="0" dirty="0">
                <a:effectLst/>
                <a:latin typeface="NimbusRomNo9L"/>
              </a:rPr>
              <a:t>:</a:t>
            </a:r>
            <a:r>
              <a:rPr lang="zh-CN" altLang="en-US" sz="2400" b="0" dirty="0">
                <a:effectLst/>
                <a:latin typeface="NimbusRomNo9L"/>
              </a:rPr>
              <a:t> </a:t>
            </a:r>
            <a:r>
              <a:rPr lang="en-US" altLang="zh-CN" sz="2400" b="0" dirty="0">
                <a:latin typeface="NimbusRomNo9L"/>
              </a:rPr>
              <a:t>t</a:t>
            </a:r>
            <a:r>
              <a:rPr lang="en-US" altLang="zh-CN" sz="2400" dirty="0">
                <a:effectLst/>
                <a:latin typeface="NimbusRomNo9L"/>
              </a:rPr>
              <a:t>he problem of mapping from a string of words to its parse tree</a:t>
            </a:r>
            <a:endParaRPr lang="en-US" altLang="zh-CN" sz="2800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7F246F94-E8FC-AB5A-AA19-3DACEAB32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0415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9122EC-5EC5-BC8A-F42F-C1E09CD5B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53" y="67069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Treebank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3B4B10-21AA-8140-36E6-D64C9E348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53" y="1514680"/>
            <a:ext cx="10515600" cy="4351338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A corpus in which every sentence is annotated with a parse tree</a:t>
            </a:r>
          </a:p>
          <a:p>
            <a:r>
              <a:rPr kumimoji="1" lang="en-US" altLang="zh-CN" sz="2400" dirty="0"/>
              <a:t>Penn Treebank project: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English,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Arabic,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Chinese.</a:t>
            </a:r>
            <a:endParaRPr kumimoji="1" lang="zh-CN" altLang="en-US" sz="24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BD6ADE-8B2E-435F-1604-9422C1A1E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B5631A-E905-ED03-6732-33E2B1DE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16</a:t>
            </a:fld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340D76-F050-A7B8-8325-52961802D0FF}"/>
              </a:ext>
            </a:extLst>
          </p:cNvPr>
          <p:cNvSpPr txBox="1"/>
          <p:nvPr/>
        </p:nvSpPr>
        <p:spPr>
          <a:xfrm>
            <a:off x="2865650" y="5918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>
                <a:latin typeface="Songti SC" panose="02010600040101010101" pitchFamily="2" charset="-122"/>
                <a:ea typeface="Songti SC" panose="02010600040101010101" pitchFamily="2" charset="-122"/>
                <a:cs typeface="Calibri" panose="020F0502020204030204" pitchFamily="34" charset="0"/>
              </a:rPr>
              <a:t>句法树库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08B25277-3E2B-9149-114D-627DF30F842E}"/>
              </a:ext>
            </a:extLst>
          </p:cNvPr>
          <p:cNvGrpSpPr/>
          <p:nvPr/>
        </p:nvGrpSpPr>
        <p:grpSpPr>
          <a:xfrm>
            <a:off x="663633" y="2882297"/>
            <a:ext cx="6875738" cy="2585951"/>
            <a:chOff x="663633" y="2882297"/>
            <a:chExt cx="6875738" cy="258595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019E726-FEAC-8A15-4F43-1BDC647AA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3633" y="2882297"/>
              <a:ext cx="2322335" cy="250097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D936FBC3-DF6C-52A7-9DB2-8AE5EB20F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13969" y="2882297"/>
              <a:ext cx="3625402" cy="25859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左右箭头 10">
              <a:extLst>
                <a:ext uri="{FF2B5EF4-FFF2-40B4-BE49-F238E27FC236}">
                  <a16:creationId xmlns:a16="http://schemas.microsoft.com/office/drawing/2014/main" id="{10E35F2F-6EAE-1F68-CC93-61061DA9C50F}"/>
                </a:ext>
              </a:extLst>
            </p:cNvPr>
            <p:cNvSpPr/>
            <p:nvPr/>
          </p:nvSpPr>
          <p:spPr>
            <a:xfrm>
              <a:off x="3104862" y="3772790"/>
              <a:ext cx="714895" cy="412764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8551FC8-0C7B-1464-C296-4708714196E7}"/>
              </a:ext>
            </a:extLst>
          </p:cNvPr>
          <p:cNvSpPr txBox="1"/>
          <p:nvPr/>
        </p:nvSpPr>
        <p:spPr>
          <a:xfrm>
            <a:off x="8119036" y="2281776"/>
            <a:ext cx="33929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First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parsed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parser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(algorithm),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effectLst/>
                <a:latin typeface="NimbusRomNo9L"/>
              </a:rPr>
              <a:t>hand-corrected by human linguists </a:t>
            </a:r>
            <a:endParaRPr lang="en-US" altLang="zh-CN" sz="2000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32C98DB-3419-937F-06EA-E5B4A08BF459}"/>
              </a:ext>
            </a:extLst>
          </p:cNvPr>
          <p:cNvGrpSpPr/>
          <p:nvPr/>
        </p:nvGrpSpPr>
        <p:grpSpPr>
          <a:xfrm>
            <a:off x="8119036" y="3640369"/>
            <a:ext cx="3805318" cy="2733230"/>
            <a:chOff x="8119036" y="3640369"/>
            <a:chExt cx="3805318" cy="2733230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810DBE8-9B5A-64DC-BA00-96875831E760}"/>
                </a:ext>
              </a:extLst>
            </p:cNvPr>
            <p:cNvSpPr txBox="1"/>
            <p:nvPr/>
          </p:nvSpPr>
          <p:spPr>
            <a:xfrm>
              <a:off x="8119036" y="3640369"/>
              <a:ext cx="356034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The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grammar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is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very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flat</a:t>
              </a:r>
            </a:p>
            <a:p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Ex,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zh-CN" sz="2000" dirty="0"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approximately 4,500 different rules for expanding VPs </a:t>
              </a:r>
              <a:endParaRPr lang="en-US" altLang="zh-CN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CE93684-FF3B-8EDD-994C-CB12198B5271}"/>
                </a:ext>
              </a:extLst>
            </p:cNvPr>
            <p:cNvSpPr txBox="1"/>
            <p:nvPr/>
          </p:nvSpPr>
          <p:spPr>
            <a:xfrm>
              <a:off x="8161786" y="4773161"/>
              <a:ext cx="3762568" cy="16004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VP → VBD PP</a:t>
              </a:r>
            </a:p>
            <a:p>
              <a:pPr algn="l"/>
              <a:r>
                <a:rPr kumimoji="1" lang="en-US" altLang="zh-CN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VP → VBD PP PP</a:t>
              </a:r>
            </a:p>
            <a:p>
              <a:pPr algn="l"/>
              <a:r>
                <a:rPr kumimoji="1" lang="en-US" altLang="zh-CN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VP → VBD PP PP PP</a:t>
              </a:r>
            </a:p>
            <a:p>
              <a:pPr algn="l"/>
              <a:r>
                <a:rPr kumimoji="1" lang="en-US" altLang="zh-CN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VP → VBD PP PP PP PP VP → VB ADVP PP</a:t>
              </a:r>
            </a:p>
            <a:p>
              <a:pPr algn="l"/>
              <a:r>
                <a:rPr kumimoji="1" lang="en-US" altLang="zh-CN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VP → VB PP ADVP</a:t>
              </a:r>
            </a:p>
            <a:p>
              <a:pPr algn="l"/>
              <a:r>
                <a:rPr kumimoji="1" lang="en-US" altLang="zh-CN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VP → ADVP VB PP</a:t>
              </a:r>
            </a:p>
            <a:p>
              <a:pPr algn="l"/>
              <a:r>
                <a:rPr kumimoji="1" lang="en-US" altLang="zh-CN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……</a:t>
              </a:r>
              <a:endParaRPr kumimoji="1" lang="zh-CN" altLang="en-US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ED40CB-3CE8-DB51-B0AD-A620D1D0B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018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31BA3C-EDB2-B3B7-BF49-C8DB19ED6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Chomsky normal form (CNF)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8F08D2-9BBD-DB2D-84C3-57CBD9ACB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It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sometimes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useful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have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 </a:t>
            </a:r>
            <a:r>
              <a:rPr kumimoji="1" lang="en-US" altLang="zh-CN" sz="2400" b="1" dirty="0"/>
              <a:t>normal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form</a:t>
            </a:r>
            <a:r>
              <a:rPr kumimoji="1" lang="zh-CN" altLang="en-US" sz="2400" b="1" dirty="0"/>
              <a:t> </a:t>
            </a:r>
            <a:r>
              <a:rPr kumimoji="1" lang="en-US" altLang="zh-CN" sz="2400" dirty="0"/>
              <a:t>for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grammars</a:t>
            </a:r>
          </a:p>
          <a:p>
            <a:r>
              <a:rPr kumimoji="1" lang="en-US" altLang="zh-CN" sz="2400" dirty="0"/>
              <a:t>A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grammar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Chomsky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normal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form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(CNF)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if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each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production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is</a:t>
            </a:r>
            <a:r>
              <a:rPr kumimoji="1" lang="zh-CN" altLang="en-US" sz="2400" dirty="0"/>
              <a:t> 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en-US" altLang="zh-CN" sz="2400" dirty="0"/>
              <a:t>That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is,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right-hand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side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has</a:t>
            </a:r>
            <a:r>
              <a:rPr kumimoji="1" lang="zh-CN" altLang="en-US" sz="2400" dirty="0"/>
              <a:t> </a:t>
            </a:r>
            <a:r>
              <a:rPr kumimoji="1" lang="en-US" altLang="zh-CN" sz="2400" b="1" i="1" dirty="0"/>
              <a:t>two</a:t>
            </a:r>
            <a:r>
              <a:rPr kumimoji="1" lang="zh-CN" altLang="en-US" sz="2400" b="1" i="1" dirty="0"/>
              <a:t> </a:t>
            </a:r>
            <a:r>
              <a:rPr kumimoji="1" lang="en-US" altLang="zh-CN" sz="2400" b="1" dirty="0"/>
              <a:t>non-terminals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or</a:t>
            </a:r>
            <a:r>
              <a:rPr kumimoji="1" lang="zh-CN" altLang="en-US" sz="2400" dirty="0"/>
              <a:t> </a:t>
            </a:r>
            <a:r>
              <a:rPr kumimoji="1" lang="en-US" altLang="zh-CN" sz="2400" b="1" i="1" dirty="0"/>
              <a:t>one</a:t>
            </a:r>
            <a:r>
              <a:rPr kumimoji="1" lang="zh-CN" altLang="en-US" sz="2400" b="1" i="1" dirty="0"/>
              <a:t> </a:t>
            </a:r>
            <a:r>
              <a:rPr kumimoji="1" lang="en-US" altLang="zh-CN" sz="2400" b="1" dirty="0"/>
              <a:t>terminal</a:t>
            </a:r>
          </a:p>
          <a:p>
            <a:r>
              <a:rPr kumimoji="1" lang="en-US" altLang="zh-CN" sz="2400" dirty="0"/>
              <a:t>Any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context-free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grammar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can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be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converted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(weakly)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equivalent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CNF</a:t>
            </a:r>
            <a:endParaRPr kumimoji="1" lang="zh-CN" altLang="en-US" sz="24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0DB2D6-300D-C9B4-56FD-4E2DE9DAF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9E39E2-2861-BAEF-A058-38C9BF65A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17</a:t>
            </a:fld>
            <a:endParaRPr kumimoji="1" lang="zh-CN" altLang="en-US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8F3AEC3F-2508-D7AD-83E2-1F954C75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D78044B-663D-4345-C426-A0EF1D3D2FCD}"/>
                  </a:ext>
                </a:extLst>
              </p:cNvPr>
              <p:cNvSpPr txBox="1"/>
              <p:nvPr/>
            </p:nvSpPr>
            <p:spPr>
              <a:xfrm>
                <a:off x="3444240" y="2845415"/>
                <a:ext cx="3458511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either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𝐴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  <m:r>
                      <a:rPr kumimoji="1" lang="zh-CN" altLang="en-US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</m:oMath>
                </a14:m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or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𝐴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endPara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D78044B-663D-4345-C426-A0EF1D3D2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240" y="2845415"/>
                <a:ext cx="3458511" cy="461665"/>
              </a:xfrm>
              <a:prstGeom prst="rect">
                <a:avLst/>
              </a:prstGeom>
              <a:blipFill>
                <a:blip r:embed="rId2"/>
                <a:stretch>
                  <a:fillRect l="-2930" t="-8108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9EB54735-4EFC-7587-366A-A4705F6B98B7}"/>
              </a:ext>
            </a:extLst>
          </p:cNvPr>
          <p:cNvGrpSpPr/>
          <p:nvPr/>
        </p:nvGrpSpPr>
        <p:grpSpPr>
          <a:xfrm>
            <a:off x="2705100" y="4806433"/>
            <a:ext cx="4705977" cy="830997"/>
            <a:chOff x="2705100" y="4806433"/>
            <a:chExt cx="4705977" cy="8309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92C4265C-23C6-C5A3-90A6-037EA1B2C8E1}"/>
                    </a:ext>
                  </a:extLst>
                </p:cNvPr>
                <p:cNvSpPr txBox="1"/>
                <p:nvPr/>
              </p:nvSpPr>
              <p:spPr>
                <a:xfrm>
                  <a:off x="2705100" y="4991100"/>
                  <a:ext cx="2075825" cy="46166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kumimoji="1" lang="en-US" altLang="zh-CN" sz="24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Ex.</a:t>
                  </a:r>
                  <a:r>
                    <a:rPr kumimoji="1" lang="zh-CN" altLang="en-US" sz="24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𝐴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→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𝐵</m:t>
                      </m:r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𝐶</m:t>
                      </m:r>
                      <m:r>
                        <a:rPr kumimoji="1" lang="zh-CN" altLang="en-US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𝐷</m:t>
                      </m:r>
                    </m:oMath>
                  </a14:m>
                  <a:r>
                    <a:rPr kumimoji="1" lang="zh-CN" altLang="en-US" sz="24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92C4265C-23C6-C5A3-90A6-037EA1B2C8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5100" y="4991100"/>
                  <a:ext cx="2075825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4878" t="-8108" b="-297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0F0D9DAB-5CAE-7465-4EC0-F4A70ECE6C34}"/>
                    </a:ext>
                  </a:extLst>
                </p:cNvPr>
                <p:cNvSpPr txBox="1"/>
                <p:nvPr/>
              </p:nvSpPr>
              <p:spPr>
                <a:xfrm>
                  <a:off x="6034739" y="4806433"/>
                  <a:ext cx="1376338" cy="830997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→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𝐵</m:t>
                        </m:r>
                        <m:r>
                          <a:rPr kumimoji="1" lang="zh-CN" alt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𝑋</m:t>
                        </m:r>
                      </m:oMath>
                    </m:oMathPara>
                  </a14:m>
                  <a:endParaRPr kumimoji="1" lang="en-US" altLang="zh-CN" sz="2400" b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𝑋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→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kumimoji="1" lang="zh-CN" alt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𝐷</m:t>
                        </m:r>
                      </m:oMath>
                    </m:oMathPara>
                  </a14:m>
                  <a:endParaRPr kumimoji="1" lang="en-US" altLang="zh-CN" sz="2400" b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0F0D9DAB-5CAE-7465-4EC0-F4A70ECE6C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4739" y="4806433"/>
                  <a:ext cx="1376338" cy="830997"/>
                </a:xfrm>
                <a:prstGeom prst="rect">
                  <a:avLst/>
                </a:prstGeom>
                <a:blipFill>
                  <a:blip r:embed="rId4"/>
                  <a:stretch>
                    <a:fillRect b="-89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右箭头 9">
              <a:extLst>
                <a:ext uri="{FF2B5EF4-FFF2-40B4-BE49-F238E27FC236}">
                  <a16:creationId xmlns:a16="http://schemas.microsoft.com/office/drawing/2014/main" id="{647214B8-AC50-212C-435F-F25DA1BD6EB8}"/>
                </a:ext>
              </a:extLst>
            </p:cNvPr>
            <p:cNvSpPr/>
            <p:nvPr/>
          </p:nvSpPr>
          <p:spPr>
            <a:xfrm>
              <a:off x="5053502" y="4966661"/>
              <a:ext cx="708660" cy="51054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B5969D45-EFCD-3181-D73A-89999718B9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38" y="642938"/>
            <a:ext cx="1447800" cy="10033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B7A7856-C1D0-D6E6-C10E-AE628E41CF31}"/>
              </a:ext>
            </a:extLst>
          </p:cNvPr>
          <p:cNvSpPr txBox="1"/>
          <p:nvPr/>
        </p:nvSpPr>
        <p:spPr>
          <a:xfrm>
            <a:off x="9829800" y="914198"/>
            <a:ext cx="20337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Noam Chomsky,</a:t>
            </a:r>
            <a:r>
              <a: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"the father of modern linguistics"</a:t>
            </a:r>
            <a:endParaRPr kumimoji="1" lang="zh-CN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669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F46B1-FF1D-B9C6-3184-1A8BF949D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</a:t>
            </a:r>
            <a:r>
              <a:rPr kumimoji="1" lang="zh-CN" altLang="en-US" dirty="0"/>
              <a:t> </a:t>
            </a:r>
            <a:r>
              <a:rPr kumimoji="1" lang="en-US" altLang="zh-CN" dirty="0"/>
              <a:t>CNF?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18A30F-6701-4A00-E2E4-B34B940C9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Result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in</a:t>
            </a:r>
            <a:r>
              <a:rPr kumimoji="1" lang="zh-CN" altLang="en-US" sz="2400" dirty="0"/>
              <a:t> </a:t>
            </a:r>
            <a:r>
              <a:rPr kumimoji="1" lang="en-US" altLang="zh-CN" sz="2400" b="1" dirty="0"/>
              <a:t>binary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branching</a:t>
            </a:r>
            <a:r>
              <a:rPr kumimoji="1" lang="zh-CN" altLang="en-US" sz="2400" b="1" dirty="0"/>
              <a:t> </a:t>
            </a:r>
            <a:r>
              <a:rPr kumimoji="1" lang="en-US" altLang="zh-CN" sz="2400" dirty="0"/>
              <a:t>parse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trees</a:t>
            </a:r>
          </a:p>
          <a:p>
            <a:r>
              <a:rPr kumimoji="1" lang="en-US" altLang="zh-CN" sz="2400" dirty="0"/>
              <a:t>Produce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smaller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grammars</a:t>
            </a:r>
            <a:endParaRPr kumimoji="1" lang="zh-CN" altLang="en-US" sz="2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B612FC-B521-06FC-9169-6E66A0B97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AD691A-62BB-0307-1312-58373CA61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13B4BD-BF9C-7527-0AD9-57E012523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18</a:t>
            </a:fld>
            <a:endParaRPr kumimoji="1"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0528DC4-BFF1-555C-712A-C0225BADA6A9}"/>
              </a:ext>
            </a:extLst>
          </p:cNvPr>
          <p:cNvGrpSpPr/>
          <p:nvPr/>
        </p:nvGrpSpPr>
        <p:grpSpPr>
          <a:xfrm>
            <a:off x="1338427" y="3185686"/>
            <a:ext cx="7688008" cy="1631216"/>
            <a:chOff x="1338427" y="3185686"/>
            <a:chExt cx="7688008" cy="1631216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8A71A69-1CA8-1E6A-89DD-ABD46F48CE0A}"/>
                </a:ext>
              </a:extLst>
            </p:cNvPr>
            <p:cNvSpPr txBox="1"/>
            <p:nvPr/>
          </p:nvSpPr>
          <p:spPr>
            <a:xfrm>
              <a:off x="1338427" y="3185686"/>
              <a:ext cx="3429144" cy="163121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VP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→ VBD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NP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PP</a:t>
              </a:r>
            </a:p>
            <a:p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VP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→ VBD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NP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PP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PP</a:t>
              </a:r>
            </a:p>
            <a:p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VP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→ VBD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NP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PP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PP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PP</a:t>
              </a:r>
            </a:p>
            <a:p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VP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→ VBD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NP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PP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PP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PP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PP</a:t>
              </a:r>
            </a:p>
            <a:p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…</a:t>
              </a:r>
              <a:endPara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EF690C7-FCD0-3FAB-EE58-3F4896030C1A}"/>
                </a:ext>
              </a:extLst>
            </p:cNvPr>
            <p:cNvSpPr txBox="1"/>
            <p:nvPr/>
          </p:nvSpPr>
          <p:spPr>
            <a:xfrm>
              <a:off x="6866869" y="3201452"/>
              <a:ext cx="2159566" cy="707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VP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→ VBD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NP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PP</a:t>
              </a:r>
            </a:p>
            <a:p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VP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→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VP</a:t>
              </a:r>
              <a:r>
                <a:rPr kumimoji="1" lang="zh-CN" alt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PP</a:t>
              </a:r>
              <a:endPara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右箭头 8">
              <a:extLst>
                <a:ext uri="{FF2B5EF4-FFF2-40B4-BE49-F238E27FC236}">
                  <a16:creationId xmlns:a16="http://schemas.microsoft.com/office/drawing/2014/main" id="{87583AF2-5755-B5CA-21CE-B924EF0C1CA5}"/>
                </a:ext>
              </a:extLst>
            </p:cNvPr>
            <p:cNvSpPr/>
            <p:nvPr/>
          </p:nvSpPr>
          <p:spPr>
            <a:xfrm>
              <a:off x="5521616" y="3338619"/>
              <a:ext cx="591207" cy="43355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662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D03C5-4F44-4DEF-25DE-5D619AAAE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Problem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syntactic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parsing:</a:t>
            </a:r>
            <a:r>
              <a:rPr kumimoji="1" lang="zh-CN" altLang="en-US" dirty="0"/>
              <a:t> </a:t>
            </a:r>
            <a:r>
              <a:rPr kumimoji="1" lang="en-US" altLang="zh-CN" dirty="0"/>
              <a:t>Ambiguity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29E651-3DDC-A24B-29D2-7805B3C31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588"/>
            <a:ext cx="10515600" cy="4351338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Structural ambiguity occurs when the grammar can assign more than one parse to a sentence.</a:t>
            </a:r>
            <a:endParaRPr kumimoji="1" lang="zh-CN" altLang="en-US" sz="24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AC5D73-30D3-E4DE-2911-757EEB974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D4866E-D7A7-D631-A1F3-836A196C9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19</a:t>
            </a:fld>
            <a:endParaRPr kumimoji="1" lang="zh-CN" altLang="en-US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DE1161E-8257-5838-9B0E-D5EDFD98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2219C9-145C-0B07-EE1B-237D0239DB88}"/>
              </a:ext>
            </a:extLst>
          </p:cNvPr>
          <p:cNvSpPr txBox="1"/>
          <p:nvPr/>
        </p:nvSpPr>
        <p:spPr>
          <a:xfrm>
            <a:off x="1985891" y="2209104"/>
            <a:ext cx="4352474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zh-CN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shot</a:t>
            </a:r>
            <a:r>
              <a:rPr kumimoji="1" lang="zh-CN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kumimoji="1" lang="zh-CN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elephant</a:t>
            </a:r>
            <a:r>
              <a:rPr kumimoji="1" lang="zh-CN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kumimoji="1" lang="zh-CN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  <a:r>
              <a:rPr kumimoji="1" lang="zh-CN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pajamas</a:t>
            </a:r>
            <a:endParaRPr kumimoji="1" lang="zh-CN" alt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C8AD36B-56C4-5C2C-69C4-7FDDA107A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226" y="2821802"/>
            <a:ext cx="6432331" cy="3321960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46BA3704-EA60-F08D-8717-237B69FEE560}"/>
              </a:ext>
            </a:extLst>
          </p:cNvPr>
          <p:cNvGrpSpPr/>
          <p:nvPr/>
        </p:nvGrpSpPr>
        <p:grpSpPr>
          <a:xfrm>
            <a:off x="3535417" y="2209104"/>
            <a:ext cx="8296604" cy="3586824"/>
            <a:chOff x="3535417" y="2209104"/>
            <a:chExt cx="8296604" cy="3586824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9B38A83B-89D8-4FA7-4A99-E6426E11EB13}"/>
                </a:ext>
              </a:extLst>
            </p:cNvPr>
            <p:cNvSpPr/>
            <p:nvPr/>
          </p:nvSpPr>
          <p:spPr>
            <a:xfrm>
              <a:off x="3535417" y="4786934"/>
              <a:ext cx="1006366" cy="1008994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E14A4D1-7FE1-1C1F-9E2C-9CAF74A503DE}"/>
                </a:ext>
              </a:extLst>
            </p:cNvPr>
            <p:cNvSpPr/>
            <p:nvPr/>
          </p:nvSpPr>
          <p:spPr>
            <a:xfrm>
              <a:off x="5887107" y="3777940"/>
              <a:ext cx="1006366" cy="1008994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7671B35-33B6-3689-91F7-1F2247EE77AD}"/>
                </a:ext>
              </a:extLst>
            </p:cNvPr>
            <p:cNvSpPr txBox="1"/>
            <p:nvPr/>
          </p:nvSpPr>
          <p:spPr>
            <a:xfrm>
              <a:off x="7764518" y="2209104"/>
              <a:ext cx="30366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Left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: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elephant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is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in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pajamas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EAD5C2A-E647-2A3A-5F7B-2CFFE37C39F2}"/>
                </a:ext>
              </a:extLst>
            </p:cNvPr>
            <p:cNvSpPr txBox="1"/>
            <p:nvPr/>
          </p:nvSpPr>
          <p:spPr>
            <a:xfrm>
              <a:off x="7764518" y="2639991"/>
              <a:ext cx="406750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Right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: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the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action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of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shooting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is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done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by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me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in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my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pajamas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8EF78105-2A79-3880-C42A-FCC027F32DC3}"/>
              </a:ext>
            </a:extLst>
          </p:cNvPr>
          <p:cNvSpPr txBox="1"/>
          <p:nvPr/>
        </p:nvSpPr>
        <p:spPr>
          <a:xfrm>
            <a:off x="7764518" y="3620717"/>
            <a:ext cx="40123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PP-attachment ambiguity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: the preposition phrase can be attached either as part of the NP or as part of the VP.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C491819-F564-D81E-4097-B8C798BCB947}"/>
              </a:ext>
            </a:extLst>
          </p:cNvPr>
          <p:cNvSpPr txBox="1"/>
          <p:nvPr/>
        </p:nvSpPr>
        <p:spPr>
          <a:xfrm>
            <a:off x="7761890" y="5435876"/>
            <a:ext cx="4264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way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deal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these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syntactic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disambiguation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5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A0EFC-EE88-7B3F-F084-F7CF180F3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Overview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33C1D7-3FF7-75C7-1188-D2829879C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bg2">
                    <a:lumMod val="90000"/>
                  </a:schemeClr>
                </a:solidFill>
              </a:rPr>
              <a:t>Context</a:t>
            </a:r>
            <a:r>
              <a:rPr kumimoji="1" lang="zh-CN" altLang="en-US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2">
                    <a:lumMod val="90000"/>
                  </a:schemeClr>
                </a:solidFill>
              </a:rPr>
              <a:t>Free</a:t>
            </a:r>
            <a:r>
              <a:rPr kumimoji="1" lang="zh-CN" altLang="en-US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2">
                    <a:lumMod val="90000"/>
                  </a:schemeClr>
                </a:solidFill>
              </a:rPr>
              <a:t>Grammars</a:t>
            </a:r>
            <a:r>
              <a:rPr kumimoji="1" lang="zh-CN" altLang="en-US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2">
                    <a:lumMod val="90000"/>
                  </a:schemeClr>
                </a:solidFill>
              </a:rPr>
              <a:t>(CFG)</a:t>
            </a:r>
          </a:p>
          <a:p>
            <a:r>
              <a:rPr kumimoji="1" lang="en-US" altLang="zh-CN" b="1" dirty="0"/>
              <a:t>Constituency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Parsing</a:t>
            </a:r>
          </a:p>
          <a:p>
            <a:r>
              <a:rPr kumimoji="1" lang="en-US" altLang="zh-CN" dirty="0">
                <a:solidFill>
                  <a:schemeClr val="bg2">
                    <a:lumMod val="90000"/>
                  </a:schemeClr>
                </a:solidFill>
              </a:rPr>
              <a:t>Neural</a:t>
            </a:r>
            <a:r>
              <a:rPr kumimoji="1" lang="zh-CN" altLang="en-US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2">
                    <a:lumMod val="90000"/>
                  </a:schemeClr>
                </a:solidFill>
              </a:rPr>
              <a:t>Constituency</a:t>
            </a:r>
            <a:r>
              <a:rPr kumimoji="1" lang="zh-CN" altLang="en-US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2">
                    <a:lumMod val="90000"/>
                  </a:schemeClr>
                </a:solidFill>
              </a:rPr>
              <a:t>Parsing</a:t>
            </a:r>
          </a:p>
          <a:p>
            <a:endParaRPr kumimoji="1" lang="en-US" altLang="zh-CN" b="1" dirty="0"/>
          </a:p>
          <a:p>
            <a:endParaRPr kumimoji="1" lang="en-US" alt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9B49E5-2AC7-71F2-FFC7-3E6FC2B9C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785920-3802-CDFA-4F32-32F782E2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t>20</a:t>
            </a:fld>
            <a:endParaRPr kumimoji="1" lang="zh-CN" altLang="en-US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B934E61-FC27-3DFE-6ACA-0CCABCE7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BA3BE5-36AA-E2A7-1534-3A1583B91F99}"/>
              </a:ext>
            </a:extLst>
          </p:cNvPr>
          <p:cNvSpPr txBox="1"/>
          <p:nvPr/>
        </p:nvSpPr>
        <p:spPr>
          <a:xfrm>
            <a:off x="4680228" y="2338598"/>
            <a:ext cx="2092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400" dirty="0">
                <a:solidFill>
                  <a:srgbClr val="0070C0"/>
                </a:solidFill>
                <a:latin typeface="Songti SC" panose="02010600040101010101" pitchFamily="2" charset="-122"/>
                <a:ea typeface="Songti SC" panose="02010600040101010101" pitchFamily="2" charset="-122"/>
                <a:cs typeface="Calibri" panose="020F0502020204030204" pitchFamily="34" charset="0"/>
              </a:rPr>
              <a:t>成分句法分析</a:t>
            </a:r>
          </a:p>
        </p:txBody>
      </p:sp>
    </p:spTree>
    <p:extLst>
      <p:ext uri="{BB962C8B-B14F-4D97-AF65-F5344CB8AC3E}">
        <p14:creationId xmlns:p14="http://schemas.microsoft.com/office/powerpoint/2010/main" val="1069066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96EE6-EC42-6A7D-B14D-E45C67AEE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000" dirty="0"/>
              <a:t>Parsing: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A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Dynamic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Programming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Approach</a:t>
            </a:r>
            <a:endParaRPr kumimoji="1"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703437-675B-E491-B5A5-8C5B2E462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kumimoji="1" lang="en-US" altLang="zh-CN" sz="2400" b="1" dirty="0"/>
              <a:t>Dynamic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programming</a:t>
            </a:r>
            <a:r>
              <a:rPr kumimoji="1" lang="zh-CN" altLang="en-US" sz="2400" b="1" dirty="0"/>
              <a:t> </a:t>
            </a:r>
            <a:r>
              <a:rPr kumimoji="1" lang="en-US" altLang="zh-CN" sz="2400" dirty="0"/>
              <a:t>provides a powerful framework for addressing the problems caused by </a:t>
            </a:r>
            <a:r>
              <a:rPr kumimoji="1" lang="en-US" altLang="zh-CN" sz="2400" b="1" dirty="0"/>
              <a:t>ambiguity</a:t>
            </a:r>
            <a:r>
              <a:rPr kumimoji="1" lang="en-US" altLang="zh-CN" sz="2400" dirty="0"/>
              <a:t> in grammars</a:t>
            </a:r>
          </a:p>
          <a:p>
            <a:pPr lvl="1"/>
            <a:r>
              <a:rPr kumimoji="1" lang="en-US" altLang="zh-CN" sz="2000" dirty="0"/>
              <a:t>A </a:t>
            </a:r>
            <a:r>
              <a:rPr kumimoji="1" lang="en-US" altLang="zh-CN" sz="2000" b="1" dirty="0"/>
              <a:t>dynamic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programming</a:t>
            </a:r>
            <a:r>
              <a:rPr kumimoji="1" lang="en-US" altLang="zh-CN" sz="2000" dirty="0"/>
              <a:t> approach fills in a table of solutions to subproblems </a:t>
            </a:r>
          </a:p>
          <a:p>
            <a:pPr lvl="1"/>
            <a:r>
              <a:rPr lang="en-US" altLang="zh-CN" sz="2000" dirty="0">
                <a:effectLst/>
                <a:latin typeface="NimbusRomNo9L"/>
              </a:rPr>
              <a:t>The complete table has the solution to all the subproblems 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In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case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of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parsing: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subproblems represent </a:t>
            </a:r>
            <a:r>
              <a:rPr kumimoji="1" lang="en-US" altLang="zh-CN" sz="2000" dirty="0">
                <a:solidFill>
                  <a:srgbClr val="0070C0"/>
                </a:solidFill>
              </a:rPr>
              <a:t>parse trees for all the</a:t>
            </a:r>
            <a:r>
              <a:rPr kumimoji="1" lang="zh-CN" altLang="en-US" sz="2000" dirty="0">
                <a:solidFill>
                  <a:srgbClr val="0070C0"/>
                </a:solidFill>
              </a:rPr>
              <a:t> </a:t>
            </a:r>
            <a:r>
              <a:rPr kumimoji="1" lang="en-US" altLang="zh-CN" sz="2000" dirty="0">
                <a:solidFill>
                  <a:srgbClr val="0070C0"/>
                </a:solidFill>
              </a:rPr>
              <a:t>constituents </a:t>
            </a:r>
            <a:r>
              <a:rPr kumimoji="1" lang="en-US" altLang="zh-CN" sz="2000" dirty="0"/>
              <a:t>detected in the input</a:t>
            </a:r>
          </a:p>
          <a:p>
            <a:pPr lvl="1"/>
            <a:endParaRPr kumimoji="1" lang="en-US" altLang="zh-CN" sz="2000" dirty="0"/>
          </a:p>
          <a:p>
            <a:r>
              <a:rPr kumimoji="1" lang="en-US" altLang="zh-CN" sz="2400" b="1" dirty="0"/>
              <a:t>Basic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assumption</a:t>
            </a:r>
            <a:r>
              <a:rPr kumimoji="1" lang="en-US" altLang="zh-CN" sz="2400" dirty="0"/>
              <a:t>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b="1" dirty="0">
                <a:solidFill>
                  <a:srgbClr val="7030A0"/>
                </a:solidFill>
              </a:rPr>
              <a:t>context-free</a:t>
            </a:r>
            <a:r>
              <a:rPr kumimoji="1" lang="zh-CN" altLang="en-US" sz="2400" b="1" dirty="0">
                <a:solidFill>
                  <a:srgbClr val="7030A0"/>
                </a:solidFill>
              </a:rPr>
              <a:t> </a:t>
            </a:r>
            <a:r>
              <a:rPr kumimoji="1" lang="en-US" altLang="zh-CN" sz="2400" b="1" dirty="0">
                <a:solidFill>
                  <a:srgbClr val="7030A0"/>
                </a:solidFill>
              </a:rPr>
              <a:t>nature</a:t>
            </a:r>
            <a:r>
              <a:rPr kumimoji="1" lang="zh-CN" altLang="en-US" sz="2400" b="1" dirty="0">
                <a:solidFill>
                  <a:srgbClr val="7030A0"/>
                </a:solidFill>
              </a:rPr>
              <a:t> </a:t>
            </a:r>
            <a:r>
              <a:rPr kumimoji="1" lang="en-US" altLang="zh-CN" sz="2400" dirty="0"/>
              <a:t>of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grammar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rules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--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once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constituent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has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been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discovered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segment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of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input,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can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store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and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make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available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for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use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any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subsequent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derivation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that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might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require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it</a:t>
            </a:r>
          </a:p>
          <a:p>
            <a:r>
              <a:rPr kumimoji="1" lang="en-US" altLang="zh-CN" sz="2400" dirty="0"/>
              <a:t>CKY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algorithm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</a:t>
            </a:r>
            <a:r>
              <a:rPr kumimoji="1" lang="en-US" altLang="zh-CN" sz="2400" dirty="0" err="1"/>
              <a:t>Cocke</a:t>
            </a:r>
            <a:r>
              <a:rPr kumimoji="1" lang="en-US" altLang="zh-CN" sz="2400" dirty="0"/>
              <a:t>-</a:t>
            </a:r>
            <a:r>
              <a:rPr kumimoji="1" lang="en-US" altLang="zh-CN" sz="2400" dirty="0" err="1"/>
              <a:t>Kasami</a:t>
            </a:r>
            <a:r>
              <a:rPr kumimoji="1" lang="en-US" altLang="zh-CN" sz="2400" dirty="0"/>
              <a:t>-Younger,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1961)</a:t>
            </a:r>
            <a:endParaRPr kumimoji="1" lang="zh-CN" altLang="en-US" sz="2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036A83-02F7-6B28-221F-2A23A8B8D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34053A-FE9B-7F85-7A25-36828084B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EA4548-5CAC-6897-4799-E1F805935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592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3DF29B-A33B-31D2-1893-EF9168106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CKY</a:t>
            </a:r>
            <a:r>
              <a:rPr kumimoji="1" lang="zh-CN" altLang="en-US" dirty="0"/>
              <a:t> </a:t>
            </a:r>
            <a:r>
              <a:rPr kumimoji="1" lang="en-US" altLang="zh-CN" dirty="0"/>
              <a:t>Algo.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Preprocessing: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Conversion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CNF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624C8A-5CB3-1C33-C38A-DBD15C7C5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CKY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algorithm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requires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grammars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first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be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Chomsky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Normal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Form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(CNF)</a:t>
            </a:r>
          </a:p>
          <a:p>
            <a:r>
              <a:rPr kumimoji="1" lang="en-US" altLang="zh-CN" sz="2400" dirty="0"/>
              <a:t>I.e.,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 right-hand side of each rule must expand either to </a:t>
            </a:r>
            <a:r>
              <a:rPr kumimoji="1" lang="en-US" altLang="zh-CN" sz="2400" b="1" dirty="0"/>
              <a:t>two non-terminals </a:t>
            </a:r>
            <a:r>
              <a:rPr kumimoji="1" lang="en-US" altLang="zh-CN" sz="2400" dirty="0"/>
              <a:t>or to a </a:t>
            </a:r>
            <a:r>
              <a:rPr kumimoji="1" lang="en-US" altLang="zh-CN" sz="2400" b="1" dirty="0"/>
              <a:t>single terminal</a:t>
            </a:r>
          </a:p>
          <a:p>
            <a:endParaRPr kumimoji="1" lang="en-US" altLang="zh-CN" sz="2400" b="1" dirty="0"/>
          </a:p>
          <a:p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remedy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for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rules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that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mix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terminals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and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non-terminals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introduce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new</a:t>
            </a:r>
            <a:r>
              <a:rPr kumimoji="1" lang="zh-CN" altLang="en-US" sz="2400" dirty="0"/>
              <a:t> </a:t>
            </a:r>
            <a:r>
              <a:rPr kumimoji="1" lang="en-US" altLang="zh-CN" sz="2400" b="1" dirty="0">
                <a:solidFill>
                  <a:srgbClr val="00B050"/>
                </a:solidFill>
              </a:rPr>
              <a:t>dummy</a:t>
            </a:r>
            <a:r>
              <a:rPr kumimoji="1" lang="zh-CN" altLang="en-US" sz="2400" b="1" dirty="0">
                <a:solidFill>
                  <a:srgbClr val="00B050"/>
                </a:solidFill>
              </a:rPr>
              <a:t> </a:t>
            </a:r>
            <a:r>
              <a:rPr kumimoji="1" lang="en-US" altLang="zh-CN" sz="2400" b="1" dirty="0">
                <a:solidFill>
                  <a:srgbClr val="00B050"/>
                </a:solidFill>
              </a:rPr>
              <a:t>non-terminal</a:t>
            </a:r>
            <a:endParaRPr kumimoji="1" lang="zh-CN" altLang="en-US" sz="2400" b="1" dirty="0">
              <a:solidFill>
                <a:srgbClr val="00B050"/>
              </a:solidFill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5AF007-76BA-0F23-2A39-8345F583D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1AAC97-8D40-D350-A642-1ACE95132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36EBD4-658E-E4B1-2FA1-401F83E83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22</a:t>
            </a:fld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4FE6260-99EA-94E4-4714-74AE6AB5FF22}"/>
                  </a:ext>
                </a:extLst>
              </p:cNvPr>
              <p:cNvSpPr txBox="1"/>
              <p:nvPr/>
            </p:nvSpPr>
            <p:spPr>
              <a:xfrm>
                <a:off x="4038600" y="2853297"/>
                <a:ext cx="3458511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either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𝐴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  <m:r>
                      <a:rPr kumimoji="1" lang="zh-CN" altLang="en-US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</m:oMath>
                </a14:m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or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𝐴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endPara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4FE6260-99EA-94E4-4714-74AE6AB5F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2853297"/>
                <a:ext cx="3458511" cy="461665"/>
              </a:xfrm>
              <a:prstGeom prst="rect">
                <a:avLst/>
              </a:prstGeom>
              <a:blipFill>
                <a:blip r:embed="rId2"/>
                <a:stretch>
                  <a:fillRect l="-2930" t="-7895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438E026D-A629-0B7F-9EA8-115802797CAB}"/>
              </a:ext>
            </a:extLst>
          </p:cNvPr>
          <p:cNvGrpSpPr/>
          <p:nvPr/>
        </p:nvGrpSpPr>
        <p:grpSpPr>
          <a:xfrm>
            <a:off x="1803181" y="4515130"/>
            <a:ext cx="6741376" cy="830997"/>
            <a:chOff x="1803181" y="4515130"/>
            <a:chExt cx="6741376" cy="830997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CBADA78-6E8A-FF25-B3C7-2D5A6635D759}"/>
                </a:ext>
              </a:extLst>
            </p:cNvPr>
            <p:cNvSpPr txBox="1"/>
            <p:nvPr/>
          </p:nvSpPr>
          <p:spPr>
            <a:xfrm>
              <a:off x="1803181" y="4515130"/>
              <a:ext cx="2776702" cy="46166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kumimoji="1" lang="en-US" altLang="zh-CN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INF-VP</a:t>
              </a:r>
              <a:r>
                <a:rPr kumimoji="1" lang="zh-CN" altLang="en-US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→ to</a:t>
              </a:r>
              <a:r>
                <a:rPr kumimoji="1" lang="zh-CN" altLang="en-US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VP</a:t>
              </a:r>
              <a:endParaRPr lang="zh-CN" altLang="en-US" sz="2400" i="1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B1DC24F-E284-0721-99DB-DFEA6A3384B1}"/>
                </a:ext>
              </a:extLst>
            </p:cNvPr>
            <p:cNvSpPr txBox="1"/>
            <p:nvPr/>
          </p:nvSpPr>
          <p:spPr>
            <a:xfrm>
              <a:off x="5767855" y="4515130"/>
              <a:ext cx="2776702" cy="83099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kumimoji="1" lang="en-US" altLang="zh-CN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INF-VP</a:t>
              </a:r>
              <a:r>
                <a:rPr kumimoji="1" lang="zh-CN" altLang="en-US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→ TO</a:t>
              </a:r>
              <a:r>
                <a:rPr kumimoji="1" lang="zh-CN" altLang="en-US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VP</a:t>
              </a:r>
            </a:p>
            <a:p>
              <a:r>
                <a:rPr kumimoji="1" lang="en-US" altLang="zh-CN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TO</a:t>
              </a:r>
              <a:r>
                <a:rPr kumimoji="1" lang="zh-CN" altLang="en-US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→ to</a:t>
              </a:r>
              <a:endParaRPr lang="zh-CN" altLang="en-US" sz="2400" i="1" dirty="0"/>
            </a:p>
          </p:txBody>
        </p:sp>
        <p:sp>
          <p:nvSpPr>
            <p:cNvPr id="12" name="右箭头 11">
              <a:extLst>
                <a:ext uri="{FF2B5EF4-FFF2-40B4-BE49-F238E27FC236}">
                  <a16:creationId xmlns:a16="http://schemas.microsoft.com/office/drawing/2014/main" id="{E807B4F4-F537-02BB-B304-F627D16BA5A0}"/>
                </a:ext>
              </a:extLst>
            </p:cNvPr>
            <p:cNvSpPr/>
            <p:nvPr/>
          </p:nvSpPr>
          <p:spPr>
            <a:xfrm>
              <a:off x="4878265" y="4635062"/>
              <a:ext cx="591207" cy="43355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150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05742-A224-3180-9FAD-5E5C4160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CKY</a:t>
            </a:r>
            <a:r>
              <a:rPr kumimoji="1" lang="zh-CN" altLang="en-US" dirty="0"/>
              <a:t> </a:t>
            </a:r>
            <a:r>
              <a:rPr kumimoji="1" lang="en-US" altLang="zh-CN" dirty="0"/>
              <a:t>Algo.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Preprocessing: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Conversion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CNF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537E98-8D97-FEDA-9AB8-4287781D2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For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rules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with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right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hand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side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longer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than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2,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introduce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new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non-terminals:</a:t>
            </a:r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en-US" altLang="zh-CN" sz="2400" dirty="0"/>
              <a:t>For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rules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with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single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non-terminal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right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(unit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productions),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rewrite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right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hand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side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with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non-unit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production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rules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that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ultimately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lead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to</a:t>
            </a:r>
            <a:endParaRPr kumimoji="1" lang="zh-CN" altLang="en-US" sz="2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A2A25D-F3AB-C8AB-E0B6-6DDF5F4C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105A20-07B1-1DA1-72BC-063611DD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5B3567-27A2-0942-D802-D61D4905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23</a:t>
            </a:fld>
            <a:endParaRPr kumimoji="1"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EA783D1-ECFF-1C3B-0928-F9FCE793D75A}"/>
              </a:ext>
            </a:extLst>
          </p:cNvPr>
          <p:cNvGrpSpPr/>
          <p:nvPr/>
        </p:nvGrpSpPr>
        <p:grpSpPr>
          <a:xfrm>
            <a:off x="1598818" y="2598003"/>
            <a:ext cx="4488981" cy="830997"/>
            <a:chOff x="2075793" y="2530104"/>
            <a:chExt cx="4488981" cy="8309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A41FD74-4177-5A20-015F-48E7CF352B11}"/>
                    </a:ext>
                  </a:extLst>
                </p:cNvPr>
                <p:cNvSpPr txBox="1"/>
                <p:nvPr/>
              </p:nvSpPr>
              <p:spPr>
                <a:xfrm>
                  <a:off x="2075793" y="2530104"/>
                  <a:ext cx="1594154" cy="46166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→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𝐵</m:t>
                        </m:r>
                        <m:r>
                          <a:rPr kumimoji="1" lang="zh-CN" alt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  <m:r>
                          <a:rPr kumimoji="1" lang="zh-CN" altLang="en-US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𝛾</m:t>
                        </m:r>
                      </m:oMath>
                    </m:oMathPara>
                  </a14:m>
                  <a:endPara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A41FD74-4177-5A20-015F-48E7CF352B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5793" y="2530104"/>
                  <a:ext cx="1594154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72818D7-E009-6774-4704-380A41ABE608}"/>
                    </a:ext>
                  </a:extLst>
                </p:cNvPr>
                <p:cNvSpPr txBox="1"/>
                <p:nvPr/>
              </p:nvSpPr>
              <p:spPr>
                <a:xfrm>
                  <a:off x="5038010" y="2530104"/>
                  <a:ext cx="1526764" cy="830997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→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𝑋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1 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𝛾</m:t>
                        </m:r>
                      </m:oMath>
                    </m:oMathPara>
                  </a14:m>
                  <a:endPara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𝑋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1→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𝐵</m:t>
                        </m:r>
                        <m:r>
                          <a:rPr kumimoji="1" lang="zh-CN" altLang="en-US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</m:oMath>
                    </m:oMathPara>
                  </a14:m>
                  <a:endPara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72818D7-E009-6774-4704-380A41ABE6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8010" y="2530104"/>
                  <a:ext cx="1526764" cy="830997"/>
                </a:xfrm>
                <a:prstGeom prst="rect">
                  <a:avLst/>
                </a:prstGeom>
                <a:blipFill>
                  <a:blip r:embed="rId3"/>
                  <a:stretch>
                    <a:fillRect b="-89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右箭头 8">
              <a:extLst>
                <a:ext uri="{FF2B5EF4-FFF2-40B4-BE49-F238E27FC236}">
                  <a16:creationId xmlns:a16="http://schemas.microsoft.com/office/drawing/2014/main" id="{0A706EC7-61AB-BD5C-C515-0D3DC932D8CB}"/>
                </a:ext>
              </a:extLst>
            </p:cNvPr>
            <p:cNvSpPr/>
            <p:nvPr/>
          </p:nvSpPr>
          <p:spPr>
            <a:xfrm>
              <a:off x="4058375" y="2544160"/>
              <a:ext cx="591207" cy="43355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2732B04-2AE6-71B7-4764-B9F5005C6004}"/>
              </a:ext>
            </a:extLst>
          </p:cNvPr>
          <p:cNvGrpSpPr/>
          <p:nvPr/>
        </p:nvGrpSpPr>
        <p:grpSpPr>
          <a:xfrm>
            <a:off x="7455862" y="2397948"/>
            <a:ext cx="4325282" cy="1080930"/>
            <a:chOff x="7455862" y="2397948"/>
            <a:chExt cx="4325282" cy="1080930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F72BB44-1139-E694-1E5C-894D49BF6D32}"/>
                </a:ext>
              </a:extLst>
            </p:cNvPr>
            <p:cNvSpPr txBox="1"/>
            <p:nvPr/>
          </p:nvSpPr>
          <p:spPr>
            <a:xfrm>
              <a:off x="7455862" y="2397948"/>
              <a:ext cx="5421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Ex.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C840DEA-1E4E-A0A7-E5A3-77C6379CD76B}"/>
                </a:ext>
              </a:extLst>
            </p:cNvPr>
            <p:cNvSpPr txBox="1"/>
            <p:nvPr/>
          </p:nvSpPr>
          <p:spPr>
            <a:xfrm>
              <a:off x="7455862" y="2770992"/>
              <a:ext cx="2018501" cy="4001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S → Aux NP VP</a:t>
              </a:r>
              <a:endParaRPr kumimoji="1" lang="zh-CN" altLang="en-US" sz="2000" i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93F3E7F-D988-9206-5530-D81722B99047}"/>
                </a:ext>
              </a:extLst>
            </p:cNvPr>
            <p:cNvSpPr txBox="1"/>
            <p:nvPr/>
          </p:nvSpPr>
          <p:spPr>
            <a:xfrm>
              <a:off x="10044771" y="2770992"/>
              <a:ext cx="1736373" cy="707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S → X1</a:t>
              </a:r>
              <a:r>
                <a:rPr kumimoji="1" lang="zh-CN" altLang="en-US" sz="20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VP</a:t>
              </a:r>
            </a:p>
            <a:p>
              <a:r>
                <a:rPr kumimoji="1" lang="en-US" altLang="zh-CN" sz="20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X1 → Aux</a:t>
              </a:r>
              <a:r>
                <a:rPr kumimoji="1" lang="zh-CN" altLang="en-US" sz="20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0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NP</a:t>
              </a:r>
              <a:endParaRPr kumimoji="1" lang="zh-CN" altLang="en-US" sz="2000" i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右箭头 13">
              <a:extLst>
                <a:ext uri="{FF2B5EF4-FFF2-40B4-BE49-F238E27FC236}">
                  <a16:creationId xmlns:a16="http://schemas.microsoft.com/office/drawing/2014/main" id="{F89FC664-855C-8569-1630-174B9D4E44C7}"/>
                </a:ext>
              </a:extLst>
            </p:cNvPr>
            <p:cNvSpPr/>
            <p:nvPr/>
          </p:nvSpPr>
          <p:spPr>
            <a:xfrm>
              <a:off x="9615287" y="2880857"/>
              <a:ext cx="286407" cy="178811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315DBDE-B605-31C6-818F-C865284BAA69}"/>
              </a:ext>
            </a:extLst>
          </p:cNvPr>
          <p:cNvGrpSpPr/>
          <p:nvPr/>
        </p:nvGrpSpPr>
        <p:grpSpPr>
          <a:xfrm>
            <a:off x="1479370" y="4822557"/>
            <a:ext cx="9630064" cy="830997"/>
            <a:chOff x="1803181" y="4515130"/>
            <a:chExt cx="9630064" cy="830997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ED232CE-A9BD-B1B4-5B1A-65A1FA590EAD}"/>
                </a:ext>
              </a:extLst>
            </p:cNvPr>
            <p:cNvSpPr txBox="1"/>
            <p:nvPr/>
          </p:nvSpPr>
          <p:spPr>
            <a:xfrm>
              <a:off x="1803181" y="4515130"/>
              <a:ext cx="3912436" cy="83099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kumimoji="1" lang="en-US" altLang="zh-CN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Nominal</a:t>
              </a:r>
              <a:r>
                <a:rPr kumimoji="1" lang="zh-CN" altLang="en-US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→ Noun</a:t>
              </a:r>
            </a:p>
            <a:p>
              <a:r>
                <a:rPr kumimoji="1" lang="en-US" altLang="zh-CN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Noun</a:t>
              </a:r>
              <a:r>
                <a:rPr kumimoji="1" lang="zh-CN" altLang="en-US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→</a:t>
              </a:r>
              <a:r>
                <a:rPr kumimoji="1" lang="zh-CN" altLang="en-US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book</a:t>
              </a:r>
              <a:r>
                <a:rPr kumimoji="1" lang="zh-CN" altLang="en-US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|</a:t>
              </a:r>
              <a:r>
                <a:rPr kumimoji="1" lang="zh-CN" alt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flight</a:t>
              </a:r>
              <a:endParaRPr lang="zh-CN" altLang="en-US" sz="2400" i="1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3C313CD-3C96-D1A3-078A-B4F1ABEDC24F}"/>
                </a:ext>
              </a:extLst>
            </p:cNvPr>
            <p:cNvSpPr txBox="1"/>
            <p:nvPr/>
          </p:nvSpPr>
          <p:spPr>
            <a:xfrm>
              <a:off x="7341357" y="4644634"/>
              <a:ext cx="4091888" cy="4616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kumimoji="1" lang="en-US" altLang="zh-CN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Nominal</a:t>
              </a:r>
              <a:r>
                <a:rPr kumimoji="1" lang="zh-CN" altLang="en-US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→</a:t>
              </a:r>
              <a:r>
                <a:rPr kumimoji="1" lang="zh-CN" altLang="en-US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book</a:t>
              </a:r>
              <a:r>
                <a:rPr kumimoji="1" lang="zh-CN" altLang="en-US" sz="24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|</a:t>
              </a:r>
              <a:r>
                <a:rPr kumimoji="1" lang="zh-CN" alt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zh-CN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flight</a:t>
              </a:r>
              <a:endParaRPr lang="zh-CN" altLang="en-US" sz="2400" i="1" dirty="0"/>
            </a:p>
          </p:txBody>
        </p:sp>
        <p:sp>
          <p:nvSpPr>
            <p:cNvPr id="19" name="右箭头 18">
              <a:extLst>
                <a:ext uri="{FF2B5EF4-FFF2-40B4-BE49-F238E27FC236}">
                  <a16:creationId xmlns:a16="http://schemas.microsoft.com/office/drawing/2014/main" id="{91F35923-79F0-D566-31E6-46CC40208AA6}"/>
                </a:ext>
              </a:extLst>
            </p:cNvPr>
            <p:cNvSpPr/>
            <p:nvPr/>
          </p:nvSpPr>
          <p:spPr>
            <a:xfrm>
              <a:off x="6226047" y="4672747"/>
              <a:ext cx="591207" cy="43355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714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3AE6B-948D-EB48-047A-374EF87BC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Grammar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CNF: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CCA6CE29-1EB7-9830-1B08-AE794CFED8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2382" y="1931417"/>
            <a:ext cx="5718036" cy="3321215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A42149-0EEF-6F75-9BBA-B1BF0234A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74CABF-B9D2-3E39-D7AE-4B271F73F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5D042B-93F5-4AED-0D82-FAAD4FD0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24</a:t>
            </a:fld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54C9704-198A-C079-50A1-70664A97E9CA}"/>
                  </a:ext>
                </a:extLst>
              </p:cNvPr>
              <p:cNvSpPr txBox="1"/>
              <p:nvPr/>
            </p:nvSpPr>
            <p:spPr>
              <a:xfrm>
                <a:off x="785648" y="1490633"/>
                <a:ext cx="34146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Grammar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ℒ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(with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adds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ℒ</m:t>
                        </m:r>
                      </m:e>
                      <m:sub>
                        <m:r>
                          <a:rPr kumimoji="1"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54C9704-198A-C079-50A1-70664A97E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648" y="1490633"/>
                <a:ext cx="3414653" cy="400110"/>
              </a:xfrm>
              <a:prstGeom prst="rect">
                <a:avLst/>
              </a:prstGeom>
              <a:blipFill>
                <a:blip r:embed="rId3"/>
                <a:stretch>
                  <a:fillRect l="-1852" t="-9375" b="-28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FC1A810-6849-3B06-7099-08DB9255C5C6}"/>
                  </a:ext>
                </a:extLst>
              </p:cNvPr>
              <p:cNvSpPr txBox="1"/>
              <p:nvPr/>
            </p:nvSpPr>
            <p:spPr>
              <a:xfrm>
                <a:off x="8304488" y="923074"/>
                <a:ext cx="223554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Grammar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ℒ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CNF</a:t>
                </a:r>
                <a:endPara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FC1A810-6849-3B06-7099-08DB9255C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4488" y="923074"/>
                <a:ext cx="2235548" cy="400110"/>
              </a:xfrm>
              <a:prstGeom prst="rect">
                <a:avLst/>
              </a:prstGeom>
              <a:blipFill>
                <a:blip r:embed="rId4"/>
                <a:stretch>
                  <a:fillRect l="-2825" t="-6061" r="-2260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7A40C072-8DC3-7982-0D66-B18C30066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003" y="1412329"/>
            <a:ext cx="3296153" cy="4952040"/>
          </a:xfrm>
          <a:prstGeom prst="rect">
            <a:avLst/>
          </a:prstGeom>
        </p:spPr>
      </p:pic>
      <p:sp>
        <p:nvSpPr>
          <p:cNvPr id="13" name="右箭头 12">
            <a:extLst>
              <a:ext uri="{FF2B5EF4-FFF2-40B4-BE49-F238E27FC236}">
                <a16:creationId xmlns:a16="http://schemas.microsoft.com/office/drawing/2014/main" id="{09B15D38-6F8C-DD92-B215-80E82B4B6193}"/>
              </a:ext>
            </a:extLst>
          </p:cNvPr>
          <p:cNvSpPr/>
          <p:nvPr/>
        </p:nvSpPr>
        <p:spPr>
          <a:xfrm>
            <a:off x="7006083" y="2768108"/>
            <a:ext cx="591207" cy="4335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42700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5CEC74-A942-E38C-FBD1-F0AB485AD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699" y="248747"/>
            <a:ext cx="10515600" cy="1112147"/>
          </a:xfrm>
        </p:spPr>
        <p:txBody>
          <a:bodyPr/>
          <a:lstStyle/>
          <a:p>
            <a:r>
              <a:rPr kumimoji="1" lang="en-US" altLang="zh-CN" dirty="0"/>
              <a:t>CKY Recognition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EAFD16C-26B8-E69C-6407-FE611833F9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2904" y="1517484"/>
                <a:ext cx="8669381" cy="1823662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CN" sz="2400" dirty="0"/>
                  <a:t>For a sentence of length n, work with an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×(</m:t>
                    </m:r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400" b="1" dirty="0"/>
                  <a:t> matrix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kumimoji="1" lang="en-US" altLang="zh-CN" sz="2400" dirty="0"/>
                  <a:t>, using the upper triangular portion</a:t>
                </a:r>
                <a:r>
                  <a:rPr kumimoji="1" lang="zh-CN" altLang="en-US" sz="2400" dirty="0"/>
                  <a:t> ⇒ </a:t>
                </a:r>
                <a:r>
                  <a:rPr kumimoji="1" lang="en-US" altLang="zh-CN" sz="2400" b="1" dirty="0">
                    <a:solidFill>
                      <a:srgbClr val="0070C0"/>
                    </a:solidFill>
                  </a:rPr>
                  <a:t>parse</a:t>
                </a:r>
                <a:r>
                  <a:rPr kumimoji="1" lang="zh-CN" altLang="en-US" sz="2400" b="1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400" b="1" dirty="0">
                    <a:solidFill>
                      <a:srgbClr val="0070C0"/>
                    </a:solidFill>
                  </a:rPr>
                  <a:t>table</a:t>
                </a:r>
              </a:p>
              <a:p>
                <a:r>
                  <a:rPr kumimoji="1" lang="en-US" altLang="zh-CN" sz="2400" dirty="0"/>
                  <a:t>Cell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en-US" altLang="zh-CN" sz="2400" dirty="0"/>
                  <a:t> contains the set of non-terminals representing all constituents that span position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zh-CN" sz="2400" dirty="0"/>
                  <a:t> through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kumimoji="1" lang="en-US" altLang="zh-CN" sz="2400" dirty="0"/>
                  <a:t>.</a:t>
                </a:r>
              </a:p>
              <a:p>
                <a:endParaRPr kumimoji="1"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EAFD16C-26B8-E69C-6407-FE611833F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2904" y="1517484"/>
                <a:ext cx="8669381" cy="1823662"/>
              </a:xfrm>
              <a:blipFill>
                <a:blip r:embed="rId2"/>
                <a:stretch>
                  <a:fillRect l="-877" t="-4138" r="-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F64759-A20C-1C59-AFD1-5151734C2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9C3C3E-C46D-9CA6-E315-818106EA4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25</a:t>
            </a:fld>
            <a:endParaRPr kumimoji="1" lang="zh-CN" altLang="en-US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691BBD9-5106-94D8-4BE8-419AB4E3E4CB}"/>
              </a:ext>
            </a:extLst>
          </p:cNvPr>
          <p:cNvGrpSpPr/>
          <p:nvPr/>
        </p:nvGrpSpPr>
        <p:grpSpPr>
          <a:xfrm>
            <a:off x="560583" y="3421722"/>
            <a:ext cx="6490356" cy="605064"/>
            <a:chOff x="1977554" y="3792686"/>
            <a:chExt cx="6490356" cy="605064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FCE6794-FF26-6B22-AAF4-9E06A434DCF0}"/>
                </a:ext>
              </a:extLst>
            </p:cNvPr>
            <p:cNvSpPr txBox="1"/>
            <p:nvPr/>
          </p:nvSpPr>
          <p:spPr>
            <a:xfrm>
              <a:off x="3241964" y="3792686"/>
              <a:ext cx="51537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Book    the    flight    through    Houston</a:t>
              </a:r>
              <a:endParaRPr kumimoji="1"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D87C7A-E2C4-AC7C-652A-257BAC8FCC55}"/>
                </a:ext>
              </a:extLst>
            </p:cNvPr>
            <p:cNvSpPr txBox="1"/>
            <p:nvPr/>
          </p:nvSpPr>
          <p:spPr>
            <a:xfrm>
              <a:off x="2927454" y="399764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kumimoji="1" lang="zh-CN" alt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0CB1934-06A6-4526-FDF9-D53BDA0B6CAC}"/>
                </a:ext>
              </a:extLst>
            </p:cNvPr>
            <p:cNvSpPr txBox="1"/>
            <p:nvPr/>
          </p:nvSpPr>
          <p:spPr>
            <a:xfrm>
              <a:off x="3961003" y="399764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DABA909-5355-C214-671D-330EA5444DB1}"/>
                </a:ext>
              </a:extLst>
            </p:cNvPr>
            <p:cNvSpPr txBox="1"/>
            <p:nvPr/>
          </p:nvSpPr>
          <p:spPr>
            <a:xfrm>
              <a:off x="4590023" y="399764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017D145-777F-1C4A-D1A0-F692012E6194}"/>
                </a:ext>
              </a:extLst>
            </p:cNvPr>
            <p:cNvSpPr txBox="1"/>
            <p:nvPr/>
          </p:nvSpPr>
          <p:spPr>
            <a:xfrm>
              <a:off x="5556271" y="399764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kumimoji="1" lang="zh-CN" alt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D6E3A45-0BD1-ED4A-4FCB-9375ECCE7FFD}"/>
                </a:ext>
              </a:extLst>
            </p:cNvPr>
            <p:cNvSpPr txBox="1"/>
            <p:nvPr/>
          </p:nvSpPr>
          <p:spPr>
            <a:xfrm>
              <a:off x="6818754" y="399764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  <a:endParaRPr kumimoji="1" lang="zh-CN" alt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ABCC529-B8A7-74B4-F5E8-C87F9FD98916}"/>
                </a:ext>
              </a:extLst>
            </p:cNvPr>
            <p:cNvSpPr txBox="1"/>
            <p:nvPr/>
          </p:nvSpPr>
          <p:spPr>
            <a:xfrm>
              <a:off x="8153400" y="399764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  <a:endParaRPr kumimoji="1" lang="zh-CN" alt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65B524F5-5563-9314-CD33-2BAD60067D79}"/>
                </a:ext>
              </a:extLst>
            </p:cNvPr>
            <p:cNvSpPr txBox="1"/>
            <p:nvPr/>
          </p:nvSpPr>
          <p:spPr>
            <a:xfrm>
              <a:off x="1977554" y="3997640"/>
              <a:ext cx="8796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Index: </a:t>
              </a:r>
              <a:endParaRPr kumimoji="1" lang="zh-CN" alt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7A6497F4-FFF5-D2EC-682C-81E768C80836}"/>
              </a:ext>
            </a:extLst>
          </p:cNvPr>
          <p:cNvGrpSpPr/>
          <p:nvPr/>
        </p:nvGrpSpPr>
        <p:grpSpPr>
          <a:xfrm>
            <a:off x="7750356" y="2326269"/>
            <a:ext cx="4171185" cy="3927900"/>
            <a:chOff x="7750356" y="2326269"/>
            <a:chExt cx="4171185" cy="3927900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133A6E1-69A6-EB7E-E397-4C3010E57F9F}"/>
                </a:ext>
              </a:extLst>
            </p:cNvPr>
            <p:cNvSpPr/>
            <p:nvPr/>
          </p:nvSpPr>
          <p:spPr>
            <a:xfrm>
              <a:off x="9468217" y="3404138"/>
              <a:ext cx="471340" cy="4713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72B62F9-28E9-EA02-0E18-E6E4B849AB73}"/>
                </a:ext>
              </a:extLst>
            </p:cNvPr>
            <p:cNvSpPr txBox="1"/>
            <p:nvPr/>
          </p:nvSpPr>
          <p:spPr>
            <a:xfrm>
              <a:off x="9419193" y="3506287"/>
              <a:ext cx="5693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[0,1]</a:t>
              </a:r>
              <a:endParaRPr kumimoji="1" lang="zh-CN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F2A64D3-2939-6BA3-8A9E-B42E7917F47D}"/>
                </a:ext>
              </a:extLst>
            </p:cNvPr>
            <p:cNvSpPr txBox="1"/>
            <p:nvPr/>
          </p:nvSpPr>
          <p:spPr>
            <a:xfrm>
              <a:off x="9803651" y="2326269"/>
              <a:ext cx="16106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Column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index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2E19330-57BD-5FDE-6B06-C3F63DEF2558}"/>
                </a:ext>
              </a:extLst>
            </p:cNvPr>
            <p:cNvSpPr/>
            <p:nvPr/>
          </p:nvSpPr>
          <p:spPr>
            <a:xfrm>
              <a:off x="9945541" y="3404138"/>
              <a:ext cx="471340" cy="4713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2669D58-A687-3D6D-3BE8-F271BCD758B0}"/>
                </a:ext>
              </a:extLst>
            </p:cNvPr>
            <p:cNvSpPr/>
            <p:nvPr/>
          </p:nvSpPr>
          <p:spPr>
            <a:xfrm>
              <a:off x="10419084" y="3404138"/>
              <a:ext cx="471340" cy="4713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7587E49-2B39-5CEF-70ED-D456D27BB02D}"/>
                </a:ext>
              </a:extLst>
            </p:cNvPr>
            <p:cNvSpPr/>
            <p:nvPr/>
          </p:nvSpPr>
          <p:spPr>
            <a:xfrm>
              <a:off x="10895116" y="3404138"/>
              <a:ext cx="471340" cy="4713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61F568F-AFDF-62EB-82C1-6182C52FE0B3}"/>
                </a:ext>
              </a:extLst>
            </p:cNvPr>
            <p:cNvSpPr/>
            <p:nvPr/>
          </p:nvSpPr>
          <p:spPr>
            <a:xfrm>
              <a:off x="11366456" y="3404138"/>
              <a:ext cx="471340" cy="4713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234B845-DC3D-710B-E971-3DDBC40C8E0D}"/>
                </a:ext>
              </a:extLst>
            </p:cNvPr>
            <p:cNvSpPr txBox="1"/>
            <p:nvPr/>
          </p:nvSpPr>
          <p:spPr>
            <a:xfrm>
              <a:off x="9531488" y="2965078"/>
              <a:ext cx="22188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    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    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    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    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C562CD5-92A8-AF10-3318-E8431ED87B3B}"/>
                </a:ext>
              </a:extLst>
            </p:cNvPr>
            <p:cNvSpPr/>
            <p:nvPr/>
          </p:nvSpPr>
          <p:spPr>
            <a:xfrm>
              <a:off x="8987479" y="3409436"/>
              <a:ext cx="471340" cy="4713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983DBA9-6F51-F94A-A8B9-C4BB69E0F20E}"/>
                </a:ext>
              </a:extLst>
            </p:cNvPr>
            <p:cNvSpPr txBox="1"/>
            <p:nvPr/>
          </p:nvSpPr>
          <p:spPr>
            <a:xfrm>
              <a:off x="9045917" y="297558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kumimoji="1" lang="zh-CN" altLang="en-US" sz="2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2CDFF54-A0AB-52D7-EB99-316AA1797EAE}"/>
                </a:ext>
              </a:extLst>
            </p:cNvPr>
            <p:cNvSpPr txBox="1"/>
            <p:nvPr/>
          </p:nvSpPr>
          <p:spPr>
            <a:xfrm>
              <a:off x="7750356" y="4383084"/>
              <a:ext cx="74821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Row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endPara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index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A674DD9-BA46-3D85-8EE7-A72CF5ACAB67}"/>
                </a:ext>
              </a:extLst>
            </p:cNvPr>
            <p:cNvSpPr txBox="1"/>
            <p:nvPr/>
          </p:nvSpPr>
          <p:spPr>
            <a:xfrm>
              <a:off x="9164695" y="2705578"/>
              <a:ext cx="5020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Book</a:t>
              </a:r>
              <a:endParaRPr kumimoji="1"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DEDCF54-2CD8-B856-6E9E-F3C2CD18CF62}"/>
                </a:ext>
              </a:extLst>
            </p:cNvPr>
            <p:cNvSpPr txBox="1"/>
            <p:nvPr/>
          </p:nvSpPr>
          <p:spPr>
            <a:xfrm>
              <a:off x="8505455" y="3455242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kumimoji="1" lang="zh-CN" altLang="en-US" sz="2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834DD0E-26A9-A0DC-D9DA-290E721C1862}"/>
                </a:ext>
              </a:extLst>
            </p:cNvPr>
            <p:cNvSpPr/>
            <p:nvPr/>
          </p:nvSpPr>
          <p:spPr>
            <a:xfrm>
              <a:off x="9945541" y="3880776"/>
              <a:ext cx="471340" cy="4713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455DBA25-F06A-B855-D6EB-436105730409}"/>
                </a:ext>
              </a:extLst>
            </p:cNvPr>
            <p:cNvSpPr/>
            <p:nvPr/>
          </p:nvSpPr>
          <p:spPr>
            <a:xfrm>
              <a:off x="10419084" y="3882626"/>
              <a:ext cx="471340" cy="4713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EF6F9D15-147E-ECC4-2423-F9E908D311C8}"/>
                </a:ext>
              </a:extLst>
            </p:cNvPr>
            <p:cNvSpPr/>
            <p:nvPr/>
          </p:nvSpPr>
          <p:spPr>
            <a:xfrm>
              <a:off x="10895116" y="3882626"/>
              <a:ext cx="471340" cy="4713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29801D24-6082-EBE5-73F3-66C5395FF292}"/>
                </a:ext>
              </a:extLst>
            </p:cNvPr>
            <p:cNvSpPr/>
            <p:nvPr/>
          </p:nvSpPr>
          <p:spPr>
            <a:xfrm>
              <a:off x="11366456" y="3882626"/>
              <a:ext cx="471340" cy="4713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4C52426-8B75-750E-BC8A-CF0165760E94}"/>
                </a:ext>
              </a:extLst>
            </p:cNvPr>
            <p:cNvSpPr/>
            <p:nvPr/>
          </p:nvSpPr>
          <p:spPr>
            <a:xfrm>
              <a:off x="9466014" y="3880717"/>
              <a:ext cx="471340" cy="4713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484881D5-CD1E-420E-3AE1-C1E8E46A31FE}"/>
                </a:ext>
              </a:extLst>
            </p:cNvPr>
            <p:cNvSpPr/>
            <p:nvPr/>
          </p:nvSpPr>
          <p:spPr>
            <a:xfrm>
              <a:off x="9945541" y="4359264"/>
              <a:ext cx="471340" cy="4713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1BA30F6-3CED-E703-D01D-8952AD3D240C}"/>
                </a:ext>
              </a:extLst>
            </p:cNvPr>
            <p:cNvSpPr/>
            <p:nvPr/>
          </p:nvSpPr>
          <p:spPr>
            <a:xfrm>
              <a:off x="10422579" y="4359264"/>
              <a:ext cx="471340" cy="4713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E2490CFC-F18B-5395-6AEE-856E5ACDAA4A}"/>
                </a:ext>
              </a:extLst>
            </p:cNvPr>
            <p:cNvSpPr/>
            <p:nvPr/>
          </p:nvSpPr>
          <p:spPr>
            <a:xfrm>
              <a:off x="10898611" y="4359264"/>
              <a:ext cx="471340" cy="4713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26692B36-E641-4BD0-E3FD-DB4BD40F364C}"/>
                </a:ext>
              </a:extLst>
            </p:cNvPr>
            <p:cNvSpPr/>
            <p:nvPr/>
          </p:nvSpPr>
          <p:spPr>
            <a:xfrm>
              <a:off x="11369951" y="4359264"/>
              <a:ext cx="471340" cy="4713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8CDB7573-CF96-0030-E07A-41EE77134BBF}"/>
                </a:ext>
              </a:extLst>
            </p:cNvPr>
            <p:cNvSpPr/>
            <p:nvPr/>
          </p:nvSpPr>
          <p:spPr>
            <a:xfrm>
              <a:off x="10427271" y="4837752"/>
              <a:ext cx="471340" cy="4713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18052EFA-347F-8CAC-A337-099E0E9817A9}"/>
                </a:ext>
              </a:extLst>
            </p:cNvPr>
            <p:cNvSpPr/>
            <p:nvPr/>
          </p:nvSpPr>
          <p:spPr>
            <a:xfrm>
              <a:off x="10898611" y="4830604"/>
              <a:ext cx="471340" cy="4713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B316D8FF-CBA9-7C24-07F4-976D4ECF9A3B}"/>
                </a:ext>
              </a:extLst>
            </p:cNvPr>
            <p:cNvSpPr/>
            <p:nvPr/>
          </p:nvSpPr>
          <p:spPr>
            <a:xfrm>
              <a:off x="11369951" y="4830604"/>
              <a:ext cx="471340" cy="4713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3E41D8F-07FF-9982-4097-76D919D31902}"/>
                </a:ext>
              </a:extLst>
            </p:cNvPr>
            <p:cNvSpPr/>
            <p:nvPr/>
          </p:nvSpPr>
          <p:spPr>
            <a:xfrm>
              <a:off x="11369809" y="5309092"/>
              <a:ext cx="471340" cy="4713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72860B60-4DC3-7D9B-E016-12FCAAD91EB5}"/>
                </a:ext>
              </a:extLst>
            </p:cNvPr>
            <p:cNvSpPr/>
            <p:nvPr/>
          </p:nvSpPr>
          <p:spPr>
            <a:xfrm>
              <a:off x="10898540" y="5304341"/>
              <a:ext cx="471340" cy="4713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9B9B5CAC-F3DB-9544-51B4-34EB251DF2A2}"/>
                </a:ext>
              </a:extLst>
            </p:cNvPr>
            <p:cNvSpPr/>
            <p:nvPr/>
          </p:nvSpPr>
          <p:spPr>
            <a:xfrm>
              <a:off x="11366456" y="5782829"/>
              <a:ext cx="471340" cy="4713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8A49BEDA-BED0-0A4B-F891-2E2091FBEA50}"/>
                </a:ext>
              </a:extLst>
            </p:cNvPr>
            <p:cNvSpPr txBox="1"/>
            <p:nvPr/>
          </p:nvSpPr>
          <p:spPr>
            <a:xfrm>
              <a:off x="8505455" y="3916778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7E3F064-21C7-D14A-4F26-269963B5AC48}"/>
                </a:ext>
              </a:extLst>
            </p:cNvPr>
            <p:cNvSpPr txBox="1"/>
            <p:nvPr/>
          </p:nvSpPr>
          <p:spPr>
            <a:xfrm>
              <a:off x="8504272" y="4383084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B305475F-2819-C273-4864-15521B215233}"/>
                </a:ext>
              </a:extLst>
            </p:cNvPr>
            <p:cNvSpPr txBox="1"/>
            <p:nvPr/>
          </p:nvSpPr>
          <p:spPr>
            <a:xfrm>
              <a:off x="8517411" y="4844620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FEC3C777-B928-859A-8FF7-89614A902F7F}"/>
                </a:ext>
              </a:extLst>
            </p:cNvPr>
            <p:cNvSpPr txBox="1"/>
            <p:nvPr/>
          </p:nvSpPr>
          <p:spPr>
            <a:xfrm>
              <a:off x="8521069" y="5308362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F9A44055-F169-8020-69E7-38A6940F2FE3}"/>
                </a:ext>
              </a:extLst>
            </p:cNvPr>
            <p:cNvSpPr txBox="1"/>
            <p:nvPr/>
          </p:nvSpPr>
          <p:spPr>
            <a:xfrm>
              <a:off x="8524762" y="576722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FAB98141-83BC-B59A-4140-8ACF619E6CD3}"/>
                </a:ext>
              </a:extLst>
            </p:cNvPr>
            <p:cNvSpPr txBox="1"/>
            <p:nvPr/>
          </p:nvSpPr>
          <p:spPr>
            <a:xfrm>
              <a:off x="9699440" y="2712809"/>
              <a:ext cx="3738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endParaRPr kumimoji="1"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D8445FA-36AE-6BD2-E493-FB0CB54C93B3}"/>
                </a:ext>
              </a:extLst>
            </p:cNvPr>
            <p:cNvSpPr txBox="1"/>
            <p:nvPr/>
          </p:nvSpPr>
          <p:spPr>
            <a:xfrm>
              <a:off x="10152463" y="2707937"/>
              <a:ext cx="5116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flight</a:t>
              </a:r>
              <a:endParaRPr kumimoji="1"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15E36F04-96AA-CE17-BFC8-BCB1A7591797}"/>
                </a:ext>
              </a:extLst>
            </p:cNvPr>
            <p:cNvSpPr txBox="1"/>
            <p:nvPr/>
          </p:nvSpPr>
          <p:spPr>
            <a:xfrm>
              <a:off x="10592137" y="2706901"/>
              <a:ext cx="6662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through</a:t>
              </a:r>
              <a:endParaRPr kumimoji="1"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C5405E21-5834-B274-167E-89F97BD300B4}"/>
                </a:ext>
              </a:extLst>
            </p:cNvPr>
            <p:cNvSpPr txBox="1"/>
            <p:nvPr/>
          </p:nvSpPr>
          <p:spPr>
            <a:xfrm>
              <a:off x="11215899" y="2701649"/>
              <a:ext cx="7056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Houston</a:t>
              </a:r>
              <a:endParaRPr kumimoji="1"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日期占位符 51">
            <a:extLst>
              <a:ext uri="{FF2B5EF4-FFF2-40B4-BE49-F238E27FC236}">
                <a16:creationId xmlns:a16="http://schemas.microsoft.com/office/drawing/2014/main" id="{3BEDB2C9-E6C9-8C5F-4F78-B71CF84F1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42C04262-5D03-5767-9E00-6B1791A2E152}"/>
                  </a:ext>
                </a:extLst>
              </p:cNvPr>
              <p:cNvSpPr txBox="1"/>
              <p:nvPr/>
            </p:nvSpPr>
            <p:spPr>
              <a:xfrm>
                <a:off x="1002030" y="4288871"/>
                <a:ext cx="607314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Ex.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Cell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[0,3]</m:t>
                    </m:r>
                  </m:oMath>
                </a14:m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contains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set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non-terminals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all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constituents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spanning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endPara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42C04262-5D03-5767-9E00-6B1791A2E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030" y="4288871"/>
                <a:ext cx="6073140" cy="830997"/>
              </a:xfrm>
              <a:prstGeom prst="rect">
                <a:avLst/>
              </a:prstGeom>
              <a:blipFill>
                <a:blip r:embed="rId3"/>
                <a:stretch>
                  <a:fillRect l="-1458" t="-2985" b="-149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本框 53">
            <a:extLst>
              <a:ext uri="{FF2B5EF4-FFF2-40B4-BE49-F238E27FC236}">
                <a16:creationId xmlns:a16="http://schemas.microsoft.com/office/drawing/2014/main" id="{5ADBE88A-B671-F9FD-BFF2-2BECC1B199B6}"/>
              </a:ext>
            </a:extLst>
          </p:cNvPr>
          <p:cNvSpPr txBox="1"/>
          <p:nvPr/>
        </p:nvSpPr>
        <p:spPr>
          <a:xfrm>
            <a:off x="1000415" y="5381953"/>
            <a:ext cx="6073140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Fill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parse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correctly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bottom-up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way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301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70C01C-5AA5-8676-5A4B-9B0D8BBEC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CKY Recognition: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Task</a:t>
            </a:r>
            <a:r>
              <a:rPr kumimoji="1" lang="zh-CN" altLang="en-US" dirty="0"/>
              <a:t> </a:t>
            </a:r>
            <a:r>
              <a:rPr kumimoji="1" lang="en-US" altLang="zh-CN" dirty="0"/>
              <a:t>breakdown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1E7AEC-5879-5952-76A9-C7D9D85583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79270"/>
                <a:ext cx="10515600" cy="4577080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CN" sz="2400" dirty="0"/>
                  <a:t>Because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grammar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b="1" dirty="0"/>
                  <a:t>CNF</a:t>
                </a:r>
                <a:r>
                  <a:rPr kumimoji="1" lang="zh-CN" altLang="en-US" sz="2400" dirty="0"/>
                  <a:t> ⇒ </a:t>
                </a:r>
                <a:r>
                  <a:rPr kumimoji="1" lang="en-US" altLang="zh-CN" sz="2400" dirty="0"/>
                  <a:t>each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non-terminal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entry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has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exactly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b="1" dirty="0"/>
                  <a:t>two</a:t>
                </a:r>
                <a:r>
                  <a:rPr kumimoji="1" lang="zh-CN" altLang="en-US" sz="2400" b="1" dirty="0"/>
                  <a:t> </a:t>
                </a:r>
                <a:r>
                  <a:rPr kumimoji="1" lang="en-US" altLang="zh-CN" sz="2400" b="1" dirty="0"/>
                  <a:t>children</a:t>
                </a:r>
                <a:r>
                  <a:rPr kumimoji="1" lang="en-US" altLang="zh-CN" sz="2400" dirty="0"/>
                  <a:t>.</a:t>
                </a:r>
              </a:p>
              <a:p>
                <a:r>
                  <a:rPr kumimoji="1" lang="en-US" altLang="zh-CN" sz="2400" dirty="0"/>
                  <a:t>For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each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constituent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represented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entry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en-US" altLang="zh-CN" sz="2400" dirty="0"/>
                  <a:t>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there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must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position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input,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en-US" altLang="zh-CN" sz="2400" dirty="0"/>
                  <a:t>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where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can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split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into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two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parts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sz="2400" dirty="0"/>
              </a:p>
              <a:p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first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component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left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of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en-US" altLang="zh-CN" sz="2400" dirty="0"/>
                  <a:t>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same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row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kumimoji="1" lang="en-US" altLang="zh-CN" sz="2400" dirty="0"/>
              </a:p>
              <a:p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second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component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beneath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en-US" altLang="zh-CN" sz="2400" dirty="0"/>
                  <a:t>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same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column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kumimoji="1" lang="en-US" altLang="zh-CN" sz="2400" dirty="0"/>
              </a:p>
              <a:p>
                <a:endParaRPr kumimoji="1" lang="en-US" altLang="zh-CN" sz="2400" dirty="0"/>
              </a:p>
              <a:p>
                <a:r>
                  <a:rPr kumimoji="1" lang="en-US" altLang="zh-CN" sz="2400" dirty="0"/>
                  <a:t>Then,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b="1" dirty="0">
                    <a:solidFill>
                      <a:srgbClr val="0070C0"/>
                    </a:solidFill>
                  </a:rPr>
                  <a:t>combination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of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and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for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all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possible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kumimoji="1" lang="en-US" altLang="zh-CN" sz="2400" dirty="0"/>
              </a:p>
              <a:p>
                <a:endParaRPr kumimoji="1" lang="en-US" altLang="zh-CN" sz="2400" dirty="0"/>
              </a:p>
              <a:p>
                <a:endParaRPr kumimoji="1" lang="en-US" altLang="zh-CN" sz="2400" dirty="0"/>
              </a:p>
              <a:p>
                <a:r>
                  <a:rPr kumimoji="1" lang="en-US" altLang="zh-CN" sz="2400" dirty="0"/>
                  <a:t>Very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typical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dynamic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programming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approach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-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i="1" dirty="0"/>
                  <a:t>optimal</a:t>
                </a:r>
                <a:r>
                  <a:rPr kumimoji="1" lang="zh-CN" altLang="en-US" sz="2400" i="1" dirty="0"/>
                  <a:t> </a:t>
                </a:r>
                <a:r>
                  <a:rPr kumimoji="1" lang="en-US" altLang="zh-CN" sz="2400" i="1" dirty="0"/>
                  <a:t>substructure</a:t>
                </a:r>
                <a:endParaRPr kumimoji="1" lang="zh-CN" altLang="en-US" sz="2400" i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1E7AEC-5879-5952-76A9-C7D9D85583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79270"/>
                <a:ext cx="10515600" cy="4577080"/>
              </a:xfrm>
              <a:blipFill>
                <a:blip r:embed="rId2"/>
                <a:stretch>
                  <a:fillRect l="-844" t="-16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AC6F3D-1A24-6EAD-5F92-F7FA11CA2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1BD11D-BC5B-742C-1A13-96AF8263B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31CC5-AFF2-8613-C2E0-30A54640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26</a:t>
            </a:fld>
            <a:endParaRPr kumimoji="1"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FDDB372-AED3-8D5E-6523-1C673D8F356E}"/>
              </a:ext>
            </a:extLst>
          </p:cNvPr>
          <p:cNvGrpSpPr/>
          <p:nvPr/>
        </p:nvGrpSpPr>
        <p:grpSpPr>
          <a:xfrm>
            <a:off x="1098742" y="4286936"/>
            <a:ext cx="8883458" cy="1183698"/>
            <a:chOff x="1098742" y="4286936"/>
            <a:chExt cx="8883458" cy="1183698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DDBF843-7EA1-182D-5F55-DE57AB7AE214}"/>
                </a:ext>
              </a:extLst>
            </p:cNvPr>
            <p:cNvSpPr txBox="1"/>
            <p:nvPr/>
          </p:nvSpPr>
          <p:spPr>
            <a:xfrm>
              <a:off x="1098742" y="5008969"/>
              <a:ext cx="88834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In</a:t>
              </a:r>
              <a:r>
                <a: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order</a:t>
              </a:r>
              <a:r>
                <a: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to</a:t>
              </a:r>
              <a:r>
                <a: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solve</a:t>
              </a:r>
              <a:r>
                <a: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the</a:t>
              </a:r>
              <a:r>
                <a: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400" b="1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problem</a:t>
              </a:r>
              <a:r>
                <a:rPr kumimoji="1" lang="en-US" altLang="zh-CN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,</a:t>
              </a:r>
              <a:r>
                <a: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we</a:t>
              </a:r>
              <a:r>
                <a: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need</a:t>
              </a:r>
              <a:r>
                <a: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to</a:t>
              </a:r>
              <a:r>
                <a: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solve</a:t>
              </a:r>
              <a:r>
                <a: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400" b="1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smaller</a:t>
              </a:r>
              <a:r>
                <a:rPr kumimoji="1" lang="zh-CN" altLang="en-US" sz="2400" b="1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400" b="1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problems</a:t>
              </a:r>
              <a:r>
                <a:rPr kumimoji="1" lang="zh-CN" altLang="en-US" sz="2400" b="1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first</a:t>
              </a:r>
              <a:endPara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直线箭头连接符 8">
              <a:extLst>
                <a:ext uri="{FF2B5EF4-FFF2-40B4-BE49-F238E27FC236}">
                  <a16:creationId xmlns:a16="http://schemas.microsoft.com/office/drawing/2014/main" id="{00F21FE2-FA3A-AC1F-F87A-B8BDFD3230DD}"/>
                </a:ext>
              </a:extLst>
            </p:cNvPr>
            <p:cNvCxnSpPr/>
            <p:nvPr/>
          </p:nvCxnSpPr>
          <p:spPr>
            <a:xfrm flipH="1" flipV="1">
              <a:off x="2395242" y="4822853"/>
              <a:ext cx="1796432" cy="267037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箭头连接符 9">
              <a:extLst>
                <a:ext uri="{FF2B5EF4-FFF2-40B4-BE49-F238E27FC236}">
                  <a16:creationId xmlns:a16="http://schemas.microsoft.com/office/drawing/2014/main" id="{F8A109A8-D92F-5FFA-F120-FC559D34C4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40471" y="4782393"/>
              <a:ext cx="1871833" cy="307497"/>
            </a:xfrm>
            <a:prstGeom prst="straightConnector1">
              <a:avLst/>
            </a:prstGeom>
            <a:ln w="127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箭头连接符 12">
              <a:extLst>
                <a:ext uri="{FF2B5EF4-FFF2-40B4-BE49-F238E27FC236}">
                  <a16:creationId xmlns:a16="http://schemas.microsoft.com/office/drawing/2014/main" id="{37F79FCA-1FCC-8688-C24E-927FAFEEDE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5402" y="4782393"/>
              <a:ext cx="606902" cy="307497"/>
            </a:xfrm>
            <a:prstGeom prst="straightConnector1">
              <a:avLst/>
            </a:prstGeom>
            <a:ln w="127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762EBB38-A434-4033-D7AF-301DC5D3EB8C}"/>
                </a:ext>
              </a:extLst>
            </p:cNvPr>
            <p:cNvSpPr/>
            <p:nvPr/>
          </p:nvSpPr>
          <p:spPr>
            <a:xfrm>
              <a:off x="1833520" y="4286936"/>
              <a:ext cx="752559" cy="590718"/>
            </a:xfrm>
            <a:prstGeom prst="ellipse">
              <a:avLst/>
            </a:prstGeom>
            <a:solidFill>
              <a:srgbClr val="C00000">
                <a:alpha val="40000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E45B1DB-EBE1-B1E1-B599-535BA79DF26A}"/>
                </a:ext>
              </a:extLst>
            </p:cNvPr>
            <p:cNvSpPr/>
            <p:nvPr/>
          </p:nvSpPr>
          <p:spPr>
            <a:xfrm>
              <a:off x="5164191" y="4286936"/>
              <a:ext cx="752559" cy="590718"/>
            </a:xfrm>
            <a:prstGeom prst="ellipse">
              <a:avLst/>
            </a:prstGeom>
            <a:solidFill>
              <a:srgbClr val="7030A0">
                <a:alpha val="4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02379A12-CFBD-D52D-DD52-49745B94089D}"/>
                </a:ext>
              </a:extLst>
            </p:cNvPr>
            <p:cNvSpPr/>
            <p:nvPr/>
          </p:nvSpPr>
          <p:spPr>
            <a:xfrm>
              <a:off x="6416309" y="4286936"/>
              <a:ext cx="752559" cy="590718"/>
            </a:xfrm>
            <a:prstGeom prst="ellipse">
              <a:avLst/>
            </a:prstGeom>
            <a:solidFill>
              <a:srgbClr val="7030A0">
                <a:alpha val="4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A528EF3-0BA4-03C1-DBA7-A26B2B9C4A68}"/>
                  </a:ext>
                </a:extLst>
              </p:cNvPr>
              <p:cNvSpPr txBox="1"/>
              <p:nvPr/>
            </p:nvSpPr>
            <p:spPr>
              <a:xfrm>
                <a:off x="9528590" y="3927648"/>
                <a:ext cx="2556630" cy="101566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smallest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problems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[</m:t>
                    </m:r>
                    <m:r>
                      <a:rPr kumimoji="1" lang="en-US" altLang="zh-CN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  <m:r>
                      <a:rPr kumimoji="1" lang="en-US" altLang="zh-CN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−1, </m:t>
                    </m:r>
                    <m:r>
                      <a:rPr kumimoji="1" lang="en-US" altLang="zh-CN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  <m:r>
                      <a:rPr kumimoji="1" lang="en-US" altLang="zh-CN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]</m:t>
                    </m:r>
                  </m:oMath>
                </a14:m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i.e.,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spans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single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word</a:t>
                </a:r>
                <a:endPara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A528EF3-0BA4-03C1-DBA7-A26B2B9C4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590" y="3927648"/>
                <a:ext cx="2556630" cy="1015663"/>
              </a:xfrm>
              <a:prstGeom prst="rect">
                <a:avLst/>
              </a:prstGeom>
              <a:blipFill>
                <a:blip r:embed="rId3"/>
                <a:stretch>
                  <a:fillRect l="-2475" t="-3704" r="-495" b="-8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319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046EF-B5AC-4131-2614-73976453E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17" y="136525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CKY Recognition: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E85E98-35B7-EA3E-61E4-8653DAD55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74BF5D-E1BE-8C60-6DF9-9D10D4E3C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130A18-FB01-C0A4-79CB-224CA450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27</a:t>
            </a:fld>
            <a:endParaRPr kumimoji="1" lang="zh-CN" altLang="en-US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24C3F6B-D8F8-F8A7-A977-4FCBB2BDDFCF}"/>
              </a:ext>
            </a:extLst>
          </p:cNvPr>
          <p:cNvGrpSpPr/>
          <p:nvPr/>
        </p:nvGrpSpPr>
        <p:grpSpPr>
          <a:xfrm>
            <a:off x="724323" y="1630961"/>
            <a:ext cx="4128479" cy="627746"/>
            <a:chOff x="724323" y="1630961"/>
            <a:chExt cx="4128479" cy="627746"/>
          </a:xfrm>
        </p:grpSpPr>
        <p:sp>
          <p:nvSpPr>
            <p:cNvPr id="35" name="圆角矩形 34">
              <a:extLst>
                <a:ext uri="{FF2B5EF4-FFF2-40B4-BE49-F238E27FC236}">
                  <a16:creationId xmlns:a16="http://schemas.microsoft.com/office/drawing/2014/main" id="{754078C8-892B-56B7-A8B6-83EF80282AF6}"/>
                </a:ext>
              </a:extLst>
            </p:cNvPr>
            <p:cNvSpPr/>
            <p:nvPr/>
          </p:nvSpPr>
          <p:spPr>
            <a:xfrm>
              <a:off x="724323" y="1653643"/>
              <a:ext cx="4128479" cy="60506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CCFE8BD-187A-C7AF-5CC7-277A1E3CA827}"/>
                </a:ext>
              </a:extLst>
            </p:cNvPr>
            <p:cNvGrpSpPr/>
            <p:nvPr/>
          </p:nvGrpSpPr>
          <p:grpSpPr>
            <a:xfrm>
              <a:off x="724324" y="1630961"/>
              <a:ext cx="3893227" cy="605064"/>
              <a:chOff x="1977554" y="3792686"/>
              <a:chExt cx="3893227" cy="605064"/>
            </a:xfrm>
          </p:grpSpPr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613788E-29BA-A9A2-2D86-0E183C387DA2}"/>
                  </a:ext>
                </a:extLst>
              </p:cNvPr>
              <p:cNvSpPr txBox="1"/>
              <p:nvPr/>
            </p:nvSpPr>
            <p:spPr>
              <a:xfrm>
                <a:off x="3241964" y="3792686"/>
                <a:ext cx="24545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Book    the    flight</a:t>
                </a:r>
                <a:endParaRPr kumimoji="1"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5AF28A1-CB3E-B63E-7643-B7374F9DBB9F}"/>
                  </a:ext>
                </a:extLst>
              </p:cNvPr>
              <p:cNvSpPr txBox="1"/>
              <p:nvPr/>
            </p:nvSpPr>
            <p:spPr>
              <a:xfrm>
                <a:off x="2927454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1D008B0-4416-6BB5-C62D-8D7290289AFD}"/>
                  </a:ext>
                </a:extLst>
              </p:cNvPr>
              <p:cNvSpPr txBox="1"/>
              <p:nvPr/>
            </p:nvSpPr>
            <p:spPr>
              <a:xfrm>
                <a:off x="3961003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DBDF0F0-FE0D-618D-787E-3138D5792FE5}"/>
                  </a:ext>
                </a:extLst>
              </p:cNvPr>
              <p:cNvSpPr txBox="1"/>
              <p:nvPr/>
            </p:nvSpPr>
            <p:spPr>
              <a:xfrm>
                <a:off x="4590023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57675FD-F91C-D783-2650-8E882B5591B9}"/>
                  </a:ext>
                </a:extLst>
              </p:cNvPr>
              <p:cNvSpPr txBox="1"/>
              <p:nvPr/>
            </p:nvSpPr>
            <p:spPr>
              <a:xfrm>
                <a:off x="5556271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8616AB6-7059-7F63-CAF4-57AFC6EA635F}"/>
                  </a:ext>
                </a:extLst>
              </p:cNvPr>
              <p:cNvSpPr txBox="1"/>
              <p:nvPr/>
            </p:nvSpPr>
            <p:spPr>
              <a:xfrm>
                <a:off x="1977554" y="3997640"/>
                <a:ext cx="8796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Index: 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DFD37729-D886-2E58-F4FC-11219C4A5507}"/>
              </a:ext>
            </a:extLst>
          </p:cNvPr>
          <p:cNvSpPr/>
          <p:nvPr/>
        </p:nvSpPr>
        <p:spPr>
          <a:xfrm>
            <a:off x="2301071" y="3299402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8C163E-FF22-5431-1ADD-06972C8053D4}"/>
              </a:ext>
            </a:extLst>
          </p:cNvPr>
          <p:cNvSpPr/>
          <p:nvPr/>
        </p:nvSpPr>
        <p:spPr>
          <a:xfrm>
            <a:off x="3728441" y="3299402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37C202-0B70-8F78-9FA2-5DC587AF0F18}"/>
              </a:ext>
            </a:extLst>
          </p:cNvPr>
          <p:cNvSpPr/>
          <p:nvPr/>
        </p:nvSpPr>
        <p:spPr>
          <a:xfrm>
            <a:off x="3007415" y="3299402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8E86F74-366B-B793-405B-86BDE5CFDE4D}"/>
              </a:ext>
            </a:extLst>
          </p:cNvPr>
          <p:cNvSpPr txBox="1"/>
          <p:nvPr/>
        </p:nvSpPr>
        <p:spPr>
          <a:xfrm>
            <a:off x="2471473" y="28657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9EC231-33A2-AF2F-7927-690605D60AD4}"/>
              </a:ext>
            </a:extLst>
          </p:cNvPr>
          <p:cNvSpPr/>
          <p:nvPr/>
        </p:nvSpPr>
        <p:spPr>
          <a:xfrm>
            <a:off x="1575810" y="3304700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354129-CB47-3806-49B5-7A18552BA775}"/>
              </a:ext>
            </a:extLst>
          </p:cNvPr>
          <p:cNvSpPr txBox="1"/>
          <p:nvPr/>
        </p:nvSpPr>
        <p:spPr>
          <a:xfrm>
            <a:off x="1741713" y="286305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20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5708FAE-8879-FBA6-3CD5-B3190E037874}"/>
              </a:ext>
            </a:extLst>
          </p:cNvPr>
          <p:cNvSpPr txBox="1"/>
          <p:nvPr/>
        </p:nvSpPr>
        <p:spPr>
          <a:xfrm>
            <a:off x="2328899" y="2586951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22F5A1-A4C4-025A-6E0F-C45B3E912718}"/>
              </a:ext>
            </a:extLst>
          </p:cNvPr>
          <p:cNvSpPr txBox="1"/>
          <p:nvPr/>
        </p:nvSpPr>
        <p:spPr>
          <a:xfrm>
            <a:off x="1092604" y="3450115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20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020231A-06AC-2499-75D4-AE0D7A8B39BD}"/>
              </a:ext>
            </a:extLst>
          </p:cNvPr>
          <p:cNvSpPr/>
          <p:nvPr/>
        </p:nvSpPr>
        <p:spPr>
          <a:xfrm>
            <a:off x="3007414" y="4009979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95BCB0B-CB9A-FE5D-48C4-17A71A0510F4}"/>
              </a:ext>
            </a:extLst>
          </p:cNvPr>
          <p:cNvSpPr/>
          <p:nvPr/>
        </p:nvSpPr>
        <p:spPr>
          <a:xfrm>
            <a:off x="3732675" y="4020589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43568E5-043A-71AD-630E-248959E31FF8}"/>
              </a:ext>
            </a:extLst>
          </p:cNvPr>
          <p:cNvSpPr/>
          <p:nvPr/>
        </p:nvSpPr>
        <p:spPr>
          <a:xfrm>
            <a:off x="2291886" y="4020589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9458340-2DB4-F297-CA2D-F078AFE98847}"/>
              </a:ext>
            </a:extLst>
          </p:cNvPr>
          <p:cNvSpPr/>
          <p:nvPr/>
        </p:nvSpPr>
        <p:spPr>
          <a:xfrm>
            <a:off x="3014405" y="4733015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78A14EF-FF0A-43E5-F1D2-A855E81D0F41}"/>
              </a:ext>
            </a:extLst>
          </p:cNvPr>
          <p:cNvSpPr/>
          <p:nvPr/>
        </p:nvSpPr>
        <p:spPr>
          <a:xfrm>
            <a:off x="3736924" y="4731166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F805FF9-FDDD-856D-FEC3-57455A9DA7BD}"/>
              </a:ext>
            </a:extLst>
          </p:cNvPr>
          <p:cNvSpPr/>
          <p:nvPr/>
        </p:nvSpPr>
        <p:spPr>
          <a:xfrm>
            <a:off x="3736924" y="5441743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D67A82E-E7FE-EC20-60C9-63937C07C837}"/>
              </a:ext>
            </a:extLst>
          </p:cNvPr>
          <p:cNvSpPr txBox="1"/>
          <p:nvPr/>
        </p:nvSpPr>
        <p:spPr>
          <a:xfrm>
            <a:off x="1093787" y="419918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D2B8CFD-EF19-F4C2-20D6-E87D4956C219}"/>
              </a:ext>
            </a:extLst>
          </p:cNvPr>
          <p:cNvSpPr txBox="1"/>
          <p:nvPr/>
        </p:nvSpPr>
        <p:spPr>
          <a:xfrm>
            <a:off x="1092604" y="492957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F787CE4-5186-9AD6-EB05-F9B4C768F9BA}"/>
              </a:ext>
            </a:extLst>
          </p:cNvPr>
          <p:cNvSpPr txBox="1"/>
          <p:nvPr/>
        </p:nvSpPr>
        <p:spPr>
          <a:xfrm>
            <a:off x="1092604" y="564296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5B16EB4-60CA-A8B7-ABD7-C9D85FFBC2C7}"/>
              </a:ext>
            </a:extLst>
          </p:cNvPr>
          <p:cNvSpPr txBox="1"/>
          <p:nvPr/>
        </p:nvSpPr>
        <p:spPr>
          <a:xfrm>
            <a:off x="3134654" y="258695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51F34BF-B56E-E297-E907-9BFF0A13DA5E}"/>
              </a:ext>
            </a:extLst>
          </p:cNvPr>
          <p:cNvSpPr txBox="1"/>
          <p:nvPr/>
        </p:nvSpPr>
        <p:spPr>
          <a:xfrm>
            <a:off x="3830945" y="2586950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D4AFFE7-4E93-9583-F690-1015E8FF7631}"/>
              </a:ext>
            </a:extLst>
          </p:cNvPr>
          <p:cNvSpPr txBox="1"/>
          <p:nvPr/>
        </p:nvSpPr>
        <p:spPr>
          <a:xfrm>
            <a:off x="3205447" y="28657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7A5BD51-68C8-EBC4-B601-65DCA221D1E2}"/>
              </a:ext>
            </a:extLst>
          </p:cNvPr>
          <p:cNvSpPr txBox="1"/>
          <p:nvPr/>
        </p:nvSpPr>
        <p:spPr>
          <a:xfrm>
            <a:off x="3934957" y="28657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9A06FA29-9E42-FCEA-20EA-5791DEB6B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020" y="683403"/>
            <a:ext cx="3296153" cy="495204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EBAB585A-CE43-B473-3CE7-457FF520E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020" y="5642961"/>
            <a:ext cx="3004647" cy="674400"/>
          </a:xfrm>
          <a:prstGeom prst="rect">
            <a:avLst/>
          </a:prstGeom>
        </p:spPr>
      </p:pic>
      <p:grpSp>
        <p:nvGrpSpPr>
          <p:cNvPr id="56" name="组合 55">
            <a:extLst>
              <a:ext uri="{FF2B5EF4-FFF2-40B4-BE49-F238E27FC236}">
                <a16:creationId xmlns:a16="http://schemas.microsoft.com/office/drawing/2014/main" id="{1E5F546B-239A-7063-2757-9CBE66D908BE}"/>
              </a:ext>
            </a:extLst>
          </p:cNvPr>
          <p:cNvGrpSpPr/>
          <p:nvPr/>
        </p:nvGrpSpPr>
        <p:grpSpPr>
          <a:xfrm>
            <a:off x="4928489" y="1610333"/>
            <a:ext cx="7076684" cy="4736176"/>
            <a:chOff x="4928489" y="1610333"/>
            <a:chExt cx="7076684" cy="473617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1244B2C-23CE-C20E-44A5-F1386E9F8150}"/>
                </a:ext>
              </a:extLst>
            </p:cNvPr>
            <p:cNvSpPr/>
            <p:nvPr/>
          </p:nvSpPr>
          <p:spPr>
            <a:xfrm>
              <a:off x="8579751" y="1610333"/>
              <a:ext cx="2804897" cy="243840"/>
            </a:xfrm>
            <a:prstGeom prst="rect">
              <a:avLst/>
            </a:prstGeom>
            <a:solidFill>
              <a:srgbClr val="C00000">
                <a:alpha val="30000"/>
              </a:srgb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06CBD320-9842-6C53-8C46-FA723B074782}"/>
                </a:ext>
              </a:extLst>
            </p:cNvPr>
            <p:cNvSpPr/>
            <p:nvPr/>
          </p:nvSpPr>
          <p:spPr>
            <a:xfrm>
              <a:off x="8579751" y="4020589"/>
              <a:ext cx="2804897" cy="243840"/>
            </a:xfrm>
            <a:prstGeom prst="rect">
              <a:avLst/>
            </a:prstGeom>
            <a:solidFill>
              <a:srgbClr val="C00000">
                <a:alpha val="30000"/>
              </a:srgb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E900E6CF-932B-29F6-EA7F-7B799109625C}"/>
                </a:ext>
              </a:extLst>
            </p:cNvPr>
            <p:cNvSpPr/>
            <p:nvPr/>
          </p:nvSpPr>
          <p:spPr>
            <a:xfrm>
              <a:off x="8610600" y="6102669"/>
              <a:ext cx="2804897" cy="243840"/>
            </a:xfrm>
            <a:prstGeom prst="rect">
              <a:avLst/>
            </a:prstGeom>
            <a:solidFill>
              <a:srgbClr val="C00000">
                <a:alpha val="30000"/>
              </a:srgb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EE9FAD66-C8E6-A799-E4DF-88B2EEB54DEF}"/>
                </a:ext>
              </a:extLst>
            </p:cNvPr>
            <p:cNvSpPr/>
            <p:nvPr/>
          </p:nvSpPr>
          <p:spPr>
            <a:xfrm>
              <a:off x="8579750" y="3386389"/>
              <a:ext cx="3425423" cy="243840"/>
            </a:xfrm>
            <a:prstGeom prst="rect">
              <a:avLst/>
            </a:prstGeom>
            <a:solidFill>
              <a:srgbClr val="C00000">
                <a:alpha val="30000"/>
              </a:srgb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D3141CA6-13E3-078A-E148-8ABB81DE9AAF}"/>
                </a:ext>
              </a:extLst>
            </p:cNvPr>
            <p:cNvSpPr/>
            <p:nvPr/>
          </p:nvSpPr>
          <p:spPr>
            <a:xfrm>
              <a:off x="8610600" y="5826249"/>
              <a:ext cx="3103067" cy="243840"/>
            </a:xfrm>
            <a:prstGeom prst="rect">
              <a:avLst/>
            </a:prstGeom>
            <a:solidFill>
              <a:srgbClr val="C00000">
                <a:alpha val="30000"/>
              </a:srgb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42D9F42D-7E30-9CD5-28F9-93CD7EBCA866}"/>
                </a:ext>
              </a:extLst>
            </p:cNvPr>
            <p:cNvSpPr txBox="1"/>
            <p:nvPr/>
          </p:nvSpPr>
          <p:spPr>
            <a:xfrm>
              <a:off x="4928489" y="2973877"/>
              <a:ext cx="316178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production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rules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match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with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“</a:t>
              </a:r>
              <a:r>
                <a:rPr kumimoji="1"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Book</a:t>
              </a:r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”</a:t>
              </a:r>
              <a:endParaRPr kumimoji="1"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7CD550E3-8A40-7EA0-BB85-68258BAEC567}"/>
              </a:ext>
            </a:extLst>
          </p:cNvPr>
          <p:cNvGrpSpPr/>
          <p:nvPr/>
        </p:nvGrpSpPr>
        <p:grpSpPr>
          <a:xfrm>
            <a:off x="2246590" y="3338032"/>
            <a:ext cx="5815911" cy="1534100"/>
            <a:chOff x="2246590" y="3338032"/>
            <a:chExt cx="5815911" cy="1534100"/>
          </a:xfrm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C7E6185-C7B7-7A5F-88FF-45B57C8B10E1}"/>
                </a:ext>
              </a:extLst>
            </p:cNvPr>
            <p:cNvSpPr txBox="1"/>
            <p:nvPr/>
          </p:nvSpPr>
          <p:spPr>
            <a:xfrm>
              <a:off x="4900712" y="3736565"/>
              <a:ext cx="31617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Store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them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in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cell</a:t>
              </a:r>
              <a:r>
                <a:rPr kumimoji="1" lang="zh-CN" altLang="en-US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[0,1]</a:t>
              </a:r>
              <a:endParaRPr kumimoji="1"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1A5A1E8-39A2-03A7-9975-4E215E5E8AE0}"/>
                    </a:ext>
                  </a:extLst>
                </p:cNvPr>
                <p:cNvSpPr txBox="1"/>
                <p:nvPr/>
              </p:nvSpPr>
              <p:spPr>
                <a:xfrm>
                  <a:off x="4968352" y="4171363"/>
                  <a:ext cx="2052711" cy="7007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𝑚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0,1</m:t>
                            </m:r>
                          </m:e>
                        </m:d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={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𝑆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𝑁𝑜𝑚𝑖𝑛𝑎𝑙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𝑉𝑃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𝑁𝑜𝑢𝑛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𝑉𝑒𝑟𝑏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}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1A5A1E8-39A2-03A7-9975-4E215E5E8A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8352" y="4171363"/>
                  <a:ext cx="2052711" cy="700769"/>
                </a:xfrm>
                <a:prstGeom prst="rect">
                  <a:avLst/>
                </a:prstGeom>
                <a:blipFill>
                  <a:blip r:embed="rId4"/>
                  <a:stretch>
                    <a:fillRect r="-78395" b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A9D2DF41-FE88-6228-0DB3-30C4CFA9850D}"/>
                </a:ext>
              </a:extLst>
            </p:cNvPr>
            <p:cNvSpPr txBox="1"/>
            <p:nvPr/>
          </p:nvSpPr>
          <p:spPr>
            <a:xfrm>
              <a:off x="2246590" y="3338032"/>
              <a:ext cx="9223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S, VP,</a:t>
              </a:r>
              <a:r>
                <a:rPr kumimoji="1" lang="zh-CN" alt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Verb,</a:t>
              </a:r>
              <a:r>
                <a:rPr kumimoji="1" lang="zh-CN" alt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Nominal,</a:t>
              </a:r>
            </a:p>
            <a:p>
              <a:pPr algn="l"/>
              <a:r>
                <a:rPr kumimoji="1" lang="en-US" altLang="zh-C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Noun</a:t>
              </a:r>
              <a:endPara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A8A07172-6CDA-CFF7-8E26-B1052B4B0BDD}"/>
              </a:ext>
            </a:extLst>
          </p:cNvPr>
          <p:cNvSpPr txBox="1"/>
          <p:nvPr/>
        </p:nvSpPr>
        <p:spPr>
          <a:xfrm>
            <a:off x="5236293" y="1666118"/>
            <a:ext cx="2223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Solve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span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[0,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1]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DEF20A11-3F26-7C54-050E-321851FCF123}"/>
              </a:ext>
            </a:extLst>
          </p:cNvPr>
          <p:cNvSpPr/>
          <p:nvPr/>
        </p:nvSpPr>
        <p:spPr>
          <a:xfrm>
            <a:off x="2233464" y="3236344"/>
            <a:ext cx="824235" cy="824235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11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046EF-B5AC-4131-2614-73976453E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17" y="136525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CKY Recognition: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E85E98-35B7-EA3E-61E4-8653DAD55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74BF5D-E1BE-8C60-6DF9-9D10D4E3C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130A18-FB01-C0A4-79CB-224CA450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28</a:t>
            </a:fld>
            <a:endParaRPr kumimoji="1" lang="zh-CN" altLang="en-US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24C3F6B-D8F8-F8A7-A977-4FCBB2BDDFCF}"/>
              </a:ext>
            </a:extLst>
          </p:cNvPr>
          <p:cNvGrpSpPr/>
          <p:nvPr/>
        </p:nvGrpSpPr>
        <p:grpSpPr>
          <a:xfrm>
            <a:off x="724323" y="1630961"/>
            <a:ext cx="4128479" cy="627746"/>
            <a:chOff x="724323" y="1630961"/>
            <a:chExt cx="4128479" cy="627746"/>
          </a:xfrm>
        </p:grpSpPr>
        <p:sp>
          <p:nvSpPr>
            <p:cNvPr id="35" name="圆角矩形 34">
              <a:extLst>
                <a:ext uri="{FF2B5EF4-FFF2-40B4-BE49-F238E27FC236}">
                  <a16:creationId xmlns:a16="http://schemas.microsoft.com/office/drawing/2014/main" id="{754078C8-892B-56B7-A8B6-83EF80282AF6}"/>
                </a:ext>
              </a:extLst>
            </p:cNvPr>
            <p:cNvSpPr/>
            <p:nvPr/>
          </p:nvSpPr>
          <p:spPr>
            <a:xfrm>
              <a:off x="724323" y="1653643"/>
              <a:ext cx="4128479" cy="60506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CCFE8BD-187A-C7AF-5CC7-277A1E3CA827}"/>
                </a:ext>
              </a:extLst>
            </p:cNvPr>
            <p:cNvGrpSpPr/>
            <p:nvPr/>
          </p:nvGrpSpPr>
          <p:grpSpPr>
            <a:xfrm>
              <a:off x="724324" y="1630961"/>
              <a:ext cx="3893227" cy="605064"/>
              <a:chOff x="1977554" y="3792686"/>
              <a:chExt cx="3893227" cy="605064"/>
            </a:xfrm>
          </p:grpSpPr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613788E-29BA-A9A2-2D86-0E183C387DA2}"/>
                  </a:ext>
                </a:extLst>
              </p:cNvPr>
              <p:cNvSpPr txBox="1"/>
              <p:nvPr/>
            </p:nvSpPr>
            <p:spPr>
              <a:xfrm>
                <a:off x="3241964" y="3792686"/>
                <a:ext cx="24545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Book    the    flight</a:t>
                </a:r>
                <a:endParaRPr kumimoji="1"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5AF28A1-CB3E-B63E-7643-B7374F9DBB9F}"/>
                  </a:ext>
                </a:extLst>
              </p:cNvPr>
              <p:cNvSpPr txBox="1"/>
              <p:nvPr/>
            </p:nvSpPr>
            <p:spPr>
              <a:xfrm>
                <a:off x="2927454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1D008B0-4416-6BB5-C62D-8D7290289AFD}"/>
                  </a:ext>
                </a:extLst>
              </p:cNvPr>
              <p:cNvSpPr txBox="1"/>
              <p:nvPr/>
            </p:nvSpPr>
            <p:spPr>
              <a:xfrm>
                <a:off x="3961003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DBDF0F0-FE0D-618D-787E-3138D5792FE5}"/>
                  </a:ext>
                </a:extLst>
              </p:cNvPr>
              <p:cNvSpPr txBox="1"/>
              <p:nvPr/>
            </p:nvSpPr>
            <p:spPr>
              <a:xfrm>
                <a:off x="4590023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57675FD-F91C-D783-2650-8E882B5591B9}"/>
                  </a:ext>
                </a:extLst>
              </p:cNvPr>
              <p:cNvSpPr txBox="1"/>
              <p:nvPr/>
            </p:nvSpPr>
            <p:spPr>
              <a:xfrm>
                <a:off x="5556271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8616AB6-7059-7F63-CAF4-57AFC6EA635F}"/>
                  </a:ext>
                </a:extLst>
              </p:cNvPr>
              <p:cNvSpPr txBox="1"/>
              <p:nvPr/>
            </p:nvSpPr>
            <p:spPr>
              <a:xfrm>
                <a:off x="1977554" y="3997640"/>
                <a:ext cx="8796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Index: 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DFD37729-D886-2E58-F4FC-11219C4A5507}"/>
              </a:ext>
            </a:extLst>
          </p:cNvPr>
          <p:cNvSpPr/>
          <p:nvPr/>
        </p:nvSpPr>
        <p:spPr>
          <a:xfrm>
            <a:off x="2301071" y="3299402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8C163E-FF22-5431-1ADD-06972C8053D4}"/>
              </a:ext>
            </a:extLst>
          </p:cNvPr>
          <p:cNvSpPr/>
          <p:nvPr/>
        </p:nvSpPr>
        <p:spPr>
          <a:xfrm>
            <a:off x="3728441" y="3299402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37C202-0B70-8F78-9FA2-5DC587AF0F18}"/>
              </a:ext>
            </a:extLst>
          </p:cNvPr>
          <p:cNvSpPr/>
          <p:nvPr/>
        </p:nvSpPr>
        <p:spPr>
          <a:xfrm>
            <a:off x="3007415" y="3299402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8E86F74-366B-B793-405B-86BDE5CFDE4D}"/>
              </a:ext>
            </a:extLst>
          </p:cNvPr>
          <p:cNvSpPr txBox="1"/>
          <p:nvPr/>
        </p:nvSpPr>
        <p:spPr>
          <a:xfrm>
            <a:off x="2471473" y="28657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9EC231-33A2-AF2F-7927-690605D60AD4}"/>
              </a:ext>
            </a:extLst>
          </p:cNvPr>
          <p:cNvSpPr/>
          <p:nvPr/>
        </p:nvSpPr>
        <p:spPr>
          <a:xfrm>
            <a:off x="1575810" y="3304700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354129-CB47-3806-49B5-7A18552BA775}"/>
              </a:ext>
            </a:extLst>
          </p:cNvPr>
          <p:cNvSpPr txBox="1"/>
          <p:nvPr/>
        </p:nvSpPr>
        <p:spPr>
          <a:xfrm>
            <a:off x="1741713" y="286305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20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5708FAE-8879-FBA6-3CD5-B3190E037874}"/>
              </a:ext>
            </a:extLst>
          </p:cNvPr>
          <p:cNvSpPr txBox="1"/>
          <p:nvPr/>
        </p:nvSpPr>
        <p:spPr>
          <a:xfrm>
            <a:off x="2328899" y="2586951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22F5A1-A4C4-025A-6E0F-C45B3E912718}"/>
              </a:ext>
            </a:extLst>
          </p:cNvPr>
          <p:cNvSpPr txBox="1"/>
          <p:nvPr/>
        </p:nvSpPr>
        <p:spPr>
          <a:xfrm>
            <a:off x="1092604" y="3450115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20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020231A-06AC-2499-75D4-AE0D7A8B39BD}"/>
              </a:ext>
            </a:extLst>
          </p:cNvPr>
          <p:cNvSpPr/>
          <p:nvPr/>
        </p:nvSpPr>
        <p:spPr>
          <a:xfrm>
            <a:off x="3007414" y="4009979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95BCB0B-CB9A-FE5D-48C4-17A71A0510F4}"/>
              </a:ext>
            </a:extLst>
          </p:cNvPr>
          <p:cNvSpPr/>
          <p:nvPr/>
        </p:nvSpPr>
        <p:spPr>
          <a:xfrm>
            <a:off x="3732675" y="4020589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43568E5-043A-71AD-630E-248959E31FF8}"/>
              </a:ext>
            </a:extLst>
          </p:cNvPr>
          <p:cNvSpPr/>
          <p:nvPr/>
        </p:nvSpPr>
        <p:spPr>
          <a:xfrm>
            <a:off x="2291886" y="4020589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9458340-2DB4-F297-CA2D-F078AFE98847}"/>
              </a:ext>
            </a:extLst>
          </p:cNvPr>
          <p:cNvSpPr/>
          <p:nvPr/>
        </p:nvSpPr>
        <p:spPr>
          <a:xfrm>
            <a:off x="3014405" y="4733015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78A14EF-FF0A-43E5-F1D2-A855E81D0F41}"/>
              </a:ext>
            </a:extLst>
          </p:cNvPr>
          <p:cNvSpPr/>
          <p:nvPr/>
        </p:nvSpPr>
        <p:spPr>
          <a:xfrm>
            <a:off x="3736924" y="4731166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F805FF9-FDDD-856D-FEC3-57455A9DA7BD}"/>
              </a:ext>
            </a:extLst>
          </p:cNvPr>
          <p:cNvSpPr/>
          <p:nvPr/>
        </p:nvSpPr>
        <p:spPr>
          <a:xfrm>
            <a:off x="3736924" y="5441743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D67A82E-E7FE-EC20-60C9-63937C07C837}"/>
              </a:ext>
            </a:extLst>
          </p:cNvPr>
          <p:cNvSpPr txBox="1"/>
          <p:nvPr/>
        </p:nvSpPr>
        <p:spPr>
          <a:xfrm>
            <a:off x="1093787" y="419918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D2B8CFD-EF19-F4C2-20D6-E87D4956C219}"/>
              </a:ext>
            </a:extLst>
          </p:cNvPr>
          <p:cNvSpPr txBox="1"/>
          <p:nvPr/>
        </p:nvSpPr>
        <p:spPr>
          <a:xfrm>
            <a:off x="1092604" y="492957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F787CE4-5186-9AD6-EB05-F9B4C768F9BA}"/>
              </a:ext>
            </a:extLst>
          </p:cNvPr>
          <p:cNvSpPr txBox="1"/>
          <p:nvPr/>
        </p:nvSpPr>
        <p:spPr>
          <a:xfrm>
            <a:off x="1092604" y="564296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5B16EB4-60CA-A8B7-ABD7-C9D85FFBC2C7}"/>
              </a:ext>
            </a:extLst>
          </p:cNvPr>
          <p:cNvSpPr txBox="1"/>
          <p:nvPr/>
        </p:nvSpPr>
        <p:spPr>
          <a:xfrm>
            <a:off x="3134654" y="258695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51F34BF-B56E-E297-E907-9BFF0A13DA5E}"/>
              </a:ext>
            </a:extLst>
          </p:cNvPr>
          <p:cNvSpPr txBox="1"/>
          <p:nvPr/>
        </p:nvSpPr>
        <p:spPr>
          <a:xfrm>
            <a:off x="3830945" y="2586950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D4AFFE7-4E93-9583-F690-1015E8FF7631}"/>
              </a:ext>
            </a:extLst>
          </p:cNvPr>
          <p:cNvSpPr txBox="1"/>
          <p:nvPr/>
        </p:nvSpPr>
        <p:spPr>
          <a:xfrm>
            <a:off x="3205447" y="28657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7A5BD51-68C8-EBC4-B601-65DCA221D1E2}"/>
              </a:ext>
            </a:extLst>
          </p:cNvPr>
          <p:cNvSpPr txBox="1"/>
          <p:nvPr/>
        </p:nvSpPr>
        <p:spPr>
          <a:xfrm>
            <a:off x="3934957" y="28657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9A06FA29-9E42-FCEA-20EA-5791DEB6B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020" y="683403"/>
            <a:ext cx="3296153" cy="495204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EBAB585A-CE43-B473-3CE7-457FF520E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020" y="5642961"/>
            <a:ext cx="3004647" cy="674400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DDC218F9-05D8-14D5-E29E-82CDDCAE3A26}"/>
              </a:ext>
            </a:extLst>
          </p:cNvPr>
          <p:cNvGrpSpPr/>
          <p:nvPr/>
        </p:nvGrpSpPr>
        <p:grpSpPr>
          <a:xfrm>
            <a:off x="4928489" y="2973877"/>
            <a:ext cx="6028128" cy="2892155"/>
            <a:chOff x="4928489" y="2973877"/>
            <a:chExt cx="6028128" cy="2892155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D3141CA6-13E3-078A-E148-8ABB81DE9AAF}"/>
                </a:ext>
              </a:extLst>
            </p:cNvPr>
            <p:cNvSpPr/>
            <p:nvPr/>
          </p:nvSpPr>
          <p:spPr>
            <a:xfrm>
              <a:off x="8610601" y="5622192"/>
              <a:ext cx="2346016" cy="243840"/>
            </a:xfrm>
            <a:prstGeom prst="rect">
              <a:avLst/>
            </a:prstGeom>
            <a:solidFill>
              <a:srgbClr val="C00000">
                <a:alpha val="30000"/>
              </a:srgb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42D9F42D-7E30-9CD5-28F9-93CD7EBCA866}"/>
                </a:ext>
              </a:extLst>
            </p:cNvPr>
            <p:cNvSpPr txBox="1"/>
            <p:nvPr/>
          </p:nvSpPr>
          <p:spPr>
            <a:xfrm>
              <a:off x="4928489" y="2973877"/>
              <a:ext cx="316178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production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rule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matches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with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“</a:t>
              </a:r>
              <a:r>
                <a:rPr kumimoji="1"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”</a:t>
              </a:r>
              <a:endParaRPr kumimoji="1"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A9D2DF41-FE88-6228-0DB3-30C4CFA9850D}"/>
              </a:ext>
            </a:extLst>
          </p:cNvPr>
          <p:cNvSpPr txBox="1"/>
          <p:nvPr/>
        </p:nvSpPr>
        <p:spPr>
          <a:xfrm>
            <a:off x="2246590" y="3338032"/>
            <a:ext cx="922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S, VP,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Verb,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Nominal,</a:t>
            </a:r>
          </a:p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Noun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300D19-5DD2-1368-E868-CE48C83D3C8E}"/>
              </a:ext>
            </a:extLst>
          </p:cNvPr>
          <p:cNvSpPr txBox="1"/>
          <p:nvPr/>
        </p:nvSpPr>
        <p:spPr>
          <a:xfrm>
            <a:off x="5236293" y="1666118"/>
            <a:ext cx="2223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Solve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span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[1,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2]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6B44690-32FD-36A3-6908-56D6F7B5B27B}"/>
              </a:ext>
            </a:extLst>
          </p:cNvPr>
          <p:cNvGrpSpPr/>
          <p:nvPr/>
        </p:nvGrpSpPr>
        <p:grpSpPr>
          <a:xfrm>
            <a:off x="3022213" y="3736565"/>
            <a:ext cx="5040288" cy="921845"/>
            <a:chOff x="3022213" y="3736565"/>
            <a:chExt cx="5040288" cy="921845"/>
          </a:xfrm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C7E6185-C7B7-7A5F-88FF-45B57C8B10E1}"/>
                </a:ext>
              </a:extLst>
            </p:cNvPr>
            <p:cNvSpPr txBox="1"/>
            <p:nvPr/>
          </p:nvSpPr>
          <p:spPr>
            <a:xfrm>
              <a:off x="4900712" y="3736565"/>
              <a:ext cx="31617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Store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it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in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cell</a:t>
              </a:r>
              <a:r>
                <a:rPr kumimoji="1" lang="zh-CN" altLang="en-US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[1,2]</a:t>
              </a:r>
              <a:endParaRPr kumimoji="1"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1A5A1E8-39A2-03A7-9975-4E215E5E8AE0}"/>
                    </a:ext>
                  </a:extLst>
                </p:cNvPr>
                <p:cNvSpPr txBox="1"/>
                <p:nvPr/>
              </p:nvSpPr>
              <p:spPr>
                <a:xfrm>
                  <a:off x="4893148" y="4136675"/>
                  <a:ext cx="205271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𝑚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1,2</m:t>
                            </m:r>
                          </m:e>
                        </m:d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={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𝐷𝑒𝑡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}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1A5A1E8-39A2-03A7-9975-4E215E5E8A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3148" y="4136675"/>
                  <a:ext cx="2052711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121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A0C8184-EA33-DBB1-6ADB-912FCAD705E4}"/>
                </a:ext>
              </a:extLst>
            </p:cNvPr>
            <p:cNvSpPr txBox="1"/>
            <p:nvPr/>
          </p:nvSpPr>
          <p:spPr>
            <a:xfrm>
              <a:off x="3022213" y="4381411"/>
              <a:ext cx="4687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Det</a:t>
              </a:r>
              <a:endPara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6E4D56A2-263C-1D73-B7D2-6FA3F7189AF5}"/>
              </a:ext>
            </a:extLst>
          </p:cNvPr>
          <p:cNvSpPr/>
          <p:nvPr/>
        </p:nvSpPr>
        <p:spPr>
          <a:xfrm>
            <a:off x="2957182" y="3959620"/>
            <a:ext cx="824235" cy="824235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201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046EF-B5AC-4131-2614-73976453E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17" y="136525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CKY Recognition: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E85E98-35B7-EA3E-61E4-8653DAD55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74BF5D-E1BE-8C60-6DF9-9D10D4E3C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130A18-FB01-C0A4-79CB-224CA450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29</a:t>
            </a:fld>
            <a:endParaRPr kumimoji="1" lang="zh-CN" altLang="en-US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24C3F6B-D8F8-F8A7-A977-4FCBB2BDDFCF}"/>
              </a:ext>
            </a:extLst>
          </p:cNvPr>
          <p:cNvGrpSpPr/>
          <p:nvPr/>
        </p:nvGrpSpPr>
        <p:grpSpPr>
          <a:xfrm>
            <a:off x="724323" y="1630961"/>
            <a:ext cx="4128479" cy="627746"/>
            <a:chOff x="724323" y="1630961"/>
            <a:chExt cx="4128479" cy="627746"/>
          </a:xfrm>
        </p:grpSpPr>
        <p:sp>
          <p:nvSpPr>
            <p:cNvPr id="35" name="圆角矩形 34">
              <a:extLst>
                <a:ext uri="{FF2B5EF4-FFF2-40B4-BE49-F238E27FC236}">
                  <a16:creationId xmlns:a16="http://schemas.microsoft.com/office/drawing/2014/main" id="{754078C8-892B-56B7-A8B6-83EF80282AF6}"/>
                </a:ext>
              </a:extLst>
            </p:cNvPr>
            <p:cNvSpPr/>
            <p:nvPr/>
          </p:nvSpPr>
          <p:spPr>
            <a:xfrm>
              <a:off x="724323" y="1653643"/>
              <a:ext cx="4128479" cy="60506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CCFE8BD-187A-C7AF-5CC7-277A1E3CA827}"/>
                </a:ext>
              </a:extLst>
            </p:cNvPr>
            <p:cNvGrpSpPr/>
            <p:nvPr/>
          </p:nvGrpSpPr>
          <p:grpSpPr>
            <a:xfrm>
              <a:off x="724324" y="1630961"/>
              <a:ext cx="3893227" cy="605064"/>
              <a:chOff x="1977554" y="3792686"/>
              <a:chExt cx="3893227" cy="605064"/>
            </a:xfrm>
          </p:grpSpPr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613788E-29BA-A9A2-2D86-0E183C387DA2}"/>
                  </a:ext>
                </a:extLst>
              </p:cNvPr>
              <p:cNvSpPr txBox="1"/>
              <p:nvPr/>
            </p:nvSpPr>
            <p:spPr>
              <a:xfrm>
                <a:off x="3241964" y="3792686"/>
                <a:ext cx="24545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Book    the    flight</a:t>
                </a:r>
                <a:endParaRPr kumimoji="1"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5AF28A1-CB3E-B63E-7643-B7374F9DBB9F}"/>
                  </a:ext>
                </a:extLst>
              </p:cNvPr>
              <p:cNvSpPr txBox="1"/>
              <p:nvPr/>
            </p:nvSpPr>
            <p:spPr>
              <a:xfrm>
                <a:off x="2927454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1D008B0-4416-6BB5-C62D-8D7290289AFD}"/>
                  </a:ext>
                </a:extLst>
              </p:cNvPr>
              <p:cNvSpPr txBox="1"/>
              <p:nvPr/>
            </p:nvSpPr>
            <p:spPr>
              <a:xfrm>
                <a:off x="3961003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DBDF0F0-FE0D-618D-787E-3138D5792FE5}"/>
                  </a:ext>
                </a:extLst>
              </p:cNvPr>
              <p:cNvSpPr txBox="1"/>
              <p:nvPr/>
            </p:nvSpPr>
            <p:spPr>
              <a:xfrm>
                <a:off x="4590023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57675FD-F91C-D783-2650-8E882B5591B9}"/>
                  </a:ext>
                </a:extLst>
              </p:cNvPr>
              <p:cNvSpPr txBox="1"/>
              <p:nvPr/>
            </p:nvSpPr>
            <p:spPr>
              <a:xfrm>
                <a:off x="5556271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8616AB6-7059-7F63-CAF4-57AFC6EA635F}"/>
                  </a:ext>
                </a:extLst>
              </p:cNvPr>
              <p:cNvSpPr txBox="1"/>
              <p:nvPr/>
            </p:nvSpPr>
            <p:spPr>
              <a:xfrm>
                <a:off x="1977554" y="3997640"/>
                <a:ext cx="8796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Index: 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DFD37729-D886-2E58-F4FC-11219C4A5507}"/>
              </a:ext>
            </a:extLst>
          </p:cNvPr>
          <p:cNvSpPr/>
          <p:nvPr/>
        </p:nvSpPr>
        <p:spPr>
          <a:xfrm>
            <a:off x="2301071" y="3299402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8C163E-FF22-5431-1ADD-06972C8053D4}"/>
              </a:ext>
            </a:extLst>
          </p:cNvPr>
          <p:cNvSpPr/>
          <p:nvPr/>
        </p:nvSpPr>
        <p:spPr>
          <a:xfrm>
            <a:off x="3728441" y="3299402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37C202-0B70-8F78-9FA2-5DC587AF0F18}"/>
              </a:ext>
            </a:extLst>
          </p:cNvPr>
          <p:cNvSpPr/>
          <p:nvPr/>
        </p:nvSpPr>
        <p:spPr>
          <a:xfrm>
            <a:off x="3007415" y="3299402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8E86F74-366B-B793-405B-86BDE5CFDE4D}"/>
              </a:ext>
            </a:extLst>
          </p:cNvPr>
          <p:cNvSpPr txBox="1"/>
          <p:nvPr/>
        </p:nvSpPr>
        <p:spPr>
          <a:xfrm>
            <a:off x="2471473" y="28657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9EC231-33A2-AF2F-7927-690605D60AD4}"/>
              </a:ext>
            </a:extLst>
          </p:cNvPr>
          <p:cNvSpPr/>
          <p:nvPr/>
        </p:nvSpPr>
        <p:spPr>
          <a:xfrm>
            <a:off x="1575810" y="3304700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354129-CB47-3806-49B5-7A18552BA775}"/>
              </a:ext>
            </a:extLst>
          </p:cNvPr>
          <p:cNvSpPr txBox="1"/>
          <p:nvPr/>
        </p:nvSpPr>
        <p:spPr>
          <a:xfrm>
            <a:off x="1741713" y="286305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20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5708FAE-8879-FBA6-3CD5-B3190E037874}"/>
              </a:ext>
            </a:extLst>
          </p:cNvPr>
          <p:cNvSpPr txBox="1"/>
          <p:nvPr/>
        </p:nvSpPr>
        <p:spPr>
          <a:xfrm>
            <a:off x="2328899" y="2586951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22F5A1-A4C4-025A-6E0F-C45B3E912718}"/>
              </a:ext>
            </a:extLst>
          </p:cNvPr>
          <p:cNvSpPr txBox="1"/>
          <p:nvPr/>
        </p:nvSpPr>
        <p:spPr>
          <a:xfrm>
            <a:off x="1092604" y="3450115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20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020231A-06AC-2499-75D4-AE0D7A8B39BD}"/>
              </a:ext>
            </a:extLst>
          </p:cNvPr>
          <p:cNvSpPr/>
          <p:nvPr/>
        </p:nvSpPr>
        <p:spPr>
          <a:xfrm>
            <a:off x="3007414" y="4009979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95BCB0B-CB9A-FE5D-48C4-17A71A0510F4}"/>
              </a:ext>
            </a:extLst>
          </p:cNvPr>
          <p:cNvSpPr/>
          <p:nvPr/>
        </p:nvSpPr>
        <p:spPr>
          <a:xfrm>
            <a:off x="3732675" y="4020589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43568E5-043A-71AD-630E-248959E31FF8}"/>
              </a:ext>
            </a:extLst>
          </p:cNvPr>
          <p:cNvSpPr/>
          <p:nvPr/>
        </p:nvSpPr>
        <p:spPr>
          <a:xfrm>
            <a:off x="2291886" y="4020589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9458340-2DB4-F297-CA2D-F078AFE98847}"/>
              </a:ext>
            </a:extLst>
          </p:cNvPr>
          <p:cNvSpPr/>
          <p:nvPr/>
        </p:nvSpPr>
        <p:spPr>
          <a:xfrm>
            <a:off x="3014405" y="4733015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78A14EF-FF0A-43E5-F1D2-A855E81D0F41}"/>
              </a:ext>
            </a:extLst>
          </p:cNvPr>
          <p:cNvSpPr/>
          <p:nvPr/>
        </p:nvSpPr>
        <p:spPr>
          <a:xfrm>
            <a:off x="3736924" y="4731166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F805FF9-FDDD-856D-FEC3-57455A9DA7BD}"/>
              </a:ext>
            </a:extLst>
          </p:cNvPr>
          <p:cNvSpPr/>
          <p:nvPr/>
        </p:nvSpPr>
        <p:spPr>
          <a:xfrm>
            <a:off x="3736924" y="5441743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D67A82E-E7FE-EC20-60C9-63937C07C837}"/>
              </a:ext>
            </a:extLst>
          </p:cNvPr>
          <p:cNvSpPr txBox="1"/>
          <p:nvPr/>
        </p:nvSpPr>
        <p:spPr>
          <a:xfrm>
            <a:off x="1093787" y="419918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D2B8CFD-EF19-F4C2-20D6-E87D4956C219}"/>
              </a:ext>
            </a:extLst>
          </p:cNvPr>
          <p:cNvSpPr txBox="1"/>
          <p:nvPr/>
        </p:nvSpPr>
        <p:spPr>
          <a:xfrm>
            <a:off x="1092604" y="492957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F787CE4-5186-9AD6-EB05-F9B4C768F9BA}"/>
              </a:ext>
            </a:extLst>
          </p:cNvPr>
          <p:cNvSpPr txBox="1"/>
          <p:nvPr/>
        </p:nvSpPr>
        <p:spPr>
          <a:xfrm>
            <a:off x="1092604" y="564296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5B16EB4-60CA-A8B7-ABD7-C9D85FFBC2C7}"/>
              </a:ext>
            </a:extLst>
          </p:cNvPr>
          <p:cNvSpPr txBox="1"/>
          <p:nvPr/>
        </p:nvSpPr>
        <p:spPr>
          <a:xfrm>
            <a:off x="3134654" y="258695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51F34BF-B56E-E297-E907-9BFF0A13DA5E}"/>
              </a:ext>
            </a:extLst>
          </p:cNvPr>
          <p:cNvSpPr txBox="1"/>
          <p:nvPr/>
        </p:nvSpPr>
        <p:spPr>
          <a:xfrm>
            <a:off x="3830945" y="2586950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D4AFFE7-4E93-9583-F690-1015E8FF7631}"/>
              </a:ext>
            </a:extLst>
          </p:cNvPr>
          <p:cNvSpPr txBox="1"/>
          <p:nvPr/>
        </p:nvSpPr>
        <p:spPr>
          <a:xfrm>
            <a:off x="3205447" y="28657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7A5BD51-68C8-EBC4-B601-65DCA221D1E2}"/>
              </a:ext>
            </a:extLst>
          </p:cNvPr>
          <p:cNvSpPr txBox="1"/>
          <p:nvPr/>
        </p:nvSpPr>
        <p:spPr>
          <a:xfrm>
            <a:off x="3934957" y="28657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9A06FA29-9E42-FCEA-20EA-5791DEB6B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020" y="683403"/>
            <a:ext cx="3296153" cy="495204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EBAB585A-CE43-B473-3CE7-457FF520E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020" y="5642961"/>
            <a:ext cx="3004647" cy="674400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A9D2DF41-FE88-6228-0DB3-30C4CFA9850D}"/>
              </a:ext>
            </a:extLst>
          </p:cNvPr>
          <p:cNvSpPr txBox="1"/>
          <p:nvPr/>
        </p:nvSpPr>
        <p:spPr>
          <a:xfrm>
            <a:off x="2246590" y="3338032"/>
            <a:ext cx="922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S, VP,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Verb,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Nominal,</a:t>
            </a:r>
          </a:p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Noun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300D19-5DD2-1368-E868-CE48C83D3C8E}"/>
              </a:ext>
            </a:extLst>
          </p:cNvPr>
          <p:cNvSpPr txBox="1"/>
          <p:nvPr/>
        </p:nvSpPr>
        <p:spPr>
          <a:xfrm>
            <a:off x="5236293" y="1666118"/>
            <a:ext cx="2223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Solve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span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[0,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2]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A0C8184-EA33-DBB1-6ADB-912FCAD705E4}"/>
              </a:ext>
            </a:extLst>
          </p:cNvPr>
          <p:cNvSpPr txBox="1"/>
          <p:nvPr/>
        </p:nvSpPr>
        <p:spPr>
          <a:xfrm>
            <a:off x="3022213" y="4381411"/>
            <a:ext cx="468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Det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BC7E6185-C7B7-7A5F-88FF-45B57C8B10E1}"/>
                  </a:ext>
                </a:extLst>
              </p:cNvPr>
              <p:cNvSpPr txBox="1"/>
              <p:nvPr/>
            </p:nvSpPr>
            <p:spPr>
              <a:xfrm>
                <a:off x="4975494" y="4020589"/>
                <a:ext cx="316178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</a:t>
                </a:r>
                <a:r>
                  <a:rPr kumimoji="1" lang="zh-CN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rule</a:t>
                </a:r>
                <a:r>
                  <a:rPr kumimoji="1" lang="zh-CN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kumimoji="1" lang="zh-CN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found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let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2,3</m:t>
                          </m:r>
                        </m:e>
                      </m:d>
                      <m:r>
                        <a:rPr kumimoji="1" lang="en-US" altLang="zh-CN" sz="20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∅</m:t>
                      </m:r>
                    </m:oMath>
                  </m:oMathPara>
                </a14:m>
                <a:endPara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BC7E6185-C7B7-7A5F-88FF-45B57C8B1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494" y="4020589"/>
                <a:ext cx="3161789" cy="707886"/>
              </a:xfrm>
              <a:prstGeom prst="rect">
                <a:avLst/>
              </a:prstGeom>
              <a:blipFill>
                <a:blip r:embed="rId4"/>
                <a:stretch>
                  <a:fillRect l="-2000" t="-5263" b="-1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本框 41">
            <a:extLst>
              <a:ext uri="{FF2B5EF4-FFF2-40B4-BE49-F238E27FC236}">
                <a16:creationId xmlns:a16="http://schemas.microsoft.com/office/drawing/2014/main" id="{8874BA62-5F5F-0FB4-ADB4-F3CED96A1000}"/>
              </a:ext>
            </a:extLst>
          </p:cNvPr>
          <p:cNvSpPr txBox="1"/>
          <p:nvPr/>
        </p:nvSpPr>
        <p:spPr>
          <a:xfrm>
            <a:off x="3717991" y="4973524"/>
            <a:ext cx="922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Nominal,</a:t>
            </a:r>
          </a:p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Noun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AC52EC19-7605-34E0-E16E-C3144EF0A222}"/>
              </a:ext>
            </a:extLst>
          </p:cNvPr>
          <p:cNvSpPr/>
          <p:nvPr/>
        </p:nvSpPr>
        <p:spPr>
          <a:xfrm>
            <a:off x="2954871" y="3236344"/>
            <a:ext cx="824235" cy="824235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F43A17A-4121-B80F-C64B-62672C8B76A9}"/>
              </a:ext>
            </a:extLst>
          </p:cNvPr>
          <p:cNvSpPr txBox="1"/>
          <p:nvPr/>
        </p:nvSpPr>
        <p:spPr>
          <a:xfrm>
            <a:off x="4914333" y="4986503"/>
            <a:ext cx="35207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means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phrase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kumimoji="1"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kumimoji="1"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incomplete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grammar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48FA986-EE11-1CE5-AB9B-13912CC3BC8A}"/>
              </a:ext>
            </a:extLst>
          </p:cNvPr>
          <p:cNvGrpSpPr/>
          <p:nvPr/>
        </p:nvGrpSpPr>
        <p:grpSpPr>
          <a:xfrm>
            <a:off x="2684274" y="2544932"/>
            <a:ext cx="5453009" cy="1783994"/>
            <a:chOff x="2684274" y="2544932"/>
            <a:chExt cx="5453009" cy="17839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42D9F42D-7E30-9CD5-28F9-93CD7EBCA866}"/>
                    </a:ext>
                  </a:extLst>
                </p:cNvPr>
                <p:cNvSpPr txBox="1"/>
                <p:nvPr/>
              </p:nvSpPr>
              <p:spPr>
                <a:xfrm>
                  <a:off x="4975494" y="2544932"/>
                  <a:ext cx="3161789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Look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up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the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grammar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table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to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find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rule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𝐴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→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𝐵</m:t>
                      </m:r>
                      <m:r>
                        <a:rPr kumimoji="1" lang="zh-CN" altLang="en-US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𝐶</m:t>
                      </m:r>
                    </m:oMath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algn="l"/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such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that</a:t>
                  </a:r>
                </a:p>
                <a:p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𝐵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∈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𝑚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[0,1]</m:t>
                      </m:r>
                    </m:oMath>
                  </a14:m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and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𝐶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∈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𝑚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[1,2]</m:t>
                      </m:r>
                    </m:oMath>
                  </a14:m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42D9F42D-7E30-9CD5-28F9-93CD7EBCA8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5494" y="2544932"/>
                  <a:ext cx="3161789" cy="1323439"/>
                </a:xfrm>
                <a:prstGeom prst="rect">
                  <a:avLst/>
                </a:prstGeom>
                <a:blipFill>
                  <a:blip r:embed="rId5"/>
                  <a:stretch>
                    <a:fillRect l="-2000" t="-2857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下箭头 45">
              <a:extLst>
                <a:ext uri="{FF2B5EF4-FFF2-40B4-BE49-F238E27FC236}">
                  <a16:creationId xmlns:a16="http://schemas.microsoft.com/office/drawing/2014/main" id="{79EDDD33-9A8F-4A33-BCCC-89A2D44524C3}"/>
                </a:ext>
              </a:extLst>
            </p:cNvPr>
            <p:cNvSpPr/>
            <p:nvPr/>
          </p:nvSpPr>
          <p:spPr>
            <a:xfrm>
              <a:off x="3300896" y="4102349"/>
              <a:ext cx="137594" cy="226577"/>
            </a:xfrm>
            <a:prstGeom prst="down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" name="下箭头 46">
              <a:extLst>
                <a:ext uri="{FF2B5EF4-FFF2-40B4-BE49-F238E27FC236}">
                  <a16:creationId xmlns:a16="http://schemas.microsoft.com/office/drawing/2014/main" id="{59C49C46-65B2-4E6B-0DC6-F56EA4402319}"/>
                </a:ext>
              </a:extLst>
            </p:cNvPr>
            <p:cNvSpPr/>
            <p:nvPr/>
          </p:nvSpPr>
          <p:spPr>
            <a:xfrm rot="5400000">
              <a:off x="2728766" y="3557197"/>
              <a:ext cx="137594" cy="226577"/>
            </a:xfrm>
            <a:prstGeom prst="down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885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3" grpId="0"/>
      <p:bldP spid="14" grpId="0" animBg="1"/>
      <p:bldP spid="3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046EF-B5AC-4131-2614-73976453E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17" y="136525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CKY Recognition: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E85E98-35B7-EA3E-61E4-8653DAD55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74BF5D-E1BE-8C60-6DF9-9D10D4E3C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130A18-FB01-C0A4-79CB-224CA450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30</a:t>
            </a:fld>
            <a:endParaRPr kumimoji="1" lang="zh-CN" altLang="en-US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24C3F6B-D8F8-F8A7-A977-4FCBB2BDDFCF}"/>
              </a:ext>
            </a:extLst>
          </p:cNvPr>
          <p:cNvGrpSpPr/>
          <p:nvPr/>
        </p:nvGrpSpPr>
        <p:grpSpPr>
          <a:xfrm>
            <a:off x="724323" y="1630961"/>
            <a:ext cx="4128479" cy="627746"/>
            <a:chOff x="724323" y="1630961"/>
            <a:chExt cx="4128479" cy="627746"/>
          </a:xfrm>
        </p:grpSpPr>
        <p:sp>
          <p:nvSpPr>
            <p:cNvPr id="35" name="圆角矩形 34">
              <a:extLst>
                <a:ext uri="{FF2B5EF4-FFF2-40B4-BE49-F238E27FC236}">
                  <a16:creationId xmlns:a16="http://schemas.microsoft.com/office/drawing/2014/main" id="{754078C8-892B-56B7-A8B6-83EF80282AF6}"/>
                </a:ext>
              </a:extLst>
            </p:cNvPr>
            <p:cNvSpPr/>
            <p:nvPr/>
          </p:nvSpPr>
          <p:spPr>
            <a:xfrm>
              <a:off x="724323" y="1653643"/>
              <a:ext cx="4128479" cy="60506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CCFE8BD-187A-C7AF-5CC7-277A1E3CA827}"/>
                </a:ext>
              </a:extLst>
            </p:cNvPr>
            <p:cNvGrpSpPr/>
            <p:nvPr/>
          </p:nvGrpSpPr>
          <p:grpSpPr>
            <a:xfrm>
              <a:off x="724324" y="1630961"/>
              <a:ext cx="3893227" cy="605064"/>
              <a:chOff x="1977554" y="3792686"/>
              <a:chExt cx="3893227" cy="605064"/>
            </a:xfrm>
          </p:grpSpPr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613788E-29BA-A9A2-2D86-0E183C387DA2}"/>
                  </a:ext>
                </a:extLst>
              </p:cNvPr>
              <p:cNvSpPr txBox="1"/>
              <p:nvPr/>
            </p:nvSpPr>
            <p:spPr>
              <a:xfrm>
                <a:off x="3241964" y="3792686"/>
                <a:ext cx="24545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Book    the    flight</a:t>
                </a:r>
                <a:endParaRPr kumimoji="1"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5AF28A1-CB3E-B63E-7643-B7374F9DBB9F}"/>
                  </a:ext>
                </a:extLst>
              </p:cNvPr>
              <p:cNvSpPr txBox="1"/>
              <p:nvPr/>
            </p:nvSpPr>
            <p:spPr>
              <a:xfrm>
                <a:off x="2927454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1D008B0-4416-6BB5-C62D-8D7290289AFD}"/>
                  </a:ext>
                </a:extLst>
              </p:cNvPr>
              <p:cNvSpPr txBox="1"/>
              <p:nvPr/>
            </p:nvSpPr>
            <p:spPr>
              <a:xfrm>
                <a:off x="3961003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DBDF0F0-FE0D-618D-787E-3138D5792FE5}"/>
                  </a:ext>
                </a:extLst>
              </p:cNvPr>
              <p:cNvSpPr txBox="1"/>
              <p:nvPr/>
            </p:nvSpPr>
            <p:spPr>
              <a:xfrm>
                <a:off x="4590023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57675FD-F91C-D783-2650-8E882B5591B9}"/>
                  </a:ext>
                </a:extLst>
              </p:cNvPr>
              <p:cNvSpPr txBox="1"/>
              <p:nvPr/>
            </p:nvSpPr>
            <p:spPr>
              <a:xfrm>
                <a:off x="5556271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8616AB6-7059-7F63-CAF4-57AFC6EA635F}"/>
                  </a:ext>
                </a:extLst>
              </p:cNvPr>
              <p:cNvSpPr txBox="1"/>
              <p:nvPr/>
            </p:nvSpPr>
            <p:spPr>
              <a:xfrm>
                <a:off x="1977554" y="3997640"/>
                <a:ext cx="8796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Index: 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DFD37729-D886-2E58-F4FC-11219C4A5507}"/>
              </a:ext>
            </a:extLst>
          </p:cNvPr>
          <p:cNvSpPr/>
          <p:nvPr/>
        </p:nvSpPr>
        <p:spPr>
          <a:xfrm>
            <a:off x="2301071" y="3299402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8C163E-FF22-5431-1ADD-06972C8053D4}"/>
              </a:ext>
            </a:extLst>
          </p:cNvPr>
          <p:cNvSpPr/>
          <p:nvPr/>
        </p:nvSpPr>
        <p:spPr>
          <a:xfrm>
            <a:off x="3728441" y="3299402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37C202-0B70-8F78-9FA2-5DC587AF0F18}"/>
              </a:ext>
            </a:extLst>
          </p:cNvPr>
          <p:cNvSpPr/>
          <p:nvPr/>
        </p:nvSpPr>
        <p:spPr>
          <a:xfrm>
            <a:off x="3007415" y="3299402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8E86F74-366B-B793-405B-86BDE5CFDE4D}"/>
              </a:ext>
            </a:extLst>
          </p:cNvPr>
          <p:cNvSpPr txBox="1"/>
          <p:nvPr/>
        </p:nvSpPr>
        <p:spPr>
          <a:xfrm>
            <a:off x="2471473" y="28657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9EC231-33A2-AF2F-7927-690605D60AD4}"/>
              </a:ext>
            </a:extLst>
          </p:cNvPr>
          <p:cNvSpPr/>
          <p:nvPr/>
        </p:nvSpPr>
        <p:spPr>
          <a:xfrm>
            <a:off x="1575810" y="3304700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354129-CB47-3806-49B5-7A18552BA775}"/>
              </a:ext>
            </a:extLst>
          </p:cNvPr>
          <p:cNvSpPr txBox="1"/>
          <p:nvPr/>
        </p:nvSpPr>
        <p:spPr>
          <a:xfrm>
            <a:off x="1741713" y="286305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20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5708FAE-8879-FBA6-3CD5-B3190E037874}"/>
              </a:ext>
            </a:extLst>
          </p:cNvPr>
          <p:cNvSpPr txBox="1"/>
          <p:nvPr/>
        </p:nvSpPr>
        <p:spPr>
          <a:xfrm>
            <a:off x="2328899" y="2586951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22F5A1-A4C4-025A-6E0F-C45B3E912718}"/>
              </a:ext>
            </a:extLst>
          </p:cNvPr>
          <p:cNvSpPr txBox="1"/>
          <p:nvPr/>
        </p:nvSpPr>
        <p:spPr>
          <a:xfrm>
            <a:off x="1092604" y="3450115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20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020231A-06AC-2499-75D4-AE0D7A8B39BD}"/>
              </a:ext>
            </a:extLst>
          </p:cNvPr>
          <p:cNvSpPr/>
          <p:nvPr/>
        </p:nvSpPr>
        <p:spPr>
          <a:xfrm>
            <a:off x="3007414" y="4009979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95BCB0B-CB9A-FE5D-48C4-17A71A0510F4}"/>
              </a:ext>
            </a:extLst>
          </p:cNvPr>
          <p:cNvSpPr/>
          <p:nvPr/>
        </p:nvSpPr>
        <p:spPr>
          <a:xfrm>
            <a:off x="3732675" y="4020589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43568E5-043A-71AD-630E-248959E31FF8}"/>
              </a:ext>
            </a:extLst>
          </p:cNvPr>
          <p:cNvSpPr/>
          <p:nvPr/>
        </p:nvSpPr>
        <p:spPr>
          <a:xfrm>
            <a:off x="2291886" y="4020589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9458340-2DB4-F297-CA2D-F078AFE98847}"/>
              </a:ext>
            </a:extLst>
          </p:cNvPr>
          <p:cNvSpPr/>
          <p:nvPr/>
        </p:nvSpPr>
        <p:spPr>
          <a:xfrm>
            <a:off x="3014405" y="4733015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78A14EF-FF0A-43E5-F1D2-A855E81D0F41}"/>
              </a:ext>
            </a:extLst>
          </p:cNvPr>
          <p:cNvSpPr/>
          <p:nvPr/>
        </p:nvSpPr>
        <p:spPr>
          <a:xfrm>
            <a:off x="3736924" y="4731166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F805FF9-FDDD-856D-FEC3-57455A9DA7BD}"/>
              </a:ext>
            </a:extLst>
          </p:cNvPr>
          <p:cNvSpPr/>
          <p:nvPr/>
        </p:nvSpPr>
        <p:spPr>
          <a:xfrm>
            <a:off x="3736924" y="5441743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D67A82E-E7FE-EC20-60C9-63937C07C837}"/>
              </a:ext>
            </a:extLst>
          </p:cNvPr>
          <p:cNvSpPr txBox="1"/>
          <p:nvPr/>
        </p:nvSpPr>
        <p:spPr>
          <a:xfrm>
            <a:off x="1093787" y="419918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D2B8CFD-EF19-F4C2-20D6-E87D4956C219}"/>
              </a:ext>
            </a:extLst>
          </p:cNvPr>
          <p:cNvSpPr txBox="1"/>
          <p:nvPr/>
        </p:nvSpPr>
        <p:spPr>
          <a:xfrm>
            <a:off x="1092604" y="492957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F787CE4-5186-9AD6-EB05-F9B4C768F9BA}"/>
              </a:ext>
            </a:extLst>
          </p:cNvPr>
          <p:cNvSpPr txBox="1"/>
          <p:nvPr/>
        </p:nvSpPr>
        <p:spPr>
          <a:xfrm>
            <a:off x="1092604" y="564296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5B16EB4-60CA-A8B7-ABD7-C9D85FFBC2C7}"/>
              </a:ext>
            </a:extLst>
          </p:cNvPr>
          <p:cNvSpPr txBox="1"/>
          <p:nvPr/>
        </p:nvSpPr>
        <p:spPr>
          <a:xfrm>
            <a:off x="3134654" y="258695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51F34BF-B56E-E297-E907-9BFF0A13DA5E}"/>
              </a:ext>
            </a:extLst>
          </p:cNvPr>
          <p:cNvSpPr txBox="1"/>
          <p:nvPr/>
        </p:nvSpPr>
        <p:spPr>
          <a:xfrm>
            <a:off x="3830945" y="2586950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D4AFFE7-4E93-9583-F690-1015E8FF7631}"/>
              </a:ext>
            </a:extLst>
          </p:cNvPr>
          <p:cNvSpPr txBox="1"/>
          <p:nvPr/>
        </p:nvSpPr>
        <p:spPr>
          <a:xfrm>
            <a:off x="3205447" y="28657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7A5BD51-68C8-EBC4-B601-65DCA221D1E2}"/>
              </a:ext>
            </a:extLst>
          </p:cNvPr>
          <p:cNvSpPr txBox="1"/>
          <p:nvPr/>
        </p:nvSpPr>
        <p:spPr>
          <a:xfrm>
            <a:off x="3934957" y="28657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9A06FA29-9E42-FCEA-20EA-5791DEB6B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020" y="683403"/>
            <a:ext cx="3296153" cy="495204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EBAB585A-CE43-B473-3CE7-457FF520E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020" y="5642961"/>
            <a:ext cx="3004647" cy="674400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A9D2DF41-FE88-6228-0DB3-30C4CFA9850D}"/>
              </a:ext>
            </a:extLst>
          </p:cNvPr>
          <p:cNvSpPr txBox="1"/>
          <p:nvPr/>
        </p:nvSpPr>
        <p:spPr>
          <a:xfrm>
            <a:off x="2246590" y="3338032"/>
            <a:ext cx="922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S, VP,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Verb,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Nominal,</a:t>
            </a:r>
          </a:p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Noun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300D19-5DD2-1368-E868-CE48C83D3C8E}"/>
              </a:ext>
            </a:extLst>
          </p:cNvPr>
          <p:cNvSpPr txBox="1"/>
          <p:nvPr/>
        </p:nvSpPr>
        <p:spPr>
          <a:xfrm>
            <a:off x="5236293" y="1666118"/>
            <a:ext cx="2223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Solve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span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[2,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3]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A0C8184-EA33-DBB1-6ADB-912FCAD705E4}"/>
              </a:ext>
            </a:extLst>
          </p:cNvPr>
          <p:cNvSpPr txBox="1"/>
          <p:nvPr/>
        </p:nvSpPr>
        <p:spPr>
          <a:xfrm>
            <a:off x="3022213" y="4381411"/>
            <a:ext cx="468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Det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8ABC6656-7130-D35E-62CC-2590743633BD}"/>
              </a:ext>
            </a:extLst>
          </p:cNvPr>
          <p:cNvGrpSpPr/>
          <p:nvPr/>
        </p:nvGrpSpPr>
        <p:grpSpPr>
          <a:xfrm>
            <a:off x="4928489" y="2973877"/>
            <a:ext cx="7034190" cy="3112979"/>
            <a:chOff x="4928489" y="2973877"/>
            <a:chExt cx="7034190" cy="3112979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D3141CA6-13E3-078A-E148-8ABB81DE9AAF}"/>
                </a:ext>
              </a:extLst>
            </p:cNvPr>
            <p:cNvSpPr/>
            <p:nvPr/>
          </p:nvSpPr>
          <p:spPr>
            <a:xfrm>
              <a:off x="8610600" y="5843016"/>
              <a:ext cx="3203772" cy="243840"/>
            </a:xfrm>
            <a:prstGeom prst="rect">
              <a:avLst/>
            </a:prstGeom>
            <a:solidFill>
              <a:srgbClr val="C00000">
                <a:alpha val="30000"/>
              </a:srgb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42D9F42D-7E30-9CD5-28F9-93CD7EBCA866}"/>
                </a:ext>
              </a:extLst>
            </p:cNvPr>
            <p:cNvSpPr txBox="1"/>
            <p:nvPr/>
          </p:nvSpPr>
          <p:spPr>
            <a:xfrm>
              <a:off x="4928489" y="2973877"/>
              <a:ext cx="316178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production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rules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match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with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“</a:t>
              </a:r>
              <a:r>
                <a:rPr kumimoji="1"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flight</a:t>
              </a:r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”</a:t>
              </a:r>
              <a:endParaRPr kumimoji="1"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8B06F8F-59FC-9528-47BA-655A6E3317DD}"/>
                </a:ext>
              </a:extLst>
            </p:cNvPr>
            <p:cNvSpPr/>
            <p:nvPr/>
          </p:nvSpPr>
          <p:spPr>
            <a:xfrm>
              <a:off x="8595932" y="3377798"/>
              <a:ext cx="3366747" cy="243840"/>
            </a:xfrm>
            <a:prstGeom prst="rect">
              <a:avLst/>
            </a:prstGeom>
            <a:solidFill>
              <a:srgbClr val="C00000">
                <a:alpha val="30000"/>
              </a:srgb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13E514BD-60C8-C8EF-5EDE-E9FF71296EF9}"/>
              </a:ext>
            </a:extLst>
          </p:cNvPr>
          <p:cNvGrpSpPr/>
          <p:nvPr/>
        </p:nvGrpSpPr>
        <p:grpSpPr>
          <a:xfrm>
            <a:off x="3717991" y="3736565"/>
            <a:ext cx="4344510" cy="1698624"/>
            <a:chOff x="3717991" y="3736565"/>
            <a:chExt cx="4344510" cy="1698624"/>
          </a:xfrm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C7E6185-C7B7-7A5F-88FF-45B57C8B10E1}"/>
                </a:ext>
              </a:extLst>
            </p:cNvPr>
            <p:cNvSpPr txBox="1"/>
            <p:nvPr/>
          </p:nvSpPr>
          <p:spPr>
            <a:xfrm>
              <a:off x="4900712" y="3736565"/>
              <a:ext cx="31617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Store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>
                  <a:latin typeface="Calibri" panose="020F0502020204030204" pitchFamily="34" charset="0"/>
                  <a:cs typeface="Calibri" panose="020F0502020204030204" pitchFamily="34" charset="0"/>
                </a:rPr>
                <a:t>them</a:t>
              </a:r>
              <a:r>
                <a:rPr kumimoji="1" lang="zh-CN" altLang="en-US" sz="200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in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cell</a:t>
              </a:r>
              <a:r>
                <a:rPr kumimoji="1" lang="zh-CN" altLang="en-US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[2,3]</a:t>
              </a:r>
              <a:endParaRPr kumimoji="1"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1A5A1E8-39A2-03A7-9975-4E215E5E8AE0}"/>
                    </a:ext>
                  </a:extLst>
                </p:cNvPr>
                <p:cNvSpPr txBox="1"/>
                <p:nvPr/>
              </p:nvSpPr>
              <p:spPr>
                <a:xfrm>
                  <a:off x="4893148" y="4136675"/>
                  <a:ext cx="2052711" cy="7007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𝑚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2,3</m:t>
                            </m:r>
                          </m:e>
                        </m:d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={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𝑁𝑜𝑚𝑖𝑛𝑎𝑙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𝑁𝑜𝑢𝑛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}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1A5A1E8-39A2-03A7-9975-4E215E5E8A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3148" y="4136675"/>
                  <a:ext cx="2052711" cy="700769"/>
                </a:xfrm>
                <a:prstGeom prst="rect">
                  <a:avLst/>
                </a:prstGeom>
                <a:blipFill>
                  <a:blip r:embed="rId4"/>
                  <a:stretch>
                    <a:fillRect r="-15432" b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8874BA62-5F5F-0FB4-ADB4-F3CED96A1000}"/>
                </a:ext>
              </a:extLst>
            </p:cNvPr>
            <p:cNvSpPr txBox="1"/>
            <p:nvPr/>
          </p:nvSpPr>
          <p:spPr>
            <a:xfrm>
              <a:off x="3717991" y="4973524"/>
              <a:ext cx="9223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Nominal,</a:t>
              </a:r>
            </a:p>
            <a:p>
              <a:pPr algn="l"/>
              <a:r>
                <a:rPr kumimoji="1" lang="en-US" altLang="zh-C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Noun</a:t>
              </a:r>
              <a:endPara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7E39BCED-6E20-37A5-CC0E-5CCDF72663FE}"/>
              </a:ext>
            </a:extLst>
          </p:cNvPr>
          <p:cNvSpPr/>
          <p:nvPr/>
        </p:nvSpPr>
        <p:spPr>
          <a:xfrm>
            <a:off x="3680094" y="4677673"/>
            <a:ext cx="824235" cy="824235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9569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046EF-B5AC-4131-2614-73976453E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17" y="136525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CKY Recognition: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E85E98-35B7-EA3E-61E4-8653DAD55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74BF5D-E1BE-8C60-6DF9-9D10D4E3C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130A18-FB01-C0A4-79CB-224CA450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31</a:t>
            </a:fld>
            <a:endParaRPr kumimoji="1" lang="zh-CN" altLang="en-US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24C3F6B-D8F8-F8A7-A977-4FCBB2BDDFCF}"/>
              </a:ext>
            </a:extLst>
          </p:cNvPr>
          <p:cNvGrpSpPr/>
          <p:nvPr/>
        </p:nvGrpSpPr>
        <p:grpSpPr>
          <a:xfrm>
            <a:off x="724323" y="1630961"/>
            <a:ext cx="4128479" cy="627746"/>
            <a:chOff x="724323" y="1630961"/>
            <a:chExt cx="4128479" cy="627746"/>
          </a:xfrm>
        </p:grpSpPr>
        <p:sp>
          <p:nvSpPr>
            <p:cNvPr id="35" name="圆角矩形 34">
              <a:extLst>
                <a:ext uri="{FF2B5EF4-FFF2-40B4-BE49-F238E27FC236}">
                  <a16:creationId xmlns:a16="http://schemas.microsoft.com/office/drawing/2014/main" id="{754078C8-892B-56B7-A8B6-83EF80282AF6}"/>
                </a:ext>
              </a:extLst>
            </p:cNvPr>
            <p:cNvSpPr/>
            <p:nvPr/>
          </p:nvSpPr>
          <p:spPr>
            <a:xfrm>
              <a:off x="724323" y="1653643"/>
              <a:ext cx="4128479" cy="60506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CCFE8BD-187A-C7AF-5CC7-277A1E3CA827}"/>
                </a:ext>
              </a:extLst>
            </p:cNvPr>
            <p:cNvGrpSpPr/>
            <p:nvPr/>
          </p:nvGrpSpPr>
          <p:grpSpPr>
            <a:xfrm>
              <a:off x="724324" y="1630961"/>
              <a:ext cx="3893227" cy="605064"/>
              <a:chOff x="1977554" y="3792686"/>
              <a:chExt cx="3893227" cy="605064"/>
            </a:xfrm>
          </p:grpSpPr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613788E-29BA-A9A2-2D86-0E183C387DA2}"/>
                  </a:ext>
                </a:extLst>
              </p:cNvPr>
              <p:cNvSpPr txBox="1"/>
              <p:nvPr/>
            </p:nvSpPr>
            <p:spPr>
              <a:xfrm>
                <a:off x="3241964" y="3792686"/>
                <a:ext cx="24545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Book    the    flight</a:t>
                </a:r>
                <a:endParaRPr kumimoji="1"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5AF28A1-CB3E-B63E-7643-B7374F9DBB9F}"/>
                  </a:ext>
                </a:extLst>
              </p:cNvPr>
              <p:cNvSpPr txBox="1"/>
              <p:nvPr/>
            </p:nvSpPr>
            <p:spPr>
              <a:xfrm>
                <a:off x="2927454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1D008B0-4416-6BB5-C62D-8D7290289AFD}"/>
                  </a:ext>
                </a:extLst>
              </p:cNvPr>
              <p:cNvSpPr txBox="1"/>
              <p:nvPr/>
            </p:nvSpPr>
            <p:spPr>
              <a:xfrm>
                <a:off x="3961003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DBDF0F0-FE0D-618D-787E-3138D5792FE5}"/>
                  </a:ext>
                </a:extLst>
              </p:cNvPr>
              <p:cNvSpPr txBox="1"/>
              <p:nvPr/>
            </p:nvSpPr>
            <p:spPr>
              <a:xfrm>
                <a:off x="4590023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57675FD-F91C-D783-2650-8E882B5591B9}"/>
                  </a:ext>
                </a:extLst>
              </p:cNvPr>
              <p:cNvSpPr txBox="1"/>
              <p:nvPr/>
            </p:nvSpPr>
            <p:spPr>
              <a:xfrm>
                <a:off x="5556271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8616AB6-7059-7F63-CAF4-57AFC6EA635F}"/>
                  </a:ext>
                </a:extLst>
              </p:cNvPr>
              <p:cNvSpPr txBox="1"/>
              <p:nvPr/>
            </p:nvSpPr>
            <p:spPr>
              <a:xfrm>
                <a:off x="1977554" y="3997640"/>
                <a:ext cx="8796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Index: 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DFD37729-D886-2E58-F4FC-11219C4A5507}"/>
              </a:ext>
            </a:extLst>
          </p:cNvPr>
          <p:cNvSpPr/>
          <p:nvPr/>
        </p:nvSpPr>
        <p:spPr>
          <a:xfrm>
            <a:off x="2301071" y="3299402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8C163E-FF22-5431-1ADD-06972C8053D4}"/>
              </a:ext>
            </a:extLst>
          </p:cNvPr>
          <p:cNvSpPr/>
          <p:nvPr/>
        </p:nvSpPr>
        <p:spPr>
          <a:xfrm>
            <a:off x="3728441" y="3299402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37C202-0B70-8F78-9FA2-5DC587AF0F18}"/>
              </a:ext>
            </a:extLst>
          </p:cNvPr>
          <p:cNvSpPr/>
          <p:nvPr/>
        </p:nvSpPr>
        <p:spPr>
          <a:xfrm>
            <a:off x="3007415" y="3299402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8E86F74-366B-B793-405B-86BDE5CFDE4D}"/>
              </a:ext>
            </a:extLst>
          </p:cNvPr>
          <p:cNvSpPr txBox="1"/>
          <p:nvPr/>
        </p:nvSpPr>
        <p:spPr>
          <a:xfrm>
            <a:off x="2471473" y="28657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9EC231-33A2-AF2F-7927-690605D60AD4}"/>
              </a:ext>
            </a:extLst>
          </p:cNvPr>
          <p:cNvSpPr/>
          <p:nvPr/>
        </p:nvSpPr>
        <p:spPr>
          <a:xfrm>
            <a:off x="1575810" y="3304700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354129-CB47-3806-49B5-7A18552BA775}"/>
              </a:ext>
            </a:extLst>
          </p:cNvPr>
          <p:cNvSpPr txBox="1"/>
          <p:nvPr/>
        </p:nvSpPr>
        <p:spPr>
          <a:xfrm>
            <a:off x="1741713" y="286305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20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5708FAE-8879-FBA6-3CD5-B3190E037874}"/>
              </a:ext>
            </a:extLst>
          </p:cNvPr>
          <p:cNvSpPr txBox="1"/>
          <p:nvPr/>
        </p:nvSpPr>
        <p:spPr>
          <a:xfrm>
            <a:off x="2328899" y="2586951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22F5A1-A4C4-025A-6E0F-C45B3E912718}"/>
              </a:ext>
            </a:extLst>
          </p:cNvPr>
          <p:cNvSpPr txBox="1"/>
          <p:nvPr/>
        </p:nvSpPr>
        <p:spPr>
          <a:xfrm>
            <a:off x="1092604" y="3450115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20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020231A-06AC-2499-75D4-AE0D7A8B39BD}"/>
              </a:ext>
            </a:extLst>
          </p:cNvPr>
          <p:cNvSpPr/>
          <p:nvPr/>
        </p:nvSpPr>
        <p:spPr>
          <a:xfrm>
            <a:off x="3007414" y="4009979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95BCB0B-CB9A-FE5D-48C4-17A71A0510F4}"/>
              </a:ext>
            </a:extLst>
          </p:cNvPr>
          <p:cNvSpPr/>
          <p:nvPr/>
        </p:nvSpPr>
        <p:spPr>
          <a:xfrm>
            <a:off x="3732675" y="4020589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43568E5-043A-71AD-630E-248959E31FF8}"/>
              </a:ext>
            </a:extLst>
          </p:cNvPr>
          <p:cNvSpPr/>
          <p:nvPr/>
        </p:nvSpPr>
        <p:spPr>
          <a:xfrm>
            <a:off x="2291886" y="4020589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9458340-2DB4-F297-CA2D-F078AFE98847}"/>
              </a:ext>
            </a:extLst>
          </p:cNvPr>
          <p:cNvSpPr/>
          <p:nvPr/>
        </p:nvSpPr>
        <p:spPr>
          <a:xfrm>
            <a:off x="3014405" y="4733015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78A14EF-FF0A-43E5-F1D2-A855E81D0F41}"/>
              </a:ext>
            </a:extLst>
          </p:cNvPr>
          <p:cNvSpPr/>
          <p:nvPr/>
        </p:nvSpPr>
        <p:spPr>
          <a:xfrm>
            <a:off x="3736924" y="4731166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F805FF9-FDDD-856D-FEC3-57455A9DA7BD}"/>
              </a:ext>
            </a:extLst>
          </p:cNvPr>
          <p:cNvSpPr/>
          <p:nvPr/>
        </p:nvSpPr>
        <p:spPr>
          <a:xfrm>
            <a:off x="3736924" y="5441743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D67A82E-E7FE-EC20-60C9-63937C07C837}"/>
              </a:ext>
            </a:extLst>
          </p:cNvPr>
          <p:cNvSpPr txBox="1"/>
          <p:nvPr/>
        </p:nvSpPr>
        <p:spPr>
          <a:xfrm>
            <a:off x="1093787" y="419918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D2B8CFD-EF19-F4C2-20D6-E87D4956C219}"/>
              </a:ext>
            </a:extLst>
          </p:cNvPr>
          <p:cNvSpPr txBox="1"/>
          <p:nvPr/>
        </p:nvSpPr>
        <p:spPr>
          <a:xfrm>
            <a:off x="1092604" y="492957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F787CE4-5186-9AD6-EB05-F9B4C768F9BA}"/>
              </a:ext>
            </a:extLst>
          </p:cNvPr>
          <p:cNvSpPr txBox="1"/>
          <p:nvPr/>
        </p:nvSpPr>
        <p:spPr>
          <a:xfrm>
            <a:off x="1092604" y="564296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5B16EB4-60CA-A8B7-ABD7-C9D85FFBC2C7}"/>
              </a:ext>
            </a:extLst>
          </p:cNvPr>
          <p:cNvSpPr txBox="1"/>
          <p:nvPr/>
        </p:nvSpPr>
        <p:spPr>
          <a:xfrm>
            <a:off x="3134654" y="258695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51F34BF-B56E-E297-E907-9BFF0A13DA5E}"/>
              </a:ext>
            </a:extLst>
          </p:cNvPr>
          <p:cNvSpPr txBox="1"/>
          <p:nvPr/>
        </p:nvSpPr>
        <p:spPr>
          <a:xfrm>
            <a:off x="3830945" y="2586950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D4AFFE7-4E93-9583-F690-1015E8FF7631}"/>
              </a:ext>
            </a:extLst>
          </p:cNvPr>
          <p:cNvSpPr txBox="1"/>
          <p:nvPr/>
        </p:nvSpPr>
        <p:spPr>
          <a:xfrm>
            <a:off x="3205447" y="28657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7A5BD51-68C8-EBC4-B601-65DCA221D1E2}"/>
              </a:ext>
            </a:extLst>
          </p:cNvPr>
          <p:cNvSpPr txBox="1"/>
          <p:nvPr/>
        </p:nvSpPr>
        <p:spPr>
          <a:xfrm>
            <a:off x="3934957" y="28657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9A06FA29-9E42-FCEA-20EA-5791DEB6B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020" y="683403"/>
            <a:ext cx="3296153" cy="495204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EBAB585A-CE43-B473-3CE7-457FF520E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020" y="5642961"/>
            <a:ext cx="3004647" cy="674400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A9D2DF41-FE88-6228-0DB3-30C4CFA9850D}"/>
              </a:ext>
            </a:extLst>
          </p:cNvPr>
          <p:cNvSpPr txBox="1"/>
          <p:nvPr/>
        </p:nvSpPr>
        <p:spPr>
          <a:xfrm>
            <a:off x="2246590" y="3338032"/>
            <a:ext cx="922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S, VP,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Verb,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Nominal,</a:t>
            </a:r>
          </a:p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Noun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300D19-5DD2-1368-E868-CE48C83D3C8E}"/>
              </a:ext>
            </a:extLst>
          </p:cNvPr>
          <p:cNvSpPr txBox="1"/>
          <p:nvPr/>
        </p:nvSpPr>
        <p:spPr>
          <a:xfrm>
            <a:off x="5236293" y="1666118"/>
            <a:ext cx="2223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Solve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span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[1,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3]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A0C8184-EA33-DBB1-6ADB-912FCAD705E4}"/>
              </a:ext>
            </a:extLst>
          </p:cNvPr>
          <p:cNvSpPr txBox="1"/>
          <p:nvPr/>
        </p:nvSpPr>
        <p:spPr>
          <a:xfrm>
            <a:off x="3022213" y="4381411"/>
            <a:ext cx="468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Det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9F2E697B-B692-835A-0F8B-7C4ABE23A707}"/>
              </a:ext>
            </a:extLst>
          </p:cNvPr>
          <p:cNvGrpSpPr/>
          <p:nvPr/>
        </p:nvGrpSpPr>
        <p:grpSpPr>
          <a:xfrm>
            <a:off x="4975494" y="3159423"/>
            <a:ext cx="7001853" cy="1547592"/>
            <a:chOff x="4975494" y="3159423"/>
            <a:chExt cx="7001853" cy="1547592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8B06F8F-59FC-9528-47BA-655A6E3317DD}"/>
                </a:ext>
              </a:extLst>
            </p:cNvPr>
            <p:cNvSpPr/>
            <p:nvPr/>
          </p:nvSpPr>
          <p:spPr>
            <a:xfrm>
              <a:off x="8610600" y="3159423"/>
              <a:ext cx="3366747" cy="243840"/>
            </a:xfrm>
            <a:prstGeom prst="rect">
              <a:avLst/>
            </a:prstGeom>
            <a:solidFill>
              <a:srgbClr val="C00000">
                <a:alpha val="30000"/>
              </a:srgb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BC7E6185-C7B7-7A5F-88FF-45B57C8B10E1}"/>
                    </a:ext>
                  </a:extLst>
                </p:cNvPr>
                <p:cNvSpPr txBox="1"/>
                <p:nvPr/>
              </p:nvSpPr>
              <p:spPr>
                <a:xfrm>
                  <a:off x="4975494" y="3999129"/>
                  <a:ext cx="3161789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kumimoji="1" lang="en-US" altLang="zh-CN" sz="2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Found</a:t>
                  </a:r>
                  <a:r>
                    <a:rPr kumimoji="1" lang="zh-CN" altLang="en-US" sz="2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one</a:t>
                  </a:r>
                  <a:r>
                    <a:rPr kumimoji="1" lang="zh-CN" altLang="en-US" sz="2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rule!</a:t>
                  </a: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𝑁𝑃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→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𝐷𝑒𝑡</m:t>
                        </m:r>
                        <m:r>
                          <a:rPr kumimoji="1" lang="zh-CN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𝑁𝑜𝑚𝑖𝑛𝑎𝑙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BC7E6185-C7B7-7A5F-88FF-45B57C8B10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5494" y="3999129"/>
                  <a:ext cx="3161789" cy="707886"/>
                </a:xfrm>
                <a:prstGeom prst="rect">
                  <a:avLst/>
                </a:prstGeom>
                <a:blipFill>
                  <a:blip r:embed="rId4"/>
                  <a:stretch>
                    <a:fillRect l="-2000" t="-3509" b="-105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8874BA62-5F5F-0FB4-ADB4-F3CED96A1000}"/>
              </a:ext>
            </a:extLst>
          </p:cNvPr>
          <p:cNvSpPr txBox="1"/>
          <p:nvPr/>
        </p:nvSpPr>
        <p:spPr>
          <a:xfrm>
            <a:off x="3717991" y="4973524"/>
            <a:ext cx="922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Nominal,</a:t>
            </a:r>
          </a:p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Noun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7E39BCED-6E20-37A5-CC0E-5CCDF72663FE}"/>
              </a:ext>
            </a:extLst>
          </p:cNvPr>
          <p:cNvSpPr/>
          <p:nvPr/>
        </p:nvSpPr>
        <p:spPr>
          <a:xfrm>
            <a:off x="3680094" y="3965283"/>
            <a:ext cx="824235" cy="824235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EE17880-8780-0D41-0FEA-F269A60C8A51}"/>
              </a:ext>
            </a:extLst>
          </p:cNvPr>
          <p:cNvGrpSpPr/>
          <p:nvPr/>
        </p:nvGrpSpPr>
        <p:grpSpPr>
          <a:xfrm>
            <a:off x="3410367" y="2544932"/>
            <a:ext cx="4726916" cy="2505742"/>
            <a:chOff x="3410367" y="2544932"/>
            <a:chExt cx="4726916" cy="25057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926BB17-07C4-B41B-3156-2E14851BF373}"/>
                    </a:ext>
                  </a:extLst>
                </p:cNvPr>
                <p:cNvSpPr txBox="1"/>
                <p:nvPr/>
              </p:nvSpPr>
              <p:spPr>
                <a:xfrm>
                  <a:off x="4975494" y="2544932"/>
                  <a:ext cx="3161789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Look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up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the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grammar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table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to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find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rule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𝐴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→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𝐵</m:t>
                      </m:r>
                      <m:r>
                        <a:rPr kumimoji="1" lang="zh-CN" altLang="en-US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𝐶</m:t>
                      </m:r>
                    </m:oMath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algn="l"/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such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that</a:t>
                  </a:r>
                </a:p>
                <a:p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𝐵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∈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𝑚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[1,2]</m:t>
                      </m:r>
                    </m:oMath>
                  </a14:m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and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𝐶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∈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𝑚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[2,3]</m:t>
                      </m:r>
                    </m:oMath>
                  </a14:m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926BB17-07C4-B41B-3156-2E14851BF3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5494" y="2544932"/>
                  <a:ext cx="3161789" cy="1323439"/>
                </a:xfrm>
                <a:prstGeom prst="rect">
                  <a:avLst/>
                </a:prstGeom>
                <a:blipFill>
                  <a:blip r:embed="rId5"/>
                  <a:stretch>
                    <a:fillRect l="-2000" t="-2857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下箭头 38">
              <a:extLst>
                <a:ext uri="{FF2B5EF4-FFF2-40B4-BE49-F238E27FC236}">
                  <a16:creationId xmlns:a16="http://schemas.microsoft.com/office/drawing/2014/main" id="{BC969018-ED88-7174-676E-F3C7C276B080}"/>
                </a:ext>
              </a:extLst>
            </p:cNvPr>
            <p:cNvSpPr/>
            <p:nvPr/>
          </p:nvSpPr>
          <p:spPr>
            <a:xfrm>
              <a:off x="4038600" y="4824097"/>
              <a:ext cx="137594" cy="226577"/>
            </a:xfrm>
            <a:prstGeom prst="down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" name="下箭头 46">
              <a:extLst>
                <a:ext uri="{FF2B5EF4-FFF2-40B4-BE49-F238E27FC236}">
                  <a16:creationId xmlns:a16="http://schemas.microsoft.com/office/drawing/2014/main" id="{A650A320-5FF7-C05B-656F-080960F58333}"/>
                </a:ext>
              </a:extLst>
            </p:cNvPr>
            <p:cNvSpPr/>
            <p:nvPr/>
          </p:nvSpPr>
          <p:spPr>
            <a:xfrm rot="5400000">
              <a:off x="3454859" y="4238164"/>
              <a:ext cx="137594" cy="226577"/>
            </a:xfrm>
            <a:prstGeom prst="down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0764E73A-EEC6-DAD6-0BE7-275677CD845C}"/>
              </a:ext>
            </a:extLst>
          </p:cNvPr>
          <p:cNvGrpSpPr/>
          <p:nvPr/>
        </p:nvGrpSpPr>
        <p:grpSpPr>
          <a:xfrm>
            <a:off x="3749563" y="4381411"/>
            <a:ext cx="3420649" cy="1240211"/>
            <a:chOff x="3749563" y="4381411"/>
            <a:chExt cx="3420649" cy="12402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1A5A1E8-39A2-03A7-9975-4E215E5E8AE0}"/>
                    </a:ext>
                  </a:extLst>
                </p:cNvPr>
                <p:cNvSpPr txBox="1"/>
                <p:nvPr/>
              </p:nvSpPr>
              <p:spPr>
                <a:xfrm>
                  <a:off x="4973830" y="4913736"/>
                  <a:ext cx="2196382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kumimoji="1" lang="en-US" altLang="zh-CN" sz="2000" b="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Store</a:t>
                  </a:r>
                  <a:r>
                    <a:rPr kumimoji="1" lang="zh-CN" altLang="en-US" sz="2000" b="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b="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it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:</a:t>
                  </a:r>
                  <a:r>
                    <a:rPr kumimoji="1" lang="zh-CN" altLang="en-US" sz="2000" b="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endParaRPr kumimoji="1" lang="en-US" altLang="zh-CN" sz="2000" b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𝑚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2,3</m:t>
                            </m:r>
                          </m:e>
                        </m:d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={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𝑁𝑃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}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1A5A1E8-39A2-03A7-9975-4E215E5E8A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3830" y="4913736"/>
                  <a:ext cx="2196382" cy="707886"/>
                </a:xfrm>
                <a:prstGeom prst="rect">
                  <a:avLst/>
                </a:prstGeom>
                <a:blipFill>
                  <a:blip r:embed="rId6"/>
                  <a:stretch>
                    <a:fillRect l="-2874" t="-3509" b="-70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B9C3ECBC-BF2B-1353-A5FA-6B9012B67D6D}"/>
                </a:ext>
              </a:extLst>
            </p:cNvPr>
            <p:cNvSpPr txBox="1"/>
            <p:nvPr/>
          </p:nvSpPr>
          <p:spPr>
            <a:xfrm>
              <a:off x="3749563" y="4381411"/>
              <a:ext cx="9223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NP</a:t>
              </a:r>
              <a:endPara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0538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046EF-B5AC-4131-2614-73976453E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17" y="136525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CKY Recognition: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E85E98-35B7-EA3E-61E4-8653DAD55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74BF5D-E1BE-8C60-6DF9-9D10D4E3C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130A18-FB01-C0A4-79CB-224CA450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32</a:t>
            </a:fld>
            <a:endParaRPr kumimoji="1" lang="zh-CN" altLang="en-US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24C3F6B-D8F8-F8A7-A977-4FCBB2BDDFCF}"/>
              </a:ext>
            </a:extLst>
          </p:cNvPr>
          <p:cNvGrpSpPr/>
          <p:nvPr/>
        </p:nvGrpSpPr>
        <p:grpSpPr>
          <a:xfrm>
            <a:off x="724323" y="1630961"/>
            <a:ext cx="4128479" cy="627746"/>
            <a:chOff x="724323" y="1630961"/>
            <a:chExt cx="4128479" cy="627746"/>
          </a:xfrm>
        </p:grpSpPr>
        <p:sp>
          <p:nvSpPr>
            <p:cNvPr id="35" name="圆角矩形 34">
              <a:extLst>
                <a:ext uri="{FF2B5EF4-FFF2-40B4-BE49-F238E27FC236}">
                  <a16:creationId xmlns:a16="http://schemas.microsoft.com/office/drawing/2014/main" id="{754078C8-892B-56B7-A8B6-83EF80282AF6}"/>
                </a:ext>
              </a:extLst>
            </p:cNvPr>
            <p:cNvSpPr/>
            <p:nvPr/>
          </p:nvSpPr>
          <p:spPr>
            <a:xfrm>
              <a:off x="724323" y="1653643"/>
              <a:ext cx="4128479" cy="60506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CCFE8BD-187A-C7AF-5CC7-277A1E3CA827}"/>
                </a:ext>
              </a:extLst>
            </p:cNvPr>
            <p:cNvGrpSpPr/>
            <p:nvPr/>
          </p:nvGrpSpPr>
          <p:grpSpPr>
            <a:xfrm>
              <a:off x="724324" y="1630961"/>
              <a:ext cx="3893227" cy="605064"/>
              <a:chOff x="1977554" y="3792686"/>
              <a:chExt cx="3893227" cy="605064"/>
            </a:xfrm>
          </p:grpSpPr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613788E-29BA-A9A2-2D86-0E183C387DA2}"/>
                  </a:ext>
                </a:extLst>
              </p:cNvPr>
              <p:cNvSpPr txBox="1"/>
              <p:nvPr/>
            </p:nvSpPr>
            <p:spPr>
              <a:xfrm>
                <a:off x="3241964" y="3792686"/>
                <a:ext cx="24545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Book    the    flight</a:t>
                </a:r>
                <a:endParaRPr kumimoji="1"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5AF28A1-CB3E-B63E-7643-B7374F9DBB9F}"/>
                  </a:ext>
                </a:extLst>
              </p:cNvPr>
              <p:cNvSpPr txBox="1"/>
              <p:nvPr/>
            </p:nvSpPr>
            <p:spPr>
              <a:xfrm>
                <a:off x="2927454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1D008B0-4416-6BB5-C62D-8D7290289AFD}"/>
                  </a:ext>
                </a:extLst>
              </p:cNvPr>
              <p:cNvSpPr txBox="1"/>
              <p:nvPr/>
            </p:nvSpPr>
            <p:spPr>
              <a:xfrm>
                <a:off x="3961003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DBDF0F0-FE0D-618D-787E-3138D5792FE5}"/>
                  </a:ext>
                </a:extLst>
              </p:cNvPr>
              <p:cNvSpPr txBox="1"/>
              <p:nvPr/>
            </p:nvSpPr>
            <p:spPr>
              <a:xfrm>
                <a:off x="4590023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57675FD-F91C-D783-2650-8E882B5591B9}"/>
                  </a:ext>
                </a:extLst>
              </p:cNvPr>
              <p:cNvSpPr txBox="1"/>
              <p:nvPr/>
            </p:nvSpPr>
            <p:spPr>
              <a:xfrm>
                <a:off x="5556271" y="3997640"/>
                <a:ext cx="314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8616AB6-7059-7F63-CAF4-57AFC6EA635F}"/>
                  </a:ext>
                </a:extLst>
              </p:cNvPr>
              <p:cNvSpPr txBox="1"/>
              <p:nvPr/>
            </p:nvSpPr>
            <p:spPr>
              <a:xfrm>
                <a:off x="1977554" y="3997640"/>
                <a:ext cx="8796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Index: </a:t>
                </a:r>
                <a:endPara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DFD37729-D886-2E58-F4FC-11219C4A5507}"/>
              </a:ext>
            </a:extLst>
          </p:cNvPr>
          <p:cNvSpPr/>
          <p:nvPr/>
        </p:nvSpPr>
        <p:spPr>
          <a:xfrm>
            <a:off x="2301071" y="3299402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8C163E-FF22-5431-1ADD-06972C8053D4}"/>
              </a:ext>
            </a:extLst>
          </p:cNvPr>
          <p:cNvSpPr/>
          <p:nvPr/>
        </p:nvSpPr>
        <p:spPr>
          <a:xfrm>
            <a:off x="3728441" y="3299402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37C202-0B70-8F78-9FA2-5DC587AF0F18}"/>
              </a:ext>
            </a:extLst>
          </p:cNvPr>
          <p:cNvSpPr/>
          <p:nvPr/>
        </p:nvSpPr>
        <p:spPr>
          <a:xfrm>
            <a:off x="3007415" y="3299402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8E86F74-366B-B793-405B-86BDE5CFDE4D}"/>
              </a:ext>
            </a:extLst>
          </p:cNvPr>
          <p:cNvSpPr txBox="1"/>
          <p:nvPr/>
        </p:nvSpPr>
        <p:spPr>
          <a:xfrm>
            <a:off x="2471473" y="28657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9EC231-33A2-AF2F-7927-690605D60AD4}"/>
              </a:ext>
            </a:extLst>
          </p:cNvPr>
          <p:cNvSpPr/>
          <p:nvPr/>
        </p:nvSpPr>
        <p:spPr>
          <a:xfrm>
            <a:off x="1575810" y="3304700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354129-CB47-3806-49B5-7A18552BA775}"/>
              </a:ext>
            </a:extLst>
          </p:cNvPr>
          <p:cNvSpPr txBox="1"/>
          <p:nvPr/>
        </p:nvSpPr>
        <p:spPr>
          <a:xfrm>
            <a:off x="1741713" y="286305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20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5708FAE-8879-FBA6-3CD5-B3190E037874}"/>
              </a:ext>
            </a:extLst>
          </p:cNvPr>
          <p:cNvSpPr txBox="1"/>
          <p:nvPr/>
        </p:nvSpPr>
        <p:spPr>
          <a:xfrm>
            <a:off x="2328899" y="2586951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22F5A1-A4C4-025A-6E0F-C45B3E912718}"/>
              </a:ext>
            </a:extLst>
          </p:cNvPr>
          <p:cNvSpPr txBox="1"/>
          <p:nvPr/>
        </p:nvSpPr>
        <p:spPr>
          <a:xfrm>
            <a:off x="1092604" y="3450115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20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020231A-06AC-2499-75D4-AE0D7A8B39BD}"/>
              </a:ext>
            </a:extLst>
          </p:cNvPr>
          <p:cNvSpPr/>
          <p:nvPr/>
        </p:nvSpPr>
        <p:spPr>
          <a:xfrm>
            <a:off x="3007414" y="4009979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95BCB0B-CB9A-FE5D-48C4-17A71A0510F4}"/>
              </a:ext>
            </a:extLst>
          </p:cNvPr>
          <p:cNvSpPr/>
          <p:nvPr/>
        </p:nvSpPr>
        <p:spPr>
          <a:xfrm>
            <a:off x="3732675" y="4020589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43568E5-043A-71AD-630E-248959E31FF8}"/>
              </a:ext>
            </a:extLst>
          </p:cNvPr>
          <p:cNvSpPr/>
          <p:nvPr/>
        </p:nvSpPr>
        <p:spPr>
          <a:xfrm>
            <a:off x="2291886" y="4020589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9458340-2DB4-F297-CA2D-F078AFE98847}"/>
              </a:ext>
            </a:extLst>
          </p:cNvPr>
          <p:cNvSpPr/>
          <p:nvPr/>
        </p:nvSpPr>
        <p:spPr>
          <a:xfrm>
            <a:off x="3014405" y="4733015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78A14EF-FF0A-43E5-F1D2-A855E81D0F41}"/>
              </a:ext>
            </a:extLst>
          </p:cNvPr>
          <p:cNvSpPr/>
          <p:nvPr/>
        </p:nvSpPr>
        <p:spPr>
          <a:xfrm>
            <a:off x="3736924" y="4731166"/>
            <a:ext cx="710577" cy="7105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F805FF9-FDDD-856D-FEC3-57455A9DA7BD}"/>
              </a:ext>
            </a:extLst>
          </p:cNvPr>
          <p:cNvSpPr/>
          <p:nvPr/>
        </p:nvSpPr>
        <p:spPr>
          <a:xfrm>
            <a:off x="3736924" y="5441743"/>
            <a:ext cx="710577" cy="710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D67A82E-E7FE-EC20-60C9-63937C07C837}"/>
              </a:ext>
            </a:extLst>
          </p:cNvPr>
          <p:cNvSpPr txBox="1"/>
          <p:nvPr/>
        </p:nvSpPr>
        <p:spPr>
          <a:xfrm>
            <a:off x="1093787" y="419918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D2B8CFD-EF19-F4C2-20D6-E87D4956C219}"/>
              </a:ext>
            </a:extLst>
          </p:cNvPr>
          <p:cNvSpPr txBox="1"/>
          <p:nvPr/>
        </p:nvSpPr>
        <p:spPr>
          <a:xfrm>
            <a:off x="1092604" y="492957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F787CE4-5186-9AD6-EB05-F9B4C768F9BA}"/>
              </a:ext>
            </a:extLst>
          </p:cNvPr>
          <p:cNvSpPr txBox="1"/>
          <p:nvPr/>
        </p:nvSpPr>
        <p:spPr>
          <a:xfrm>
            <a:off x="1092604" y="564296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5B16EB4-60CA-A8B7-ABD7-C9D85FFBC2C7}"/>
              </a:ext>
            </a:extLst>
          </p:cNvPr>
          <p:cNvSpPr txBox="1"/>
          <p:nvPr/>
        </p:nvSpPr>
        <p:spPr>
          <a:xfrm>
            <a:off x="3134654" y="258695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51F34BF-B56E-E297-E907-9BFF0A13DA5E}"/>
              </a:ext>
            </a:extLst>
          </p:cNvPr>
          <p:cNvSpPr txBox="1"/>
          <p:nvPr/>
        </p:nvSpPr>
        <p:spPr>
          <a:xfrm>
            <a:off x="3830945" y="2586950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D4AFFE7-4E93-9583-F690-1015E8FF7631}"/>
              </a:ext>
            </a:extLst>
          </p:cNvPr>
          <p:cNvSpPr txBox="1"/>
          <p:nvPr/>
        </p:nvSpPr>
        <p:spPr>
          <a:xfrm>
            <a:off x="3205447" y="28657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7A5BD51-68C8-EBC4-B601-65DCA221D1E2}"/>
              </a:ext>
            </a:extLst>
          </p:cNvPr>
          <p:cNvSpPr txBox="1"/>
          <p:nvPr/>
        </p:nvSpPr>
        <p:spPr>
          <a:xfrm>
            <a:off x="3934957" y="28657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9A06FA29-9E42-FCEA-20EA-5791DEB6B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020" y="683403"/>
            <a:ext cx="3296153" cy="495204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EBAB585A-CE43-B473-3CE7-457FF520E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020" y="5642961"/>
            <a:ext cx="3004647" cy="674400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A9D2DF41-FE88-6228-0DB3-30C4CFA9850D}"/>
              </a:ext>
            </a:extLst>
          </p:cNvPr>
          <p:cNvSpPr txBox="1"/>
          <p:nvPr/>
        </p:nvSpPr>
        <p:spPr>
          <a:xfrm>
            <a:off x="2246590" y="3338032"/>
            <a:ext cx="922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S, VP,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Verb,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Nominal,</a:t>
            </a:r>
          </a:p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Noun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300D19-5DD2-1368-E868-CE48C83D3C8E}"/>
              </a:ext>
            </a:extLst>
          </p:cNvPr>
          <p:cNvSpPr txBox="1"/>
          <p:nvPr/>
        </p:nvSpPr>
        <p:spPr>
          <a:xfrm>
            <a:off x="5236293" y="1666118"/>
            <a:ext cx="2223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Solve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span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[0,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3]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A0C8184-EA33-DBB1-6ADB-912FCAD705E4}"/>
              </a:ext>
            </a:extLst>
          </p:cNvPr>
          <p:cNvSpPr txBox="1"/>
          <p:nvPr/>
        </p:nvSpPr>
        <p:spPr>
          <a:xfrm>
            <a:off x="3022213" y="4381411"/>
            <a:ext cx="4687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Det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874BA62-5F5F-0FB4-ADB4-F3CED96A1000}"/>
              </a:ext>
            </a:extLst>
          </p:cNvPr>
          <p:cNvSpPr txBox="1"/>
          <p:nvPr/>
        </p:nvSpPr>
        <p:spPr>
          <a:xfrm>
            <a:off x="3717991" y="4973524"/>
            <a:ext cx="922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Nominal,</a:t>
            </a:r>
          </a:p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Noun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7E39BCED-6E20-37A5-CC0E-5CCDF72663FE}"/>
              </a:ext>
            </a:extLst>
          </p:cNvPr>
          <p:cNvSpPr/>
          <p:nvPr/>
        </p:nvSpPr>
        <p:spPr>
          <a:xfrm>
            <a:off x="3671611" y="3247870"/>
            <a:ext cx="824235" cy="824235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9C3ECBC-BF2B-1353-A5FA-6B9012B67D6D}"/>
              </a:ext>
            </a:extLst>
          </p:cNvPr>
          <p:cNvSpPr txBox="1"/>
          <p:nvPr/>
        </p:nvSpPr>
        <p:spPr>
          <a:xfrm>
            <a:off x="3749563" y="4381411"/>
            <a:ext cx="9223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NP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2CD45427-B171-931C-7E85-382046AAFCB5}"/>
                  </a:ext>
                </a:extLst>
              </p:cNvPr>
              <p:cNvSpPr txBox="1"/>
              <p:nvPr/>
            </p:nvSpPr>
            <p:spPr>
              <a:xfrm>
                <a:off x="4965656" y="2275759"/>
                <a:ext cx="3056414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There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two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ways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split:</a:t>
                </a:r>
              </a:p>
              <a:p>
                <a:pPr algn="l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0,3</m:t>
                        </m:r>
                      </m:e>
                    </m:d>
                    <m:r>
                      <a:rPr kumimoji="1"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0,1</m:t>
                        </m:r>
                      </m:e>
                    </m:d>
                    <m:r>
                      <a:rPr kumimoji="1"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+[1,3]</m:t>
                    </m:r>
                  </m:oMath>
                </a14:m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</a:p>
              <a:p>
                <a:pPr algn="l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0,3</m:t>
                        </m:r>
                      </m:e>
                    </m:d>
                    <m:r>
                      <a:rPr kumimoji="1"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0,2</m:t>
                        </m:r>
                      </m:e>
                    </m:d>
                    <m:r>
                      <a:rPr kumimoji="1"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+[2,3]</m:t>
                    </m:r>
                  </m:oMath>
                </a14:m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2CD45427-B171-931C-7E85-382046AAF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656" y="2275759"/>
                <a:ext cx="3056414" cy="1015663"/>
              </a:xfrm>
              <a:prstGeom prst="rect">
                <a:avLst/>
              </a:prstGeom>
              <a:blipFill>
                <a:blip r:embed="rId4"/>
                <a:stretch>
                  <a:fillRect l="-2490" t="-3704" r="-1245" b="-4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组合 60">
            <a:extLst>
              <a:ext uri="{FF2B5EF4-FFF2-40B4-BE49-F238E27FC236}">
                <a16:creationId xmlns:a16="http://schemas.microsoft.com/office/drawing/2014/main" id="{86F36F4C-2644-7084-D1B8-96AA0B53CEAF}"/>
              </a:ext>
            </a:extLst>
          </p:cNvPr>
          <p:cNvGrpSpPr/>
          <p:nvPr/>
        </p:nvGrpSpPr>
        <p:grpSpPr>
          <a:xfrm>
            <a:off x="2736818" y="3659624"/>
            <a:ext cx="5305874" cy="1841230"/>
            <a:chOff x="2736818" y="3659624"/>
            <a:chExt cx="5305874" cy="18412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926BB17-07C4-B41B-3156-2E14851BF373}"/>
                    </a:ext>
                  </a:extLst>
                </p:cNvPr>
                <p:cNvSpPr txBox="1"/>
                <p:nvPr/>
              </p:nvSpPr>
              <p:spPr>
                <a:xfrm>
                  <a:off x="4880903" y="4177415"/>
                  <a:ext cx="3161789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Look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up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the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grammar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table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to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find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rule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𝐴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→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𝐵</m:t>
                      </m:r>
                      <m:r>
                        <a:rPr kumimoji="1" lang="zh-CN" altLang="en-US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𝐶</m:t>
                      </m:r>
                    </m:oMath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algn="l"/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such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that</a:t>
                  </a:r>
                </a:p>
                <a:p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𝐵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∈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𝑚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[0,1]</m:t>
                      </m:r>
                    </m:oMath>
                  </a14:m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and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𝐶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∈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𝑚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[1,3]</m:t>
                      </m:r>
                    </m:oMath>
                  </a14:m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926BB17-07C4-B41B-3156-2E14851BF3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0903" y="4177415"/>
                  <a:ext cx="3161789" cy="1323439"/>
                </a:xfrm>
                <a:prstGeom prst="rect">
                  <a:avLst/>
                </a:prstGeom>
                <a:blipFill>
                  <a:blip r:embed="rId5"/>
                  <a:stretch>
                    <a:fillRect l="-2000" t="-1905" b="-76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下箭头 38">
              <a:extLst>
                <a:ext uri="{FF2B5EF4-FFF2-40B4-BE49-F238E27FC236}">
                  <a16:creationId xmlns:a16="http://schemas.microsoft.com/office/drawing/2014/main" id="{BC969018-ED88-7174-676E-F3C7C276B080}"/>
                </a:ext>
              </a:extLst>
            </p:cNvPr>
            <p:cNvSpPr/>
            <p:nvPr/>
          </p:nvSpPr>
          <p:spPr>
            <a:xfrm>
              <a:off x="4030130" y="4146431"/>
              <a:ext cx="137594" cy="226577"/>
            </a:xfrm>
            <a:prstGeom prst="down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" name="下箭头 46">
              <a:extLst>
                <a:ext uri="{FF2B5EF4-FFF2-40B4-BE49-F238E27FC236}">
                  <a16:creationId xmlns:a16="http://schemas.microsoft.com/office/drawing/2014/main" id="{A650A320-5FF7-C05B-656F-080960F58333}"/>
                </a:ext>
              </a:extLst>
            </p:cNvPr>
            <p:cNvSpPr/>
            <p:nvPr/>
          </p:nvSpPr>
          <p:spPr>
            <a:xfrm rot="5400000">
              <a:off x="2781310" y="3615132"/>
              <a:ext cx="137594" cy="226577"/>
            </a:xfrm>
            <a:prstGeom prst="down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E4E23C7F-3C9B-92C6-9781-75CFEAE6EED6}"/>
              </a:ext>
            </a:extLst>
          </p:cNvPr>
          <p:cNvGrpSpPr/>
          <p:nvPr/>
        </p:nvGrpSpPr>
        <p:grpSpPr>
          <a:xfrm>
            <a:off x="4912968" y="2623299"/>
            <a:ext cx="3161789" cy="1448806"/>
            <a:chOff x="4912969" y="2688080"/>
            <a:chExt cx="3161789" cy="14488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2B57A52-F591-B42D-689D-8F6722AADE5D}"/>
                    </a:ext>
                  </a:extLst>
                </p:cNvPr>
                <p:cNvSpPr txBox="1"/>
                <p:nvPr/>
              </p:nvSpPr>
              <p:spPr>
                <a:xfrm>
                  <a:off x="4912969" y="3429000"/>
                  <a:ext cx="3161789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But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since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0,2</m:t>
                          </m:r>
                        </m:e>
                      </m:d>
                      <m:r>
                        <a:rPr kumimoji="1" lang="en-US" altLang="zh-CN" sz="2000" b="0" i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∅</m:t>
                      </m:r>
                    </m:oMath>
                  </a14:m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,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only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consider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the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first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split</a:t>
                  </a:r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2B57A52-F591-B42D-689D-8F6722AADE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2969" y="3429000"/>
                  <a:ext cx="3161789" cy="707886"/>
                </a:xfrm>
                <a:prstGeom prst="rect">
                  <a:avLst/>
                </a:prstGeom>
                <a:blipFill>
                  <a:blip r:embed="rId6"/>
                  <a:stretch>
                    <a:fillRect l="-2000" t="-3509" b="-140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圆角矩形 51">
              <a:extLst>
                <a:ext uri="{FF2B5EF4-FFF2-40B4-BE49-F238E27FC236}">
                  <a16:creationId xmlns:a16="http://schemas.microsoft.com/office/drawing/2014/main" id="{235F5781-F900-47A0-77F4-E3A96C892537}"/>
                </a:ext>
              </a:extLst>
            </p:cNvPr>
            <p:cNvSpPr/>
            <p:nvPr/>
          </p:nvSpPr>
          <p:spPr>
            <a:xfrm>
              <a:off x="4965657" y="2688080"/>
              <a:ext cx="2443716" cy="319086"/>
            </a:xfrm>
            <a:prstGeom prst="roundRect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44F13105-1DD3-2098-8F25-D7931DD13B44}"/>
              </a:ext>
            </a:extLst>
          </p:cNvPr>
          <p:cNvGrpSpPr/>
          <p:nvPr/>
        </p:nvGrpSpPr>
        <p:grpSpPr>
          <a:xfrm>
            <a:off x="3725135" y="1834255"/>
            <a:ext cx="8280038" cy="4529620"/>
            <a:chOff x="3725135" y="1834255"/>
            <a:chExt cx="8280038" cy="4529620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8B06F8F-59FC-9528-47BA-655A6E3317DD}"/>
                </a:ext>
              </a:extLst>
            </p:cNvPr>
            <p:cNvSpPr/>
            <p:nvPr/>
          </p:nvSpPr>
          <p:spPr>
            <a:xfrm>
              <a:off x="8638426" y="1834255"/>
              <a:ext cx="3366747" cy="243840"/>
            </a:xfrm>
            <a:prstGeom prst="rect">
              <a:avLst/>
            </a:prstGeom>
            <a:solidFill>
              <a:srgbClr val="C00000">
                <a:alpha val="30000"/>
              </a:srgb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C7E6185-C7B7-7A5F-88FF-45B57C8B10E1}"/>
                </a:ext>
              </a:extLst>
            </p:cNvPr>
            <p:cNvSpPr txBox="1"/>
            <p:nvPr/>
          </p:nvSpPr>
          <p:spPr>
            <a:xfrm>
              <a:off x="4860281" y="5606165"/>
              <a:ext cx="31617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Found</a:t>
              </a:r>
              <a:r>
                <a:rPr kumimoji="1" lang="zh-CN" altLang="en-US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three</a:t>
              </a:r>
              <a:r>
                <a:rPr kumimoji="1" lang="zh-CN" altLang="en-US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rules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1A5A1E8-39A2-03A7-9975-4E215E5E8AE0}"/>
                    </a:ext>
                  </a:extLst>
                </p:cNvPr>
                <p:cNvSpPr txBox="1"/>
                <p:nvPr/>
              </p:nvSpPr>
              <p:spPr>
                <a:xfrm>
                  <a:off x="4728381" y="5963765"/>
                  <a:ext cx="334637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𝑚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0,3</m:t>
                            </m:r>
                          </m:e>
                        </m:d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={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𝑆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𝑉𝑃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𝑋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2}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1A5A1E8-39A2-03A7-9975-4E215E5E8A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8381" y="5963765"/>
                  <a:ext cx="3346375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121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295B851C-506F-D7AE-FADE-D9DE8DD2A23A}"/>
                </a:ext>
              </a:extLst>
            </p:cNvPr>
            <p:cNvSpPr/>
            <p:nvPr/>
          </p:nvSpPr>
          <p:spPr>
            <a:xfrm>
              <a:off x="8638426" y="4229532"/>
              <a:ext cx="3366747" cy="243840"/>
            </a:xfrm>
            <a:prstGeom prst="rect">
              <a:avLst/>
            </a:prstGeom>
            <a:solidFill>
              <a:srgbClr val="C00000">
                <a:alpha val="30000"/>
              </a:srgb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53BDA8CF-223B-A967-9564-C8EF72179AA5}"/>
                </a:ext>
              </a:extLst>
            </p:cNvPr>
            <p:cNvSpPr/>
            <p:nvPr/>
          </p:nvSpPr>
          <p:spPr>
            <a:xfrm>
              <a:off x="8638426" y="4692406"/>
              <a:ext cx="3366747" cy="243840"/>
            </a:xfrm>
            <a:prstGeom prst="rect">
              <a:avLst/>
            </a:prstGeom>
            <a:solidFill>
              <a:srgbClr val="C00000">
                <a:alpha val="30000"/>
              </a:srgb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420D1241-C341-C743-A4CC-F1A8B0370361}"/>
                </a:ext>
              </a:extLst>
            </p:cNvPr>
            <p:cNvSpPr txBox="1"/>
            <p:nvPr/>
          </p:nvSpPr>
          <p:spPr>
            <a:xfrm>
              <a:off x="3725135" y="3345288"/>
              <a:ext cx="9223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S,</a:t>
              </a:r>
              <a:r>
                <a:rPr kumimoji="1" lang="zh-CN" alt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VP,</a:t>
              </a:r>
              <a:r>
                <a:rPr kumimoji="1" lang="zh-CN" alt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X2</a:t>
              </a:r>
              <a:endPara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3379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6" grpId="0" animBg="1"/>
      <p:bldP spid="4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C64B6-1A25-2091-0658-1F8C1CE7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230" y="121835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CKY Algorithm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A7DF748-5770-0F73-844C-4D3832D48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E4DB76-9616-5BDC-9297-257EE41EB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33</a:t>
            </a:fld>
            <a:endParaRPr kumimoji="1" lang="zh-CN" altLang="en-US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D3280CA0-5CFB-D0F0-EF3C-DA3850B0D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A8402EE-1962-D73F-23B0-EEA29C914E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476"/>
          <a:stretch/>
        </p:blipFill>
        <p:spPr>
          <a:xfrm>
            <a:off x="782230" y="1475822"/>
            <a:ext cx="7584935" cy="247309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EA17FA1-7808-4984-AC94-AA060EB4A851}"/>
              </a:ext>
            </a:extLst>
          </p:cNvPr>
          <p:cNvSpPr txBox="1"/>
          <p:nvPr/>
        </p:nvSpPr>
        <p:spPr>
          <a:xfrm>
            <a:off x="782230" y="3959625"/>
            <a:ext cx="25512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Fig.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CKY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Algorithm.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17,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pp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14,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SLP3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595322B5-247E-D8AC-CE49-D9DF5BB83135}"/>
              </a:ext>
            </a:extLst>
          </p:cNvPr>
          <p:cNvGrpSpPr/>
          <p:nvPr/>
        </p:nvGrpSpPr>
        <p:grpSpPr>
          <a:xfrm>
            <a:off x="8274983" y="2497158"/>
            <a:ext cx="3584822" cy="3784760"/>
            <a:chOff x="8274983" y="2497158"/>
            <a:chExt cx="3584822" cy="378476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B2D25C3-FA2F-707F-72E6-FC1F67EC90E3}"/>
                </a:ext>
              </a:extLst>
            </p:cNvPr>
            <p:cNvSpPr/>
            <p:nvPr/>
          </p:nvSpPr>
          <p:spPr>
            <a:xfrm>
              <a:off x="9713375" y="3429000"/>
              <a:ext cx="710577" cy="71057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7361738-8DDB-BCDE-AB2F-80C7C3507EF2}"/>
                </a:ext>
              </a:extLst>
            </p:cNvPr>
            <p:cNvSpPr/>
            <p:nvPr/>
          </p:nvSpPr>
          <p:spPr>
            <a:xfrm>
              <a:off x="11140745" y="3429000"/>
              <a:ext cx="710577" cy="71057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3385BD8-AE58-118D-1EAB-E9B72334A02A}"/>
                </a:ext>
              </a:extLst>
            </p:cNvPr>
            <p:cNvSpPr/>
            <p:nvPr/>
          </p:nvSpPr>
          <p:spPr>
            <a:xfrm>
              <a:off x="10419719" y="3429000"/>
              <a:ext cx="710577" cy="71057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48CC047-69BB-E082-DB7B-B8800BB4181C}"/>
                </a:ext>
              </a:extLst>
            </p:cNvPr>
            <p:cNvSpPr/>
            <p:nvPr/>
          </p:nvSpPr>
          <p:spPr>
            <a:xfrm>
              <a:off x="8988114" y="3434298"/>
              <a:ext cx="710577" cy="7105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3F9FCC9-7643-6C20-8FAE-F551692435A0}"/>
                </a:ext>
              </a:extLst>
            </p:cNvPr>
            <p:cNvSpPr txBox="1"/>
            <p:nvPr/>
          </p:nvSpPr>
          <p:spPr>
            <a:xfrm>
              <a:off x="8504908" y="3579713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kumimoji="1" lang="zh-CN" altLang="en-US" sz="2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776F8BC-A1D1-AAA3-F4B6-6C5521205852}"/>
                </a:ext>
              </a:extLst>
            </p:cNvPr>
            <p:cNvSpPr/>
            <p:nvPr/>
          </p:nvSpPr>
          <p:spPr>
            <a:xfrm>
              <a:off x="10419718" y="4139577"/>
              <a:ext cx="710577" cy="71057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D4A1B54-3FD2-EB0C-983D-F6DE457B6408}"/>
                </a:ext>
              </a:extLst>
            </p:cNvPr>
            <p:cNvSpPr/>
            <p:nvPr/>
          </p:nvSpPr>
          <p:spPr>
            <a:xfrm>
              <a:off x="11144979" y="4150187"/>
              <a:ext cx="710577" cy="71057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77CA680-3ECB-3188-C123-D73893AE88F3}"/>
                </a:ext>
              </a:extLst>
            </p:cNvPr>
            <p:cNvSpPr/>
            <p:nvPr/>
          </p:nvSpPr>
          <p:spPr>
            <a:xfrm>
              <a:off x="9704190" y="4150187"/>
              <a:ext cx="710577" cy="7105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D011E76-1CEC-670C-385D-22498BBE843D}"/>
                </a:ext>
              </a:extLst>
            </p:cNvPr>
            <p:cNvSpPr/>
            <p:nvPr/>
          </p:nvSpPr>
          <p:spPr>
            <a:xfrm>
              <a:off x="10426709" y="4862613"/>
              <a:ext cx="710577" cy="7105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D5C26C8-834B-D192-B3A7-8A1B9823A6FE}"/>
                </a:ext>
              </a:extLst>
            </p:cNvPr>
            <p:cNvSpPr/>
            <p:nvPr/>
          </p:nvSpPr>
          <p:spPr>
            <a:xfrm>
              <a:off x="11149228" y="4860764"/>
              <a:ext cx="710577" cy="71057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6B2E7F5-F4CE-659B-7D46-753C12349327}"/>
                </a:ext>
              </a:extLst>
            </p:cNvPr>
            <p:cNvSpPr/>
            <p:nvPr/>
          </p:nvSpPr>
          <p:spPr>
            <a:xfrm>
              <a:off x="11149228" y="5571341"/>
              <a:ext cx="710577" cy="7105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F171D31-1829-B41A-AA9C-031B7348DE0F}"/>
                </a:ext>
              </a:extLst>
            </p:cNvPr>
            <p:cNvSpPr txBox="1"/>
            <p:nvPr/>
          </p:nvSpPr>
          <p:spPr>
            <a:xfrm>
              <a:off x="8506091" y="4328782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7FDC841-3AA5-28B2-2D8D-E98C9372D253}"/>
                </a:ext>
              </a:extLst>
            </p:cNvPr>
            <p:cNvSpPr txBox="1"/>
            <p:nvPr/>
          </p:nvSpPr>
          <p:spPr>
            <a:xfrm>
              <a:off x="8504908" y="5059171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9594036-858C-CFF7-C02D-9C996CF3DD6A}"/>
                </a:ext>
              </a:extLst>
            </p:cNvPr>
            <p:cNvSpPr txBox="1"/>
            <p:nvPr/>
          </p:nvSpPr>
          <p:spPr>
            <a:xfrm>
              <a:off x="8504908" y="577255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CD913BA0-8E55-6A41-5509-D82859A17BE8}"/>
                </a:ext>
              </a:extLst>
            </p:cNvPr>
            <p:cNvSpPr txBox="1"/>
            <p:nvPr/>
          </p:nvSpPr>
          <p:spPr>
            <a:xfrm>
              <a:off x="9890316" y="2972042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A6CC3F2-1DB2-1570-7E59-01DC987162E6}"/>
                </a:ext>
              </a:extLst>
            </p:cNvPr>
            <p:cNvSpPr txBox="1"/>
            <p:nvPr/>
          </p:nvSpPr>
          <p:spPr>
            <a:xfrm>
              <a:off x="9160556" y="2969393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kumimoji="1" lang="zh-CN" altLang="en-US" sz="2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421E7FEA-985E-EDA7-2874-C25B014AB4E3}"/>
                </a:ext>
              </a:extLst>
            </p:cNvPr>
            <p:cNvSpPr txBox="1"/>
            <p:nvPr/>
          </p:nvSpPr>
          <p:spPr>
            <a:xfrm>
              <a:off x="10624290" y="2972042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9A7BCF6-952D-4A36-25DF-38517FEC41A6}"/>
                </a:ext>
              </a:extLst>
            </p:cNvPr>
            <p:cNvSpPr txBox="1"/>
            <p:nvPr/>
          </p:nvSpPr>
          <p:spPr>
            <a:xfrm>
              <a:off x="11353800" y="2972042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79E50FB-99BA-8DD6-0667-4629ADB25548}"/>
                    </a:ext>
                  </a:extLst>
                </p:cNvPr>
                <p:cNvSpPr txBox="1"/>
                <p:nvPr/>
              </p:nvSpPr>
              <p:spPr>
                <a:xfrm>
                  <a:off x="9156019" y="2497158"/>
                  <a:ext cx="33970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𝑗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79E50FB-99BA-8DD6-0667-4629ADB255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6019" y="2497158"/>
                  <a:ext cx="339708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直线箭头连接符 34">
              <a:extLst>
                <a:ext uri="{FF2B5EF4-FFF2-40B4-BE49-F238E27FC236}">
                  <a16:creationId xmlns:a16="http://schemas.microsoft.com/office/drawing/2014/main" id="{381AC895-6B76-9399-F8D8-3EB1E15E5AE1}"/>
                </a:ext>
              </a:extLst>
            </p:cNvPr>
            <p:cNvCxnSpPr/>
            <p:nvPr/>
          </p:nvCxnSpPr>
          <p:spPr>
            <a:xfrm>
              <a:off x="9156019" y="2897268"/>
              <a:ext cx="251229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箭头连接符 35">
              <a:extLst>
                <a:ext uri="{FF2B5EF4-FFF2-40B4-BE49-F238E27FC236}">
                  <a16:creationId xmlns:a16="http://schemas.microsoft.com/office/drawing/2014/main" id="{BCDF60D6-7802-B3AC-C8B3-ADA3582FF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9478" y="3545796"/>
              <a:ext cx="0" cy="5300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箭头连接符 37">
              <a:extLst>
                <a:ext uri="{FF2B5EF4-FFF2-40B4-BE49-F238E27FC236}">
                  <a16:creationId xmlns:a16="http://schemas.microsoft.com/office/drawing/2014/main" id="{A28A266C-141E-EDB5-C049-99B31706BB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6643" y="3545795"/>
              <a:ext cx="0" cy="118309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箭头连接符 39">
              <a:extLst>
                <a:ext uri="{FF2B5EF4-FFF2-40B4-BE49-F238E27FC236}">
                  <a16:creationId xmlns:a16="http://schemas.microsoft.com/office/drawing/2014/main" id="{9026CD77-2EB7-6841-8600-2B6CD90A81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98920" y="3545794"/>
              <a:ext cx="0" cy="19134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2F00BAFE-386C-A668-6CE4-FBCCBB75CB99}"/>
                    </a:ext>
                  </a:extLst>
                </p:cNvPr>
                <p:cNvSpPr txBox="1"/>
                <p:nvPr/>
              </p:nvSpPr>
              <p:spPr>
                <a:xfrm>
                  <a:off x="8274983" y="3579713"/>
                  <a:ext cx="33970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2F00BAFE-386C-A668-6CE4-FBCCBB75CB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4983" y="3579713"/>
                  <a:ext cx="33970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15F99CB-6065-010E-3111-A13C38B23519}"/>
                  </a:ext>
                </a:extLst>
              </p:cNvPr>
              <p:cNvSpPr txBox="1"/>
              <p:nvPr/>
            </p:nvSpPr>
            <p:spPr>
              <a:xfrm>
                <a:off x="4053099" y="1014157"/>
                <a:ext cx="43140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Outer</a:t>
                </a:r>
                <a:r>
                  <a:rPr kumimoji="1" lang="zh-CN" altLang="en-US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loop:</a:t>
                </a:r>
                <a:r>
                  <a:rPr kumimoji="1" lang="zh-CN" altLang="en-US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solves</a:t>
                </a:r>
                <a:r>
                  <a:rPr kumimoji="1" lang="zh-CN" altLang="en-US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kumimoji="1" lang="zh-CN" altLang="en-US" sz="240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b="1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span</a:t>
                </a:r>
                <a:r>
                  <a:rPr kumimoji="1" lang="zh-CN" altLang="en-US" sz="2400" b="1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[</m:t>
                    </m:r>
                    <m:r>
                      <a:rPr kumimoji="1" lang="en-US" altLang="zh-CN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  <m:r>
                      <a:rPr kumimoji="1" lang="en-US" altLang="zh-CN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kumimoji="1" lang="en-US" altLang="zh-CN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𝒋</m:t>
                    </m:r>
                    <m:r>
                      <a:rPr kumimoji="1" lang="en-US" altLang="zh-CN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]</m:t>
                    </m:r>
                  </m:oMath>
                </a14:m>
                <a:endParaRPr kumimoji="1" lang="zh-CN" altLang="en-US" sz="2400" b="1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15F99CB-6065-010E-3111-A13C38B23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099" y="1014157"/>
                <a:ext cx="4314066" cy="461665"/>
              </a:xfrm>
              <a:prstGeom prst="rect">
                <a:avLst/>
              </a:prstGeom>
              <a:blipFill>
                <a:blip r:embed="rId5"/>
                <a:stretch>
                  <a:fillRect l="-2346" t="-7895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A1BAA7A-BA1E-033D-0585-6ACE6108198B}"/>
                  </a:ext>
                </a:extLst>
              </p:cNvPr>
              <p:cNvSpPr txBox="1"/>
              <p:nvPr/>
            </p:nvSpPr>
            <p:spPr>
              <a:xfrm>
                <a:off x="4908863" y="2138396"/>
                <a:ext cx="385272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zh-CN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First</a:t>
                </a:r>
                <a:r>
                  <a:rPr kumimoji="1" lang="zh-CN" altLang="en-US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inner</a:t>
                </a:r>
                <a:r>
                  <a:rPr kumimoji="1" lang="zh-CN" altLang="en-US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loop:</a:t>
                </a:r>
                <a:r>
                  <a:rPr kumimoji="1" lang="zh-CN" altLang="en-US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solves</a:t>
                </a:r>
                <a:r>
                  <a:rPr kumimoji="1" lang="zh-CN" altLang="en-US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kumimoji="1" lang="zh-CN" altLang="en-US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base</a:t>
                </a:r>
                <a:r>
                  <a:rPr kumimoji="1" lang="zh-CN" altLang="en-US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case</a:t>
                </a:r>
                <a:r>
                  <a:rPr kumimoji="1" lang="zh-CN" altLang="en-US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b="1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span</a:t>
                </a:r>
                <a:r>
                  <a:rPr kumimoji="1" lang="zh-CN" altLang="en-US" sz="2400" b="1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[</m:t>
                    </m:r>
                    <m:r>
                      <a:rPr kumimoji="1" lang="en-US" altLang="zh-CN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𝒋</m:t>
                    </m:r>
                    <m:r>
                      <a:rPr kumimoji="1" lang="en-US" altLang="zh-CN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kumimoji="1" lang="en-US" altLang="zh-CN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𝟏</m:t>
                    </m:r>
                    <m:r>
                      <a:rPr kumimoji="1" lang="en-US" altLang="zh-CN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kumimoji="1" lang="en-US" altLang="zh-CN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𝒋</m:t>
                    </m:r>
                    <m:r>
                      <a:rPr kumimoji="1" lang="en-US" altLang="zh-CN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]</m:t>
                    </m:r>
                  </m:oMath>
                </a14:m>
                <a:endParaRPr kumimoji="1" lang="zh-CN" altLang="en-US" sz="2400" b="1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A1BAA7A-BA1E-033D-0585-6ACE61081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863" y="2138396"/>
                <a:ext cx="3852729" cy="830997"/>
              </a:xfrm>
              <a:prstGeom prst="rect">
                <a:avLst/>
              </a:prstGeom>
              <a:blipFill>
                <a:blip r:embed="rId6"/>
                <a:stretch>
                  <a:fillRect l="-2303" t="-6061"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915FB6C4-C7B8-9A19-7B6A-A500D8105439}"/>
                  </a:ext>
                </a:extLst>
              </p:cNvPr>
              <p:cNvSpPr txBox="1"/>
              <p:nvPr/>
            </p:nvSpPr>
            <p:spPr>
              <a:xfrm>
                <a:off x="1273601" y="4328782"/>
                <a:ext cx="571098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Second</a:t>
                </a:r>
                <a:r>
                  <a:rPr kumimoji="1" lang="zh-CN" altLang="en-US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inner</a:t>
                </a:r>
                <a:r>
                  <a:rPr kumimoji="1" lang="zh-CN" altLang="en-US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loop:</a:t>
                </a:r>
                <a:r>
                  <a:rPr kumimoji="1" lang="zh-CN" altLang="en-US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solves</a:t>
                </a:r>
                <a:r>
                  <a:rPr kumimoji="1" lang="zh-CN" altLang="en-US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kumimoji="1" lang="zh-CN" altLang="en-US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subproblems</a:t>
                </a:r>
              </a:p>
              <a:p>
                <a:r>
                  <a:rPr kumimoji="1" lang="en-US" altLang="zh-CN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ranging</a:t>
                </a:r>
                <a:r>
                  <a:rPr kumimoji="1" lang="zh-CN" altLang="en-US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kumimoji="1" lang="zh-CN" altLang="en-US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b="1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span</a:t>
                </a:r>
                <a:r>
                  <a:rPr kumimoji="1" lang="zh-CN" altLang="en-US" sz="2400" b="1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[</m:t>
                    </m:r>
                    <m:r>
                      <a:rPr kumimoji="1" lang="en-US" altLang="zh-CN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𝒋</m:t>
                    </m:r>
                    <m:r>
                      <a:rPr kumimoji="1" lang="en-US" altLang="zh-CN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kumimoji="1" lang="en-US" altLang="zh-CN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𝟐</m:t>
                    </m:r>
                    <m:r>
                      <a:rPr kumimoji="1" lang="en-US" altLang="zh-CN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kumimoji="1" lang="en-US" altLang="zh-CN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𝒋</m:t>
                    </m:r>
                    <m:r>
                      <a:rPr kumimoji="1" lang="en-US" altLang="zh-CN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]</m:t>
                    </m:r>
                  </m:oMath>
                </a14:m>
                <a:r>
                  <a:rPr kumimoji="1" lang="zh-CN" altLang="en-US" sz="2400" b="1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kumimoji="1" lang="zh-CN" altLang="en-US" sz="240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b="1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span</a:t>
                </a:r>
                <a:r>
                  <a:rPr kumimoji="1" lang="zh-CN" altLang="en-US" sz="2400" b="1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[</m:t>
                    </m:r>
                    <m:r>
                      <a:rPr kumimoji="1" lang="en-US" altLang="zh-CN" sz="2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𝟎</m:t>
                    </m:r>
                    <m:r>
                      <a:rPr kumimoji="1" lang="en-US" altLang="zh-CN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kumimoji="1" lang="en-US" altLang="zh-CN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𝒋</m:t>
                    </m:r>
                    <m:r>
                      <a:rPr kumimoji="1" lang="en-US" altLang="zh-CN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]</m:t>
                    </m:r>
                  </m:oMath>
                </a14:m>
                <a:endParaRPr kumimoji="1" lang="zh-CN" altLang="en-US" sz="2400" b="1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915FB6C4-C7B8-9A19-7B6A-A500D8105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601" y="4328782"/>
                <a:ext cx="5710987" cy="830997"/>
              </a:xfrm>
              <a:prstGeom prst="rect">
                <a:avLst/>
              </a:prstGeom>
              <a:blipFill>
                <a:blip r:embed="rId7"/>
                <a:stretch>
                  <a:fillRect l="-1774" t="-5970" b="-149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70B83EB-659B-8A98-4FF3-D662F30F0DC6}"/>
                  </a:ext>
                </a:extLst>
              </p:cNvPr>
              <p:cNvSpPr txBox="1"/>
              <p:nvPr/>
            </p:nvSpPr>
            <p:spPr>
              <a:xfrm>
                <a:off x="1724387" y="5261049"/>
                <a:ext cx="641963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inner-inner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loop: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solves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each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subproblem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by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breaking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it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down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b="1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span</a:t>
                </a:r>
                <a:r>
                  <a:rPr kumimoji="1" lang="zh-CN" alt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[</m:t>
                    </m:r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𝒊</m:t>
                    </m:r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𝒋</m:t>
                    </m:r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]</m:t>
                    </m:r>
                  </m:oMath>
                </a14:m>
                <a:r>
                  <a:rPr kumimoji="1" lang="zh-CN" alt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⇒ </a:t>
                </a:r>
                <a:r>
                  <a:rPr kumimoji="1" lang="en-US" altLang="zh-CN" sz="2400" b="1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span</a:t>
                </a:r>
                <a:r>
                  <a:rPr kumimoji="1" lang="zh-CN" alt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[</m:t>
                    </m:r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𝒊</m:t>
                    </m:r>
                    <m:r>
                      <a:rPr kumimoji="1"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𝒌</m:t>
                    </m:r>
                    <m:r>
                      <a:rPr kumimoji="1"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]</m:t>
                    </m:r>
                  </m:oMath>
                </a14:m>
                <a:r>
                  <a:rPr kumimoji="1" lang="zh-CN" alt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b="1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+</a:t>
                </a:r>
                <a:r>
                  <a:rPr kumimoji="1" lang="zh-CN" alt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[</m:t>
                    </m:r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𝒌</m:t>
                    </m:r>
                    <m:r>
                      <a:rPr kumimoji="1"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𝒋</m:t>
                    </m:r>
                    <m:r>
                      <a:rPr kumimoji="1"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]</m:t>
                    </m:r>
                  </m:oMath>
                </a14:m>
                <a:r>
                  <a:rPr kumimoji="1" lang="zh-CN" alt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70B83EB-659B-8A98-4FF3-D662F30F0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387" y="5261049"/>
                <a:ext cx="6419637" cy="830997"/>
              </a:xfrm>
              <a:prstGeom prst="rect">
                <a:avLst/>
              </a:prstGeom>
              <a:blipFill>
                <a:blip r:embed="rId8"/>
                <a:stretch>
                  <a:fillRect l="-1381" t="-6061"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97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C56E7B-9EA6-C085-0C40-3ED4CFA5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CKY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FF5178-2A80-AD49-9DE2-1B60110F0D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41503" cy="4351338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CKY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algorithm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given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previous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slide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b="1" dirty="0"/>
                  <a:t>recognizer</a:t>
                </a:r>
                <a:r>
                  <a:rPr kumimoji="1" lang="en-US" altLang="zh-CN" sz="2400" dirty="0"/>
                  <a:t>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not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b="1" dirty="0">
                    <a:solidFill>
                      <a:srgbClr val="0070C0"/>
                    </a:solidFill>
                  </a:rPr>
                  <a:t>parser</a:t>
                </a:r>
              </a:p>
              <a:p>
                <a:r>
                  <a:rPr kumimoji="1" lang="en-US" altLang="zh-CN" sz="2400" dirty="0"/>
                  <a:t>As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parser,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should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return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all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possible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parses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(trees)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for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given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input</a:t>
                </a:r>
              </a:p>
              <a:p>
                <a:r>
                  <a:rPr kumimoji="1" lang="en-US" altLang="zh-CN" sz="2400" dirty="0"/>
                  <a:t>Need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make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two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changes:</a:t>
                </a:r>
              </a:p>
              <a:p>
                <a:r>
                  <a:rPr kumimoji="1" lang="en-US" altLang="zh-CN" sz="2400" dirty="0"/>
                  <a:t>1.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Augment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table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entries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with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b="1" i="1" dirty="0">
                    <a:solidFill>
                      <a:schemeClr val="accent2"/>
                    </a:solidFill>
                  </a:rPr>
                  <a:t>pointers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(to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entries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from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which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current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non-terminal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derived)</a:t>
                </a:r>
              </a:p>
              <a:p>
                <a:r>
                  <a:rPr kumimoji="1" lang="en-US" altLang="zh-CN" sz="2400" dirty="0"/>
                  <a:t>2.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Allow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multiple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versions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same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non-terminal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entered</a:t>
                </a:r>
              </a:p>
              <a:p>
                <a:r>
                  <a:rPr kumimoji="1" lang="en-US" altLang="zh-CN" sz="2400" dirty="0"/>
                  <a:t>With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these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changes,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completed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table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contains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all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possible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parses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for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input</a:t>
                </a:r>
              </a:p>
              <a:p>
                <a:r>
                  <a:rPr kumimoji="1" lang="en-US" altLang="zh-CN" sz="2400" dirty="0"/>
                  <a:t>choose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an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from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cell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zh-CN" altLang="en-US" sz="2400" dirty="0"/>
                  <a:t> ⇒ </a:t>
                </a:r>
                <a:r>
                  <a:rPr kumimoji="1" lang="en-US" altLang="zh-CN" sz="2400" dirty="0"/>
                  <a:t>recursively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retrieve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its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constituents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from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table</a:t>
                </a:r>
              </a:p>
              <a:p>
                <a:endParaRPr kumimoji="1"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FF5178-2A80-AD49-9DE2-1B60110F0D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41503" cy="4351338"/>
              </a:xfrm>
              <a:blipFill>
                <a:blip r:embed="rId2"/>
                <a:stretch>
                  <a:fillRect l="-708" t="-17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0CE02A-113C-E860-0054-06B880716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BDD579-ACAC-D543-28DC-484E3DCBD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3351AB-8986-9ECF-454E-5FFC48372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34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508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A07F5-1040-8225-02A6-BE658AB0B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CKY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pointers</a:t>
            </a:r>
            <a:endParaRPr kumimoji="1"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8922FE34-B07B-C72C-1DA4-3D6D97FD9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843" y="1690688"/>
            <a:ext cx="4279821" cy="4226984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E5C0B2-5035-994B-CEB3-B2D3E1AB4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BAD17A-5A06-087A-398D-AABDF61DE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430780-5CD7-6D59-8A72-5495966EF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35</a:t>
            </a:fld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2B712FE-34CA-5A63-0086-F50D8248FAB5}"/>
                  </a:ext>
                </a:extLst>
              </p:cNvPr>
              <p:cNvSpPr txBox="1"/>
              <p:nvPr/>
            </p:nvSpPr>
            <p:spPr>
              <a:xfrm>
                <a:off x="5978656" y="1950181"/>
                <a:ext cx="526388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Entry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[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]</m:t>
                    </m:r>
                  </m:oMath>
                </a14:m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contains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pair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pointers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each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non-terminal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it,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which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point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children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non-terminals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entry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[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]</m:t>
                    </m:r>
                  </m:oMath>
                </a14:m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[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]</m:t>
                    </m:r>
                  </m:oMath>
                </a14:m>
                <a:r>
                  <a:rPr kumimoji="1" lang="zh-CN" alt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kumimoji="1" lang="en-US" altLang="zh-CN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 b="0" i="0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i</m:t>
                    </m:r>
                    <m:r>
                      <a:rPr kumimoji="1" lang="en-US" altLang="zh-CN" sz="2400" b="0" i="0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1≤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≤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−1</m:t>
                    </m:r>
                  </m:oMath>
                </a14:m>
                <a:r>
                  <a:rPr kumimoji="1" lang="en-US" altLang="zh-CN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2B712FE-34CA-5A63-0086-F50D8248F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656" y="1950181"/>
                <a:ext cx="5263888" cy="1938992"/>
              </a:xfrm>
              <a:prstGeom prst="rect">
                <a:avLst/>
              </a:prstGeom>
              <a:blipFill>
                <a:blip r:embed="rId3"/>
                <a:stretch>
                  <a:fillRect l="-1683" t="-1948" b="-58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CB5D312A-63A8-A9E8-1D75-486DD9069AA1}"/>
              </a:ext>
            </a:extLst>
          </p:cNvPr>
          <p:cNvSpPr txBox="1"/>
          <p:nvPr/>
        </p:nvSpPr>
        <p:spPr>
          <a:xfrm>
            <a:off x="1251568" y="5998511"/>
            <a:ext cx="2048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Fig.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17.13.,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17,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pp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15,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SLP3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24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0A7546-2DF9-4CB4-BCFD-A352A0C25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CKY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sz="3200" dirty="0"/>
              <a:t>Multiple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versions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for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same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non-terminal</a:t>
            </a:r>
            <a:endParaRPr kumimoji="1"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22DAB9FE-57D0-DB61-3560-72BE148C7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239606" cy="4351338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362F01-47C0-359E-1B8D-540C5BE91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80FF56-C01A-ED53-A578-8EDE010B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47C23A-5B48-D207-9ED5-6A166BA77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36</a:t>
            </a:fld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887A2D-02D1-0406-8BF3-2AC61A17A584}"/>
              </a:ext>
            </a:extLst>
          </p:cNvPr>
          <p:cNvSpPr txBox="1"/>
          <p:nvPr/>
        </p:nvSpPr>
        <p:spPr>
          <a:xfrm>
            <a:off x="838200" y="6042026"/>
            <a:ext cx="2048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Fig.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17.14.,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17,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pp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16,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SLP3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042117C-1434-978A-3BF0-C2AAD42290A6}"/>
                  </a:ext>
                </a:extLst>
              </p:cNvPr>
              <p:cNvSpPr txBox="1"/>
              <p:nvPr/>
            </p:nvSpPr>
            <p:spPr>
              <a:xfrm>
                <a:off x="5567320" y="1910837"/>
                <a:ext cx="555113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cell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[0,5]</m:t>
                    </m:r>
                  </m:oMath>
                </a14:m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which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contains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three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versions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𝑆</m:t>
                    </m:r>
                  </m:oMath>
                </a14:m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non-terminal:</a:t>
                </a:r>
                <a:endPara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042117C-1434-978A-3BF0-C2AAD4229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320" y="1910837"/>
                <a:ext cx="5551137" cy="707886"/>
              </a:xfrm>
              <a:prstGeom prst="rect">
                <a:avLst/>
              </a:prstGeom>
              <a:blipFill>
                <a:blip r:embed="rId3"/>
                <a:stretch>
                  <a:fillRect l="-1142" t="-5263" b="-14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896726B0-CB00-29CE-017E-7DB4353433DA}"/>
              </a:ext>
            </a:extLst>
          </p:cNvPr>
          <p:cNvGrpSpPr/>
          <p:nvPr/>
        </p:nvGrpSpPr>
        <p:grpSpPr>
          <a:xfrm>
            <a:off x="5805359" y="2868767"/>
            <a:ext cx="1670651" cy="1161437"/>
            <a:chOff x="5805359" y="2868767"/>
            <a:chExt cx="1670651" cy="11614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64EE34BE-D4C0-5359-8D2D-949507045BB0}"/>
                    </a:ext>
                  </a:extLst>
                </p:cNvPr>
                <p:cNvSpPr txBox="1"/>
                <p:nvPr/>
              </p:nvSpPr>
              <p:spPr>
                <a:xfrm>
                  <a:off x="5805360" y="2868767"/>
                  <a:ext cx="167065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𝑆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→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𝑉𝑒𝑟𝑏</m:t>
                        </m:r>
                        <m:r>
                          <a:rPr kumimoji="1" lang="zh-CN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𝑁𝑃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64EE34BE-D4C0-5359-8D2D-949507045B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5360" y="2868767"/>
                  <a:ext cx="1670650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2256" t="-8000" r="-2256" b="-3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BF344073-690B-9274-8063-D2344534F165}"/>
                    </a:ext>
                  </a:extLst>
                </p:cNvPr>
                <p:cNvSpPr txBox="1"/>
                <p:nvPr/>
              </p:nvSpPr>
              <p:spPr>
                <a:xfrm>
                  <a:off x="5805359" y="3295771"/>
                  <a:ext cx="142077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𝑆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→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𝑉𝑃</m:t>
                        </m:r>
                        <m:r>
                          <a:rPr kumimoji="1" lang="zh-CN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𝑃𝑃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BF344073-690B-9274-8063-D2344534F1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5359" y="3295771"/>
                  <a:ext cx="1420774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2655" t="-8000" r="-3540" b="-4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597971F5-4900-154D-109B-6D1BB5D2B439}"/>
                    </a:ext>
                  </a:extLst>
                </p:cNvPr>
                <p:cNvSpPr txBox="1"/>
                <p:nvPr/>
              </p:nvSpPr>
              <p:spPr>
                <a:xfrm>
                  <a:off x="5816805" y="3722427"/>
                  <a:ext cx="140326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𝑆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3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→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𝑋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2  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𝑃𝑃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597971F5-4900-154D-109B-6D1BB5D2B4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6805" y="3722427"/>
                  <a:ext cx="1403269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2679" t="-8000" r="-2679" b="-3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8F3098-B248-95DA-981F-65EA75E76AC2}"/>
              </a:ext>
            </a:extLst>
          </p:cNvPr>
          <p:cNvGrpSpPr/>
          <p:nvPr/>
        </p:nvGrpSpPr>
        <p:grpSpPr>
          <a:xfrm>
            <a:off x="5653457" y="2835319"/>
            <a:ext cx="5700343" cy="3066557"/>
            <a:chOff x="5653457" y="2835319"/>
            <a:chExt cx="5700343" cy="3066557"/>
          </a:xfrm>
        </p:grpSpPr>
        <p:sp>
          <p:nvSpPr>
            <p:cNvPr id="14" name="圆角矩形 13">
              <a:extLst>
                <a:ext uri="{FF2B5EF4-FFF2-40B4-BE49-F238E27FC236}">
                  <a16:creationId xmlns:a16="http://schemas.microsoft.com/office/drawing/2014/main" id="{12DD6D6B-B76C-4116-B2CB-6F635BE55F88}"/>
                </a:ext>
              </a:extLst>
            </p:cNvPr>
            <p:cNvSpPr/>
            <p:nvPr/>
          </p:nvSpPr>
          <p:spPr>
            <a:xfrm>
              <a:off x="5653457" y="2838849"/>
              <a:ext cx="1974456" cy="367611"/>
            </a:xfrm>
            <a:prstGeom prst="roundRect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059C82C-8AF7-742D-64B2-4C4FD08B6A39}"/>
                    </a:ext>
                  </a:extLst>
                </p:cNvPr>
                <p:cNvSpPr txBox="1"/>
                <p:nvPr/>
              </p:nvSpPr>
              <p:spPr>
                <a:xfrm>
                  <a:off x="9381365" y="3839893"/>
                  <a:ext cx="38363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𝑆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059C82C-8AF7-742D-64B2-4C4FD08B6A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1365" y="3839893"/>
                  <a:ext cx="383630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26AC1278-051D-F490-D560-FD20A840DC04}"/>
                    </a:ext>
                  </a:extLst>
                </p:cNvPr>
                <p:cNvSpPr txBox="1"/>
                <p:nvPr/>
              </p:nvSpPr>
              <p:spPr>
                <a:xfrm>
                  <a:off x="8408973" y="4608062"/>
                  <a:ext cx="79464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𝑉𝑒𝑟𝑏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26AC1278-051D-F490-D560-FD20A840DC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8973" y="4608062"/>
                  <a:ext cx="794640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49D5EA9-F8F9-3DC4-67E0-D712638EC62D}"/>
                    </a:ext>
                  </a:extLst>
                </p:cNvPr>
                <p:cNvSpPr txBox="1"/>
                <p:nvPr/>
              </p:nvSpPr>
              <p:spPr>
                <a:xfrm>
                  <a:off x="10003778" y="4608062"/>
                  <a:ext cx="59490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𝑁𝑃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49D5EA9-F8F9-3DC4-67E0-D712638EC6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3778" y="4608062"/>
                  <a:ext cx="594906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A1FDE24-4812-4EB2-9380-6CB1321CFD12}"/>
                </a:ext>
              </a:extLst>
            </p:cNvPr>
            <p:cNvSpPr txBox="1"/>
            <p:nvPr/>
          </p:nvSpPr>
          <p:spPr>
            <a:xfrm>
              <a:off x="8457324" y="5532544"/>
              <a:ext cx="6979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800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Book</a:t>
              </a:r>
              <a:endParaRPr kumimoji="1" lang="zh-CN" altLang="en-US" sz="1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1" name="直线箭头连接符 20">
              <a:extLst>
                <a:ext uri="{FF2B5EF4-FFF2-40B4-BE49-F238E27FC236}">
                  <a16:creationId xmlns:a16="http://schemas.microsoft.com/office/drawing/2014/main" id="{376DD0E6-4778-CCC1-756B-358053E86704}"/>
                </a:ext>
              </a:extLst>
            </p:cNvPr>
            <p:cNvCxnSpPr>
              <a:stCxn id="15" idx="2"/>
              <a:endCxn id="16" idx="0"/>
            </p:cNvCxnSpPr>
            <p:nvPr/>
          </p:nvCxnSpPr>
          <p:spPr>
            <a:xfrm flipH="1">
              <a:off x="8806293" y="4240003"/>
              <a:ext cx="766887" cy="36805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箭头连接符 21">
              <a:extLst>
                <a:ext uri="{FF2B5EF4-FFF2-40B4-BE49-F238E27FC236}">
                  <a16:creationId xmlns:a16="http://schemas.microsoft.com/office/drawing/2014/main" id="{1A747CDB-B354-8FF7-C4A2-9D1F1543BF2D}"/>
                </a:ext>
              </a:extLst>
            </p:cNvPr>
            <p:cNvCxnSpPr>
              <a:cxnSpLocks/>
              <a:stCxn id="15" idx="2"/>
              <a:endCxn id="17" idx="0"/>
            </p:cNvCxnSpPr>
            <p:nvPr/>
          </p:nvCxnSpPr>
          <p:spPr>
            <a:xfrm>
              <a:off x="9573180" y="4240003"/>
              <a:ext cx="728051" cy="36805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123233FF-A60C-2DEA-5A7A-6EC20E07E464}"/>
                </a:ext>
              </a:extLst>
            </p:cNvPr>
            <p:cNvCxnSpPr>
              <a:cxnSpLocks/>
              <a:stCxn id="16" idx="2"/>
              <a:endCxn id="19" idx="0"/>
            </p:cNvCxnSpPr>
            <p:nvPr/>
          </p:nvCxnSpPr>
          <p:spPr>
            <a:xfrm>
              <a:off x="8806293" y="5008172"/>
              <a:ext cx="0" cy="52437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C74BF84-5228-3150-2E0B-8FC6248413E3}"/>
                </a:ext>
              </a:extLst>
            </p:cNvPr>
            <p:cNvSpPr txBox="1"/>
            <p:nvPr/>
          </p:nvSpPr>
          <p:spPr>
            <a:xfrm>
              <a:off x="7950173" y="2835319"/>
              <a:ext cx="340362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Follow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the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pointers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recursively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to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build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the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parse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tree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4179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42E229-A868-8C90-0FA0-C824298B9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CKY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Build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recursively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EB4BEA-E9DC-C0AE-C661-7E61C5D4A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17DC28-FF7D-24D2-B8BA-96045240F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ED285C-9AB2-DFF8-402E-CE65F97A0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37</a:t>
            </a:fld>
            <a:endParaRPr kumimoji="1"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BEED21F-9242-E5C1-A889-DC06D05F551C}"/>
              </a:ext>
            </a:extLst>
          </p:cNvPr>
          <p:cNvGrpSpPr/>
          <p:nvPr/>
        </p:nvGrpSpPr>
        <p:grpSpPr>
          <a:xfrm>
            <a:off x="5446474" y="2200632"/>
            <a:ext cx="2406488" cy="895939"/>
            <a:chOff x="5446474" y="2200632"/>
            <a:chExt cx="2406488" cy="8959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A8D9D75-FE5F-39B1-0177-B2ABF00ED186}"/>
                    </a:ext>
                  </a:extLst>
                </p:cNvPr>
                <p:cNvSpPr txBox="1"/>
                <p:nvPr/>
              </p:nvSpPr>
              <p:spPr>
                <a:xfrm>
                  <a:off x="5560988" y="2788794"/>
                  <a:ext cx="229197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𝑁𝑃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→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𝐷𝑒𝑡</m:t>
                        </m:r>
                        <m:r>
                          <a:rPr kumimoji="1" lang="zh-CN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𝑁𝑜𝑚𝑖𝑛𝑎𝑙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A8D9D75-FE5F-39B1-0177-B2ABF00ED1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0988" y="2788794"/>
                  <a:ext cx="2291974" cy="307777"/>
                </a:xfrm>
                <a:prstGeom prst="rect">
                  <a:avLst/>
                </a:prstGeom>
                <a:blipFill>
                  <a:blip r:embed="rId2"/>
                  <a:stretch>
                    <a:fillRect l="-1648" t="-8000" r="-1648" b="-4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4174B7D3-290E-BBFC-A923-149037F65316}"/>
                    </a:ext>
                  </a:extLst>
                </p:cNvPr>
                <p:cNvSpPr txBox="1"/>
                <p:nvPr/>
              </p:nvSpPr>
              <p:spPr>
                <a:xfrm>
                  <a:off x="5446474" y="2200632"/>
                  <a:ext cx="174669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Go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to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cell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[1,5]</m:t>
                      </m:r>
                    </m:oMath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4174B7D3-290E-BBFC-A923-149037F653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6474" y="2200632"/>
                  <a:ext cx="1746697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3597" t="-9375" b="-281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B5D09024-50E9-85C0-1DBD-6E4306899354}"/>
              </a:ext>
            </a:extLst>
          </p:cNvPr>
          <p:cNvGrpSpPr/>
          <p:nvPr/>
        </p:nvGrpSpPr>
        <p:grpSpPr>
          <a:xfrm>
            <a:off x="8336145" y="2742628"/>
            <a:ext cx="2189711" cy="2061983"/>
            <a:chOff x="8336145" y="2742628"/>
            <a:chExt cx="2189711" cy="20619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6B1DA6F-CBAD-A910-146D-5DB75FBC1925}"/>
                    </a:ext>
                  </a:extLst>
                </p:cNvPr>
                <p:cNvSpPr txBox="1"/>
                <p:nvPr/>
              </p:nvSpPr>
              <p:spPr>
                <a:xfrm>
                  <a:off x="9308537" y="2742628"/>
                  <a:ext cx="38363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𝑆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6B1DA6F-CBAD-A910-146D-5DB75FBC19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8537" y="2742628"/>
                  <a:ext cx="383630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A7A3978-6C10-40E4-A058-0851AC934523}"/>
                    </a:ext>
                  </a:extLst>
                </p:cNvPr>
                <p:cNvSpPr txBox="1"/>
                <p:nvPr/>
              </p:nvSpPr>
              <p:spPr>
                <a:xfrm>
                  <a:off x="8336145" y="3510797"/>
                  <a:ext cx="79464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𝑉𝑒𝑟𝑏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A7A3978-6C10-40E4-A058-0851AC934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6145" y="3510797"/>
                  <a:ext cx="79464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8D987DE1-E5B5-9CFF-9991-EBE700F96288}"/>
                    </a:ext>
                  </a:extLst>
                </p:cNvPr>
                <p:cNvSpPr txBox="1"/>
                <p:nvPr/>
              </p:nvSpPr>
              <p:spPr>
                <a:xfrm>
                  <a:off x="9930950" y="3510797"/>
                  <a:ext cx="59490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𝑁𝑃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8D987DE1-E5B5-9CFF-9991-EBE700F962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0950" y="3510797"/>
                  <a:ext cx="594906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8C3CE0F-DC9F-EC7C-9C78-9835E8491B54}"/>
                </a:ext>
              </a:extLst>
            </p:cNvPr>
            <p:cNvSpPr txBox="1"/>
            <p:nvPr/>
          </p:nvSpPr>
          <p:spPr>
            <a:xfrm>
              <a:off x="8384496" y="4435279"/>
              <a:ext cx="6979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800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Book</a:t>
              </a:r>
              <a:endParaRPr kumimoji="1" lang="zh-CN" altLang="en-US" sz="1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直线箭头连接符 13">
              <a:extLst>
                <a:ext uri="{FF2B5EF4-FFF2-40B4-BE49-F238E27FC236}">
                  <a16:creationId xmlns:a16="http://schemas.microsoft.com/office/drawing/2014/main" id="{659E7080-26AC-800F-F96D-1F91607BF76A}"/>
                </a:ext>
              </a:extLst>
            </p:cNvPr>
            <p:cNvCxnSpPr>
              <a:stCxn id="10" idx="2"/>
              <a:endCxn id="11" idx="0"/>
            </p:cNvCxnSpPr>
            <p:nvPr/>
          </p:nvCxnSpPr>
          <p:spPr>
            <a:xfrm flipH="1">
              <a:off x="8733465" y="3142738"/>
              <a:ext cx="766887" cy="36805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箭头连接符 14">
              <a:extLst>
                <a:ext uri="{FF2B5EF4-FFF2-40B4-BE49-F238E27FC236}">
                  <a16:creationId xmlns:a16="http://schemas.microsoft.com/office/drawing/2014/main" id="{6DD0613E-BFCF-957E-8D61-9EA3A0B32CF6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>
              <a:off x="9500352" y="3142738"/>
              <a:ext cx="728051" cy="36805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4C9CC060-8B48-FB21-8370-7C0D67F59B6B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8733465" y="3910907"/>
              <a:ext cx="0" cy="52437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A43E111A-0FA4-E02C-F26F-F3CA409D0F4C}"/>
              </a:ext>
            </a:extLst>
          </p:cNvPr>
          <p:cNvGrpSpPr/>
          <p:nvPr/>
        </p:nvGrpSpPr>
        <p:grpSpPr>
          <a:xfrm>
            <a:off x="9365058" y="3910907"/>
            <a:ext cx="2403574" cy="1820109"/>
            <a:chOff x="9365058" y="3910907"/>
            <a:chExt cx="2403574" cy="1820109"/>
          </a:xfrm>
        </p:grpSpPr>
        <p:cxnSp>
          <p:nvCxnSpPr>
            <p:cNvPr id="17" name="直线箭头连接符 16">
              <a:extLst>
                <a:ext uri="{FF2B5EF4-FFF2-40B4-BE49-F238E27FC236}">
                  <a16:creationId xmlns:a16="http://schemas.microsoft.com/office/drawing/2014/main" id="{E7059D06-4DDB-8750-2009-CFE0E6AED2A4}"/>
                </a:ext>
              </a:extLst>
            </p:cNvPr>
            <p:cNvCxnSpPr>
              <a:cxnSpLocks/>
              <a:stCxn id="12" idx="2"/>
              <a:endCxn id="20" idx="0"/>
            </p:cNvCxnSpPr>
            <p:nvPr/>
          </p:nvCxnSpPr>
          <p:spPr>
            <a:xfrm flipH="1">
              <a:off x="9692167" y="3910907"/>
              <a:ext cx="536236" cy="535061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BBE6E9B-6D3B-47A6-0E32-814A80BC51F3}"/>
                    </a:ext>
                  </a:extLst>
                </p:cNvPr>
                <p:cNvSpPr txBox="1"/>
                <p:nvPr/>
              </p:nvSpPr>
              <p:spPr>
                <a:xfrm>
                  <a:off x="9365058" y="4445968"/>
                  <a:ext cx="65421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𝐷𝑒𝑡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BBE6E9B-6D3B-47A6-0E32-814A80BC51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5058" y="4445968"/>
                  <a:ext cx="65421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直线箭头连接符 23">
              <a:extLst>
                <a:ext uri="{FF2B5EF4-FFF2-40B4-BE49-F238E27FC236}">
                  <a16:creationId xmlns:a16="http://schemas.microsoft.com/office/drawing/2014/main" id="{AEF0D9C6-6558-82C8-8A34-22C1532D31D9}"/>
                </a:ext>
              </a:extLst>
            </p:cNvPr>
            <p:cNvCxnSpPr>
              <a:cxnSpLocks/>
              <a:stCxn id="12" idx="2"/>
              <a:endCxn id="27" idx="0"/>
            </p:cNvCxnSpPr>
            <p:nvPr/>
          </p:nvCxnSpPr>
          <p:spPr>
            <a:xfrm>
              <a:off x="10228403" y="3910907"/>
              <a:ext cx="918841" cy="525216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5091FAAA-EA4D-BEAE-095D-DC9CBB631101}"/>
                    </a:ext>
                  </a:extLst>
                </p:cNvPr>
                <p:cNvSpPr txBox="1"/>
                <p:nvPr/>
              </p:nvSpPr>
              <p:spPr>
                <a:xfrm>
                  <a:off x="10525856" y="4436123"/>
                  <a:ext cx="124277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𝑁𝑜𝑚𝑖𝑛𝑎𝑙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5091FAAA-EA4D-BEAE-095D-DC9CBB6311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5856" y="4436123"/>
                  <a:ext cx="1242776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FF8FC51-5C99-1433-A2E2-76445E63C3EF}"/>
                </a:ext>
              </a:extLst>
            </p:cNvPr>
            <p:cNvSpPr txBox="1"/>
            <p:nvPr/>
          </p:nvSpPr>
          <p:spPr>
            <a:xfrm>
              <a:off x="9427624" y="5361684"/>
              <a:ext cx="52908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800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endParaRPr kumimoji="1" lang="zh-CN" altLang="en-US" sz="1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" name="直线箭头连接符 30">
              <a:extLst>
                <a:ext uri="{FF2B5EF4-FFF2-40B4-BE49-F238E27FC236}">
                  <a16:creationId xmlns:a16="http://schemas.microsoft.com/office/drawing/2014/main" id="{C1F550F9-C40C-1C4B-C18E-43D007647C30}"/>
                </a:ext>
              </a:extLst>
            </p:cNvPr>
            <p:cNvCxnSpPr>
              <a:cxnSpLocks/>
              <a:stCxn id="20" idx="2"/>
              <a:endCxn id="30" idx="0"/>
            </p:cNvCxnSpPr>
            <p:nvPr/>
          </p:nvCxnSpPr>
          <p:spPr>
            <a:xfrm>
              <a:off x="9692167" y="4846078"/>
              <a:ext cx="0" cy="515606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2" name="内容占位符 41">
            <a:extLst>
              <a:ext uri="{FF2B5EF4-FFF2-40B4-BE49-F238E27FC236}">
                <a16:creationId xmlns:a16="http://schemas.microsoft.com/office/drawing/2014/main" id="{884191B9-4BA3-EB59-1709-54968AF6A4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856860" y="1847850"/>
            <a:ext cx="4220047" cy="4351338"/>
          </a:xfr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3A6B94A8-E196-0F5F-EADC-FDFFAA3A58B5}"/>
              </a:ext>
            </a:extLst>
          </p:cNvPr>
          <p:cNvSpPr txBox="1"/>
          <p:nvPr/>
        </p:nvSpPr>
        <p:spPr>
          <a:xfrm>
            <a:off x="838200" y="6042026"/>
            <a:ext cx="2048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Fig.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17.14.,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17,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pp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16,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SLP3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32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42E229-A868-8C90-0FA0-C824298B9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CKY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Build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recursively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EB4BEA-E9DC-C0AE-C661-7E61C5D4A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17DC28-FF7D-24D2-B8BA-96045240F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ED285C-9AB2-DFF8-402E-CE65F97A0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38</a:t>
            </a:fld>
            <a:endParaRPr kumimoji="1" lang="zh-CN" altLang="en-US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6ED479BF-10DE-3FDC-166D-3C8B0B3F05C4}"/>
              </a:ext>
            </a:extLst>
          </p:cNvPr>
          <p:cNvGrpSpPr/>
          <p:nvPr/>
        </p:nvGrpSpPr>
        <p:grpSpPr>
          <a:xfrm>
            <a:off x="5283052" y="1877278"/>
            <a:ext cx="2851678" cy="865350"/>
            <a:chOff x="5283052" y="1877278"/>
            <a:chExt cx="2851678" cy="8653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A8D9D75-FE5F-39B1-0177-B2ABF00ED186}"/>
                    </a:ext>
                  </a:extLst>
                </p:cNvPr>
                <p:cNvSpPr txBox="1"/>
                <p:nvPr/>
              </p:nvSpPr>
              <p:spPr>
                <a:xfrm>
                  <a:off x="5283052" y="2434851"/>
                  <a:ext cx="285167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𝑁𝑜𝑚𝑖𝑛𝑎𝑙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→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𝑁𝑜𝑚𝑖𝑛𝑎𝑙</m:t>
                        </m:r>
                        <m:r>
                          <a:rPr kumimoji="1" lang="zh-CN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𝑃𝑃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A8D9D75-FE5F-39B1-0177-B2ABF00ED1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3052" y="2434851"/>
                  <a:ext cx="2851678" cy="307777"/>
                </a:xfrm>
                <a:prstGeom prst="rect">
                  <a:avLst/>
                </a:prstGeom>
                <a:blipFill>
                  <a:blip r:embed="rId2"/>
                  <a:stretch>
                    <a:fillRect l="-2222" t="-3846" r="-1333" b="-346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4174B7D3-290E-BBFC-A923-149037F65316}"/>
                    </a:ext>
                  </a:extLst>
                </p:cNvPr>
                <p:cNvSpPr txBox="1"/>
                <p:nvPr/>
              </p:nvSpPr>
              <p:spPr>
                <a:xfrm>
                  <a:off x="5369953" y="1877278"/>
                  <a:ext cx="174669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Go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to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cell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[2,5]</m:t>
                      </m:r>
                    </m:oMath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4174B7D3-290E-BBFC-A923-149037F653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9953" y="1877278"/>
                  <a:ext cx="1746697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3597" t="-9091" r="-719" b="-242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AED49E3-F30E-8185-4333-02F5E17849D9}"/>
              </a:ext>
            </a:extLst>
          </p:cNvPr>
          <p:cNvGrpSpPr/>
          <p:nvPr/>
        </p:nvGrpSpPr>
        <p:grpSpPr>
          <a:xfrm>
            <a:off x="7638208" y="2595010"/>
            <a:ext cx="3432487" cy="2988388"/>
            <a:chOff x="7638208" y="2595010"/>
            <a:chExt cx="3432487" cy="29883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6B1DA6F-CBAD-A910-146D-5DB75FBC1925}"/>
                    </a:ext>
                  </a:extLst>
                </p:cNvPr>
                <p:cNvSpPr txBox="1"/>
                <p:nvPr/>
              </p:nvSpPr>
              <p:spPr>
                <a:xfrm>
                  <a:off x="8610600" y="2595010"/>
                  <a:ext cx="38363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𝑆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6B1DA6F-CBAD-A910-146D-5DB75FBC19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0600" y="2595010"/>
                  <a:ext cx="383630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A7A3978-6C10-40E4-A058-0851AC934523}"/>
                    </a:ext>
                  </a:extLst>
                </p:cNvPr>
                <p:cNvSpPr txBox="1"/>
                <p:nvPr/>
              </p:nvSpPr>
              <p:spPr>
                <a:xfrm>
                  <a:off x="7638208" y="3363179"/>
                  <a:ext cx="79464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𝑉𝑒𝑟𝑏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A7A3978-6C10-40E4-A058-0851AC934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8208" y="3363179"/>
                  <a:ext cx="79464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8D987DE1-E5B5-9CFF-9991-EBE700F96288}"/>
                    </a:ext>
                  </a:extLst>
                </p:cNvPr>
                <p:cNvSpPr txBox="1"/>
                <p:nvPr/>
              </p:nvSpPr>
              <p:spPr>
                <a:xfrm>
                  <a:off x="9233013" y="3363179"/>
                  <a:ext cx="59490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𝑁𝑃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8D987DE1-E5B5-9CFF-9991-EBE700F962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3013" y="3363179"/>
                  <a:ext cx="594906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8C3CE0F-DC9F-EC7C-9C78-9835E8491B54}"/>
                </a:ext>
              </a:extLst>
            </p:cNvPr>
            <p:cNvSpPr txBox="1"/>
            <p:nvPr/>
          </p:nvSpPr>
          <p:spPr>
            <a:xfrm>
              <a:off x="7686559" y="4287661"/>
              <a:ext cx="6979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800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Book</a:t>
              </a:r>
              <a:endParaRPr kumimoji="1" lang="zh-CN" altLang="en-US" sz="1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直线箭头连接符 13">
              <a:extLst>
                <a:ext uri="{FF2B5EF4-FFF2-40B4-BE49-F238E27FC236}">
                  <a16:creationId xmlns:a16="http://schemas.microsoft.com/office/drawing/2014/main" id="{659E7080-26AC-800F-F96D-1F91607BF76A}"/>
                </a:ext>
              </a:extLst>
            </p:cNvPr>
            <p:cNvCxnSpPr>
              <a:stCxn id="10" idx="2"/>
              <a:endCxn id="11" idx="0"/>
            </p:cNvCxnSpPr>
            <p:nvPr/>
          </p:nvCxnSpPr>
          <p:spPr>
            <a:xfrm flipH="1">
              <a:off x="8035528" y="2995120"/>
              <a:ext cx="766887" cy="36805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箭头连接符 14">
              <a:extLst>
                <a:ext uri="{FF2B5EF4-FFF2-40B4-BE49-F238E27FC236}">
                  <a16:creationId xmlns:a16="http://schemas.microsoft.com/office/drawing/2014/main" id="{6DD0613E-BFCF-957E-8D61-9EA3A0B32CF6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>
              <a:off x="8802415" y="2995120"/>
              <a:ext cx="728051" cy="36805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4C9CC060-8B48-FB21-8370-7C0D67F59B6B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8035528" y="3763289"/>
              <a:ext cx="0" cy="52437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箭头连接符 16">
              <a:extLst>
                <a:ext uri="{FF2B5EF4-FFF2-40B4-BE49-F238E27FC236}">
                  <a16:creationId xmlns:a16="http://schemas.microsoft.com/office/drawing/2014/main" id="{E7059D06-4DDB-8750-2009-CFE0E6AED2A4}"/>
                </a:ext>
              </a:extLst>
            </p:cNvPr>
            <p:cNvCxnSpPr>
              <a:cxnSpLocks/>
              <a:stCxn id="12" idx="2"/>
              <a:endCxn id="20" idx="0"/>
            </p:cNvCxnSpPr>
            <p:nvPr/>
          </p:nvCxnSpPr>
          <p:spPr>
            <a:xfrm flipH="1">
              <a:off x="8994230" y="3763289"/>
              <a:ext cx="536236" cy="535061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BBE6E9B-6D3B-47A6-0E32-814A80BC51F3}"/>
                    </a:ext>
                  </a:extLst>
                </p:cNvPr>
                <p:cNvSpPr txBox="1"/>
                <p:nvPr/>
              </p:nvSpPr>
              <p:spPr>
                <a:xfrm>
                  <a:off x="8667121" y="4298350"/>
                  <a:ext cx="65421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𝐷𝑒𝑡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BBE6E9B-6D3B-47A6-0E32-814A80BC51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7121" y="4298350"/>
                  <a:ext cx="65421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直线箭头连接符 23">
              <a:extLst>
                <a:ext uri="{FF2B5EF4-FFF2-40B4-BE49-F238E27FC236}">
                  <a16:creationId xmlns:a16="http://schemas.microsoft.com/office/drawing/2014/main" id="{AEF0D9C6-6558-82C8-8A34-22C1532D31D9}"/>
                </a:ext>
              </a:extLst>
            </p:cNvPr>
            <p:cNvCxnSpPr>
              <a:cxnSpLocks/>
              <a:stCxn id="12" idx="2"/>
              <a:endCxn id="27" idx="0"/>
            </p:cNvCxnSpPr>
            <p:nvPr/>
          </p:nvCxnSpPr>
          <p:spPr>
            <a:xfrm>
              <a:off x="9530466" y="3763289"/>
              <a:ext cx="918841" cy="525216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5091FAAA-EA4D-BEAE-095D-DC9CBB631101}"/>
                    </a:ext>
                  </a:extLst>
                </p:cNvPr>
                <p:cNvSpPr txBox="1"/>
                <p:nvPr/>
              </p:nvSpPr>
              <p:spPr>
                <a:xfrm>
                  <a:off x="9827919" y="4288505"/>
                  <a:ext cx="124277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𝑁𝑜𝑚𝑖𝑛𝑎𝑙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5091FAAA-EA4D-BEAE-095D-DC9CBB6311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7919" y="4288505"/>
                  <a:ext cx="1242776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FF8FC51-5C99-1433-A2E2-76445E63C3EF}"/>
                </a:ext>
              </a:extLst>
            </p:cNvPr>
            <p:cNvSpPr txBox="1"/>
            <p:nvPr/>
          </p:nvSpPr>
          <p:spPr>
            <a:xfrm>
              <a:off x="8729687" y="5214066"/>
              <a:ext cx="52908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800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endParaRPr kumimoji="1" lang="zh-CN" altLang="en-US" sz="1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" name="直线箭头连接符 30">
              <a:extLst>
                <a:ext uri="{FF2B5EF4-FFF2-40B4-BE49-F238E27FC236}">
                  <a16:creationId xmlns:a16="http://schemas.microsoft.com/office/drawing/2014/main" id="{C1F550F9-C40C-1C4B-C18E-43D007647C30}"/>
                </a:ext>
              </a:extLst>
            </p:cNvPr>
            <p:cNvCxnSpPr>
              <a:cxnSpLocks/>
              <a:stCxn id="20" idx="2"/>
              <a:endCxn id="30" idx="0"/>
            </p:cNvCxnSpPr>
            <p:nvPr/>
          </p:nvCxnSpPr>
          <p:spPr>
            <a:xfrm>
              <a:off x="8994230" y="4698460"/>
              <a:ext cx="0" cy="515606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内容占位符 20">
            <a:extLst>
              <a:ext uri="{FF2B5EF4-FFF2-40B4-BE49-F238E27FC236}">
                <a16:creationId xmlns:a16="http://schemas.microsoft.com/office/drawing/2014/main" id="{42511336-F5B1-595A-9095-E0B9B62D21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9"/>
          <a:stretch>
            <a:fillRect/>
          </a:stretch>
        </p:blipFill>
        <p:spPr>
          <a:xfrm>
            <a:off x="850642" y="1690688"/>
            <a:ext cx="4230995" cy="4351338"/>
          </a:xfrm>
        </p:spPr>
      </p:pic>
      <p:grpSp>
        <p:nvGrpSpPr>
          <p:cNvPr id="43" name="组合 42">
            <a:extLst>
              <a:ext uri="{FF2B5EF4-FFF2-40B4-BE49-F238E27FC236}">
                <a16:creationId xmlns:a16="http://schemas.microsoft.com/office/drawing/2014/main" id="{0A073F67-449B-918F-5618-3C340537D920}"/>
              </a:ext>
            </a:extLst>
          </p:cNvPr>
          <p:cNvGrpSpPr/>
          <p:nvPr/>
        </p:nvGrpSpPr>
        <p:grpSpPr>
          <a:xfrm>
            <a:off x="9550409" y="4688615"/>
            <a:ext cx="2076464" cy="1679049"/>
            <a:chOff x="9550409" y="4688615"/>
            <a:chExt cx="2076464" cy="1679049"/>
          </a:xfrm>
        </p:grpSpPr>
        <p:cxnSp>
          <p:nvCxnSpPr>
            <p:cNvPr id="22" name="直线箭头连接符 21">
              <a:extLst>
                <a:ext uri="{FF2B5EF4-FFF2-40B4-BE49-F238E27FC236}">
                  <a16:creationId xmlns:a16="http://schemas.microsoft.com/office/drawing/2014/main" id="{A63E8078-AC38-D8C2-D3CE-CBBC44CC5C9A}"/>
                </a:ext>
              </a:extLst>
            </p:cNvPr>
            <p:cNvCxnSpPr>
              <a:cxnSpLocks/>
              <a:stCxn id="27" idx="2"/>
              <a:endCxn id="26" idx="0"/>
            </p:cNvCxnSpPr>
            <p:nvPr/>
          </p:nvCxnSpPr>
          <p:spPr>
            <a:xfrm flipH="1">
              <a:off x="10171797" y="4688615"/>
              <a:ext cx="277510" cy="525216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C103602-E83F-AF4C-10E5-60705B1E876D}"/>
                    </a:ext>
                  </a:extLst>
                </p:cNvPr>
                <p:cNvSpPr txBox="1"/>
                <p:nvPr/>
              </p:nvSpPr>
              <p:spPr>
                <a:xfrm>
                  <a:off x="9550409" y="5213831"/>
                  <a:ext cx="124277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𝑁𝑜𝑚𝑖𝑛𝑎𝑙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C103602-E83F-AF4C-10E5-60705B1E87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0409" y="5213831"/>
                  <a:ext cx="1242776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直线箭头连接符 28">
              <a:extLst>
                <a:ext uri="{FF2B5EF4-FFF2-40B4-BE49-F238E27FC236}">
                  <a16:creationId xmlns:a16="http://schemas.microsoft.com/office/drawing/2014/main" id="{7B3431E5-E579-058C-BA32-9FDDF685182D}"/>
                </a:ext>
              </a:extLst>
            </p:cNvPr>
            <p:cNvCxnSpPr>
              <a:cxnSpLocks/>
              <a:stCxn id="27" idx="2"/>
              <a:endCxn id="34" idx="0"/>
            </p:cNvCxnSpPr>
            <p:nvPr/>
          </p:nvCxnSpPr>
          <p:spPr>
            <a:xfrm>
              <a:off x="10449307" y="4688615"/>
              <a:ext cx="894540" cy="519421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1E9C063-41FD-5922-CB3E-55ADD9E959A5}"/>
                    </a:ext>
                  </a:extLst>
                </p:cNvPr>
                <p:cNvSpPr txBox="1"/>
                <p:nvPr/>
              </p:nvSpPr>
              <p:spPr>
                <a:xfrm>
                  <a:off x="11060821" y="5208036"/>
                  <a:ext cx="56605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𝑃𝑃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1E9C063-41FD-5922-CB3E-55ADD9E959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60821" y="5208036"/>
                  <a:ext cx="566052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直线箭头连接符 36">
              <a:extLst>
                <a:ext uri="{FF2B5EF4-FFF2-40B4-BE49-F238E27FC236}">
                  <a16:creationId xmlns:a16="http://schemas.microsoft.com/office/drawing/2014/main" id="{60AE1958-F668-C2CA-4F54-D2F8FA3EF562}"/>
                </a:ext>
              </a:extLst>
            </p:cNvPr>
            <p:cNvCxnSpPr>
              <a:cxnSpLocks/>
              <a:stCxn id="26" idx="2"/>
              <a:endCxn id="40" idx="0"/>
            </p:cNvCxnSpPr>
            <p:nvPr/>
          </p:nvCxnSpPr>
          <p:spPr>
            <a:xfrm>
              <a:off x="10171797" y="5613941"/>
              <a:ext cx="0" cy="384391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B93D4E7-02AE-0C29-E79F-1832C25D090C}"/>
                </a:ext>
              </a:extLst>
            </p:cNvPr>
            <p:cNvSpPr txBox="1"/>
            <p:nvPr/>
          </p:nvSpPr>
          <p:spPr>
            <a:xfrm>
              <a:off x="9837637" y="5998332"/>
              <a:ext cx="6683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800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flight</a:t>
              </a:r>
              <a:endParaRPr kumimoji="1" lang="zh-CN" altLang="en-US" sz="1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F71C952-6470-CE6E-D160-345119AD5B45}"/>
              </a:ext>
            </a:extLst>
          </p:cNvPr>
          <p:cNvSpPr txBox="1"/>
          <p:nvPr/>
        </p:nvSpPr>
        <p:spPr>
          <a:xfrm>
            <a:off x="838200" y="6042026"/>
            <a:ext cx="2048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Fig.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17.14.,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17,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pp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16,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SLP3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317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42E229-A868-8C90-0FA0-C824298B9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CKY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Build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recursively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EB4BEA-E9DC-C0AE-C661-7E61C5D4A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17DC28-FF7D-24D2-B8BA-96045240F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ED285C-9AB2-DFF8-402E-CE65F97A0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39</a:t>
            </a:fld>
            <a:endParaRPr kumimoji="1"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852421D-D4D8-5DD8-9414-BE2A75FD4E84}"/>
              </a:ext>
            </a:extLst>
          </p:cNvPr>
          <p:cNvGrpSpPr/>
          <p:nvPr/>
        </p:nvGrpSpPr>
        <p:grpSpPr>
          <a:xfrm>
            <a:off x="4965352" y="1723529"/>
            <a:ext cx="1756378" cy="849571"/>
            <a:chOff x="4965352" y="1723529"/>
            <a:chExt cx="1756378" cy="8495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A8D9D75-FE5F-39B1-0177-B2ABF00ED186}"/>
                    </a:ext>
                  </a:extLst>
                </p:cNvPr>
                <p:cNvSpPr txBox="1"/>
                <p:nvPr/>
              </p:nvSpPr>
              <p:spPr>
                <a:xfrm>
                  <a:off x="4965352" y="2265323"/>
                  <a:ext cx="175637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𝑃𝑃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→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𝑃𝑟𝑒𝑝</m:t>
                        </m:r>
                        <m:r>
                          <a:rPr kumimoji="1" lang="zh-CN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𝑁𝑃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A8D9D75-FE5F-39B1-0177-B2ABF00ED1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5352" y="2265323"/>
                  <a:ext cx="1756378" cy="307777"/>
                </a:xfrm>
                <a:prstGeom prst="rect">
                  <a:avLst/>
                </a:prstGeom>
                <a:blipFill>
                  <a:blip r:embed="rId2"/>
                  <a:stretch>
                    <a:fillRect l="-2878" t="-8000" r="-2158" b="-4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4174B7D3-290E-BBFC-A923-149037F65316}"/>
                    </a:ext>
                  </a:extLst>
                </p:cNvPr>
                <p:cNvSpPr txBox="1"/>
                <p:nvPr/>
              </p:nvSpPr>
              <p:spPr>
                <a:xfrm>
                  <a:off x="4965352" y="1723529"/>
                  <a:ext cx="174669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Go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to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cell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[3,5]</m:t>
                      </m:r>
                    </m:oMath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4174B7D3-290E-BBFC-A923-149037F653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5352" y="1723529"/>
                  <a:ext cx="1746697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4348" t="-9091" r="-725" b="-242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6B1DA6F-CBAD-A910-146D-5DB75FBC1925}"/>
                  </a:ext>
                </a:extLst>
              </p:cNvPr>
              <p:cNvSpPr txBox="1"/>
              <p:nvPr/>
            </p:nvSpPr>
            <p:spPr>
              <a:xfrm>
                <a:off x="7969784" y="1781618"/>
                <a:ext cx="3836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𝑆</m:t>
                      </m:r>
                    </m:oMath>
                  </m:oMathPara>
                </a14:m>
                <a:endPara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6B1DA6F-CBAD-A910-146D-5DB75FBC1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9784" y="1781618"/>
                <a:ext cx="38363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A7A3978-6C10-40E4-A058-0851AC934523}"/>
                  </a:ext>
                </a:extLst>
              </p:cNvPr>
              <p:cNvSpPr txBox="1"/>
              <p:nvPr/>
            </p:nvSpPr>
            <p:spPr>
              <a:xfrm>
                <a:off x="6997392" y="2549787"/>
                <a:ext cx="7946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𝑉𝑒𝑟𝑏</m:t>
                      </m:r>
                    </m:oMath>
                  </m:oMathPara>
                </a14:m>
                <a:endPara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A7A3978-6C10-40E4-A058-0851AC934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392" y="2549787"/>
                <a:ext cx="79464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D987DE1-E5B5-9CFF-9991-EBE700F96288}"/>
                  </a:ext>
                </a:extLst>
              </p:cNvPr>
              <p:cNvSpPr txBox="1"/>
              <p:nvPr/>
            </p:nvSpPr>
            <p:spPr>
              <a:xfrm>
                <a:off x="8592197" y="2549787"/>
                <a:ext cx="594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𝑁𝑃</m:t>
                      </m:r>
                    </m:oMath>
                  </m:oMathPara>
                </a14:m>
                <a:endPara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D987DE1-E5B5-9CFF-9991-EBE700F96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197" y="2549787"/>
                <a:ext cx="59490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E8C3CE0F-DC9F-EC7C-9C78-9835E8491B54}"/>
              </a:ext>
            </a:extLst>
          </p:cNvPr>
          <p:cNvSpPr txBox="1"/>
          <p:nvPr/>
        </p:nvSpPr>
        <p:spPr>
          <a:xfrm>
            <a:off x="7045743" y="3474269"/>
            <a:ext cx="697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kumimoji="1" lang="en-US" altLang="zh-CN" sz="1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endParaRPr kumimoji="1" lang="zh-CN" altLang="en-US" sz="18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59E7080-26AC-800F-F96D-1F91607BF76A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flipH="1">
            <a:off x="7394712" y="2181728"/>
            <a:ext cx="766887" cy="368059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6DD0613E-BFCF-957E-8D61-9EA3A0B32CF6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8161599" y="2181728"/>
            <a:ext cx="728051" cy="368059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4C9CC060-8B48-FB21-8370-7C0D67F59B6B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7394712" y="2949897"/>
            <a:ext cx="0" cy="524372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E7059D06-4DDB-8750-2009-CFE0E6AED2A4}"/>
              </a:ext>
            </a:extLst>
          </p:cNvPr>
          <p:cNvCxnSpPr>
            <a:cxnSpLocks/>
            <a:stCxn id="12" idx="2"/>
            <a:endCxn id="20" idx="0"/>
          </p:cNvCxnSpPr>
          <p:nvPr/>
        </p:nvCxnSpPr>
        <p:spPr>
          <a:xfrm flipH="1">
            <a:off x="8353414" y="2949897"/>
            <a:ext cx="536236" cy="53506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BBE6E9B-6D3B-47A6-0E32-814A80BC51F3}"/>
                  </a:ext>
                </a:extLst>
              </p:cNvPr>
              <p:cNvSpPr txBox="1"/>
              <p:nvPr/>
            </p:nvSpPr>
            <p:spPr>
              <a:xfrm>
                <a:off x="8026305" y="3484958"/>
                <a:ext cx="6542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𝐷𝑒𝑡</m:t>
                      </m:r>
                    </m:oMath>
                  </m:oMathPara>
                </a14:m>
                <a:endPara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BBE6E9B-6D3B-47A6-0E32-814A80BC5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305" y="3484958"/>
                <a:ext cx="65421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AEF0D9C6-6558-82C8-8A34-22C1532D31D9}"/>
              </a:ext>
            </a:extLst>
          </p:cNvPr>
          <p:cNvCxnSpPr>
            <a:cxnSpLocks/>
            <a:stCxn id="12" idx="2"/>
            <a:endCxn id="27" idx="0"/>
          </p:cNvCxnSpPr>
          <p:nvPr/>
        </p:nvCxnSpPr>
        <p:spPr>
          <a:xfrm>
            <a:off x="8889650" y="2949897"/>
            <a:ext cx="918841" cy="525216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091FAAA-EA4D-BEAE-095D-DC9CBB631101}"/>
                  </a:ext>
                </a:extLst>
              </p:cNvPr>
              <p:cNvSpPr txBox="1"/>
              <p:nvPr/>
            </p:nvSpPr>
            <p:spPr>
              <a:xfrm>
                <a:off x="9187103" y="3475113"/>
                <a:ext cx="12427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𝑁𝑜𝑚𝑖𝑛𝑎𝑙</m:t>
                      </m:r>
                    </m:oMath>
                  </m:oMathPara>
                </a14:m>
                <a:endPara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091FAAA-EA4D-BEAE-095D-DC9CBB631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103" y="3475113"/>
                <a:ext cx="1242776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本框 29">
            <a:extLst>
              <a:ext uri="{FF2B5EF4-FFF2-40B4-BE49-F238E27FC236}">
                <a16:creationId xmlns:a16="http://schemas.microsoft.com/office/drawing/2014/main" id="{2FF8FC51-5C99-1433-A2E2-76445E63C3EF}"/>
              </a:ext>
            </a:extLst>
          </p:cNvPr>
          <p:cNvSpPr txBox="1"/>
          <p:nvPr/>
        </p:nvSpPr>
        <p:spPr>
          <a:xfrm>
            <a:off x="8088871" y="4400674"/>
            <a:ext cx="529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kumimoji="1" lang="en-US" altLang="zh-CN" sz="1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endParaRPr kumimoji="1" lang="zh-CN" altLang="en-US" sz="18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C1F550F9-C40C-1C4B-C18E-43D007647C30}"/>
              </a:ext>
            </a:extLst>
          </p:cNvPr>
          <p:cNvCxnSpPr>
            <a:cxnSpLocks/>
            <a:stCxn id="20" idx="2"/>
            <a:endCxn id="30" idx="0"/>
          </p:cNvCxnSpPr>
          <p:nvPr/>
        </p:nvCxnSpPr>
        <p:spPr>
          <a:xfrm>
            <a:off x="8353414" y="3885068"/>
            <a:ext cx="0" cy="515606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A63E8078-AC38-D8C2-D3CE-CBBC44CC5C9A}"/>
              </a:ext>
            </a:extLst>
          </p:cNvPr>
          <p:cNvCxnSpPr>
            <a:cxnSpLocks/>
            <a:stCxn id="27" idx="2"/>
            <a:endCxn id="26" idx="0"/>
          </p:cNvCxnSpPr>
          <p:nvPr/>
        </p:nvCxnSpPr>
        <p:spPr>
          <a:xfrm flipH="1">
            <a:off x="9530981" y="3875223"/>
            <a:ext cx="277510" cy="525216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C103602-E83F-AF4C-10E5-60705B1E876D}"/>
                  </a:ext>
                </a:extLst>
              </p:cNvPr>
              <p:cNvSpPr txBox="1"/>
              <p:nvPr/>
            </p:nvSpPr>
            <p:spPr>
              <a:xfrm>
                <a:off x="8909593" y="4400439"/>
                <a:ext cx="12427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𝑁𝑜𝑚𝑖𝑛𝑎𝑙</m:t>
                      </m:r>
                    </m:oMath>
                  </m:oMathPara>
                </a14:m>
                <a:endPara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C103602-E83F-AF4C-10E5-60705B1E8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593" y="4400439"/>
                <a:ext cx="1242776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7B3431E5-E579-058C-BA32-9FDDF685182D}"/>
              </a:ext>
            </a:extLst>
          </p:cNvPr>
          <p:cNvCxnSpPr>
            <a:cxnSpLocks/>
            <a:stCxn id="27" idx="2"/>
            <a:endCxn id="34" idx="0"/>
          </p:cNvCxnSpPr>
          <p:nvPr/>
        </p:nvCxnSpPr>
        <p:spPr>
          <a:xfrm>
            <a:off x="9808491" y="3875223"/>
            <a:ext cx="894540" cy="51942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E1E9C063-41FD-5922-CB3E-55ADD9E959A5}"/>
                  </a:ext>
                </a:extLst>
              </p:cNvPr>
              <p:cNvSpPr txBox="1"/>
              <p:nvPr/>
            </p:nvSpPr>
            <p:spPr>
              <a:xfrm>
                <a:off x="10420005" y="4394644"/>
                <a:ext cx="5660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𝑃𝑃</m:t>
                      </m:r>
                    </m:oMath>
                  </m:oMathPara>
                </a14:m>
                <a:endPara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E1E9C063-41FD-5922-CB3E-55ADD9E95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0005" y="4394644"/>
                <a:ext cx="56605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60AE1958-F668-C2CA-4F54-D2F8FA3EF562}"/>
              </a:ext>
            </a:extLst>
          </p:cNvPr>
          <p:cNvCxnSpPr>
            <a:cxnSpLocks/>
            <a:stCxn id="26" idx="2"/>
            <a:endCxn id="40" idx="0"/>
          </p:cNvCxnSpPr>
          <p:nvPr/>
        </p:nvCxnSpPr>
        <p:spPr>
          <a:xfrm>
            <a:off x="9530981" y="4800549"/>
            <a:ext cx="0" cy="38439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9B93D4E7-02AE-0C29-E79F-1832C25D090C}"/>
              </a:ext>
            </a:extLst>
          </p:cNvPr>
          <p:cNvSpPr txBox="1"/>
          <p:nvPr/>
        </p:nvSpPr>
        <p:spPr>
          <a:xfrm>
            <a:off x="9196821" y="5184940"/>
            <a:ext cx="668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kumimoji="1" lang="en-US" altLang="zh-CN" sz="1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flight</a:t>
            </a:r>
            <a:endParaRPr kumimoji="1" lang="zh-CN" altLang="en-US" sz="18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内容占位符 18">
            <a:extLst>
              <a:ext uri="{FF2B5EF4-FFF2-40B4-BE49-F238E27FC236}">
                <a16:creationId xmlns:a16="http://schemas.microsoft.com/office/drawing/2014/main" id="{B6D8C68C-A893-6C10-2555-906BF3E16D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1"/>
          <a:stretch>
            <a:fillRect/>
          </a:stretch>
        </p:blipFill>
        <p:spPr>
          <a:xfrm>
            <a:off x="476890" y="1714027"/>
            <a:ext cx="4212800" cy="4351338"/>
          </a:xfrm>
        </p:spPr>
      </p:pic>
      <p:grpSp>
        <p:nvGrpSpPr>
          <p:cNvPr id="44" name="组合 43">
            <a:extLst>
              <a:ext uri="{FF2B5EF4-FFF2-40B4-BE49-F238E27FC236}">
                <a16:creationId xmlns:a16="http://schemas.microsoft.com/office/drawing/2014/main" id="{BA0483F6-8F3F-A77C-E3ED-052864A58CFF}"/>
              </a:ext>
            </a:extLst>
          </p:cNvPr>
          <p:cNvGrpSpPr/>
          <p:nvPr/>
        </p:nvGrpSpPr>
        <p:grpSpPr>
          <a:xfrm>
            <a:off x="9914725" y="4794754"/>
            <a:ext cx="2002525" cy="1485264"/>
            <a:chOff x="9914725" y="4794754"/>
            <a:chExt cx="2002525" cy="1485264"/>
          </a:xfrm>
        </p:grpSpPr>
        <p:cxnSp>
          <p:nvCxnSpPr>
            <p:cNvPr id="23" name="直线箭头连接符 22">
              <a:extLst>
                <a:ext uri="{FF2B5EF4-FFF2-40B4-BE49-F238E27FC236}">
                  <a16:creationId xmlns:a16="http://schemas.microsoft.com/office/drawing/2014/main" id="{4E212777-1302-B715-7563-B62DC2615D81}"/>
                </a:ext>
              </a:extLst>
            </p:cNvPr>
            <p:cNvCxnSpPr>
              <a:cxnSpLocks/>
              <a:stCxn id="34" idx="2"/>
            </p:cNvCxnSpPr>
            <p:nvPr/>
          </p:nvCxnSpPr>
          <p:spPr>
            <a:xfrm flipH="1">
              <a:off x="10476655" y="4794754"/>
              <a:ext cx="226376" cy="384391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BC35AC7-1690-EB63-5591-C9E45D702971}"/>
                </a:ext>
              </a:extLst>
            </p:cNvPr>
            <p:cNvSpPr txBox="1"/>
            <p:nvPr/>
          </p:nvSpPr>
          <p:spPr>
            <a:xfrm>
              <a:off x="9914725" y="5905444"/>
              <a:ext cx="10058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800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through</a:t>
              </a:r>
              <a:endParaRPr kumimoji="1" lang="zh-CN" altLang="en-US" sz="1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7F38C848-8FA4-3CF4-C1AB-6295955931E7}"/>
                    </a:ext>
                  </a:extLst>
                </p:cNvPr>
                <p:cNvSpPr txBox="1"/>
                <p:nvPr/>
              </p:nvSpPr>
              <p:spPr>
                <a:xfrm>
                  <a:off x="10022332" y="5180870"/>
                  <a:ext cx="79534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𝑃𝑟𝑒𝑝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7F38C848-8FA4-3CF4-C1AB-6295955931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2332" y="5180870"/>
                  <a:ext cx="795346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7DC2C66C-D4E0-3399-9D92-2FC91810A6ED}"/>
                    </a:ext>
                  </a:extLst>
                </p:cNvPr>
                <p:cNvSpPr txBox="1"/>
                <p:nvPr/>
              </p:nvSpPr>
              <p:spPr>
                <a:xfrm>
                  <a:off x="10911355" y="5179145"/>
                  <a:ext cx="59490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𝑁𝑃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7DC2C66C-D4E0-3399-9D92-2FC91810A6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1355" y="5179145"/>
                  <a:ext cx="594906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直线箭头连接符 35">
              <a:extLst>
                <a:ext uri="{FF2B5EF4-FFF2-40B4-BE49-F238E27FC236}">
                  <a16:creationId xmlns:a16="http://schemas.microsoft.com/office/drawing/2014/main" id="{83695541-D218-90BB-CF15-0737F95113E6}"/>
                </a:ext>
              </a:extLst>
            </p:cNvPr>
            <p:cNvCxnSpPr>
              <a:cxnSpLocks/>
              <a:stCxn id="34" idx="2"/>
              <a:endCxn id="35" idx="0"/>
            </p:cNvCxnSpPr>
            <p:nvPr/>
          </p:nvCxnSpPr>
          <p:spPr>
            <a:xfrm>
              <a:off x="10703031" y="4794754"/>
              <a:ext cx="505777" cy="384391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94778E1-6F7A-F63F-D01C-E3AEC0B87831}"/>
                </a:ext>
              </a:extLst>
            </p:cNvPr>
            <p:cNvSpPr txBox="1"/>
            <p:nvPr/>
          </p:nvSpPr>
          <p:spPr>
            <a:xfrm>
              <a:off x="10911355" y="5910686"/>
              <a:ext cx="10058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800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Houston</a:t>
              </a:r>
              <a:endParaRPr kumimoji="1" lang="zh-CN" altLang="en-US" sz="1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2" name="直线箭头连接符 41">
              <a:extLst>
                <a:ext uri="{FF2B5EF4-FFF2-40B4-BE49-F238E27FC236}">
                  <a16:creationId xmlns:a16="http://schemas.microsoft.com/office/drawing/2014/main" id="{75B2663D-4C91-A2E7-1721-CE17309E5629}"/>
                </a:ext>
              </a:extLst>
            </p:cNvPr>
            <p:cNvCxnSpPr>
              <a:cxnSpLocks/>
            </p:cNvCxnSpPr>
            <p:nvPr/>
          </p:nvCxnSpPr>
          <p:spPr>
            <a:xfrm>
              <a:off x="10432569" y="5554272"/>
              <a:ext cx="0" cy="384391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线箭头连接符 42">
              <a:extLst>
                <a:ext uri="{FF2B5EF4-FFF2-40B4-BE49-F238E27FC236}">
                  <a16:creationId xmlns:a16="http://schemas.microsoft.com/office/drawing/2014/main" id="{B982EF78-EAAD-8623-691F-BE9D0AC1291B}"/>
                </a:ext>
              </a:extLst>
            </p:cNvPr>
            <p:cNvCxnSpPr>
              <a:cxnSpLocks/>
            </p:cNvCxnSpPr>
            <p:nvPr/>
          </p:nvCxnSpPr>
          <p:spPr>
            <a:xfrm>
              <a:off x="11272792" y="5579255"/>
              <a:ext cx="0" cy="384391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8C2BCCD7-3F96-8CFF-7FB2-A7DCB646D346}"/>
              </a:ext>
            </a:extLst>
          </p:cNvPr>
          <p:cNvSpPr txBox="1"/>
          <p:nvPr/>
        </p:nvSpPr>
        <p:spPr>
          <a:xfrm>
            <a:off x="838200" y="6042026"/>
            <a:ext cx="2048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Fig.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17.14.,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17,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pp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16,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SLP3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3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5803AD-C1D1-3405-9C8F-F85178CAB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Basic</a:t>
            </a:r>
            <a:r>
              <a:rPr kumimoji="1" lang="zh-CN" altLang="en-US" dirty="0"/>
              <a:t> </a:t>
            </a:r>
            <a:r>
              <a:rPr kumimoji="1" lang="en-US" altLang="zh-CN" dirty="0"/>
              <a:t>CKY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Problem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CE1CA9-75A6-01BE-993A-4581569F7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It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doesn’t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tell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which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parse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tree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correct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one!</a:t>
            </a:r>
            <a:endParaRPr kumimoji="1" lang="zh-CN" altLang="en-US" sz="2400" dirty="0"/>
          </a:p>
          <a:p>
            <a:endParaRPr kumimoji="1" lang="zh-CN" altLang="en-US" sz="2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290436-C1B9-6664-AE2B-EE2F3BD2D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7D7D1-0455-98C6-7E59-3222D6592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0B21ED-45E9-A82E-1381-3A0F0454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40</a:t>
            </a:fld>
            <a:endParaRPr kumimoji="1" lang="zh-CN" altLang="en-US"/>
          </a:p>
        </p:txBody>
      </p:sp>
      <p:pic>
        <p:nvPicPr>
          <p:cNvPr id="7" name="内容占位符 7">
            <a:extLst>
              <a:ext uri="{FF2B5EF4-FFF2-40B4-BE49-F238E27FC236}">
                <a16:creationId xmlns:a16="http://schemas.microsoft.com/office/drawing/2014/main" id="{1CA1F132-66AA-E903-2C66-E0570CBA7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02740"/>
            <a:ext cx="3253541" cy="333928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369F3D3-FAF5-5283-442B-4EF2DB1EC8B6}"/>
              </a:ext>
            </a:extLst>
          </p:cNvPr>
          <p:cNvSpPr txBox="1"/>
          <p:nvPr/>
        </p:nvSpPr>
        <p:spPr>
          <a:xfrm>
            <a:off x="838200" y="6042026"/>
            <a:ext cx="2048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Fig.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17.14.,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17,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pp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16,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SLP3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D55BB1E-01D4-6EF2-5159-1034B9028331}"/>
              </a:ext>
            </a:extLst>
          </p:cNvPr>
          <p:cNvSpPr/>
          <p:nvPr/>
        </p:nvSpPr>
        <p:spPr>
          <a:xfrm>
            <a:off x="3312472" y="2926654"/>
            <a:ext cx="726128" cy="738233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8C20385-2CE9-CBD3-8EFE-ED90845DD153}"/>
              </a:ext>
            </a:extLst>
          </p:cNvPr>
          <p:cNvGrpSpPr/>
          <p:nvPr/>
        </p:nvGrpSpPr>
        <p:grpSpPr>
          <a:xfrm>
            <a:off x="5122258" y="2926654"/>
            <a:ext cx="2098584" cy="2192788"/>
            <a:chOff x="5122258" y="2926654"/>
            <a:chExt cx="2098584" cy="21927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29FFC11B-2FD6-860C-A47F-9DA01A9FF8C0}"/>
                    </a:ext>
                  </a:extLst>
                </p:cNvPr>
                <p:cNvSpPr txBox="1"/>
                <p:nvPr/>
              </p:nvSpPr>
              <p:spPr>
                <a:xfrm>
                  <a:off x="5550192" y="2926654"/>
                  <a:ext cx="167065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𝑆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→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𝑉𝑒𝑟𝑏</m:t>
                        </m:r>
                        <m:r>
                          <a:rPr kumimoji="1" lang="zh-CN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𝑁𝑃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29FFC11B-2FD6-860C-A47F-9DA01A9FF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0192" y="2926654"/>
                  <a:ext cx="1670650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3008" t="-8000" r="-2256" b="-3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7D8C079-A337-7361-5F11-FC4D6BCF968D}"/>
                    </a:ext>
                  </a:extLst>
                </p:cNvPr>
                <p:cNvSpPr txBox="1"/>
                <p:nvPr/>
              </p:nvSpPr>
              <p:spPr>
                <a:xfrm>
                  <a:off x="5532686" y="3869159"/>
                  <a:ext cx="142077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𝑆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→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𝑉𝑃</m:t>
                        </m:r>
                        <m:r>
                          <a:rPr kumimoji="1" lang="zh-CN" alt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 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𝑃𝑃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7D8C079-A337-7361-5F11-FC4D6BCF96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2686" y="3869159"/>
                  <a:ext cx="1420774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3540" t="-8000" r="-3540" b="-4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38DCA86-6DB1-0D28-B435-F695EFFAD437}"/>
                    </a:ext>
                  </a:extLst>
                </p:cNvPr>
                <p:cNvSpPr txBox="1"/>
                <p:nvPr/>
              </p:nvSpPr>
              <p:spPr>
                <a:xfrm>
                  <a:off x="5550191" y="4811665"/>
                  <a:ext cx="140326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𝑆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3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→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𝑋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2  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𝑃𝑃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38DCA86-6DB1-0D28-B435-F695EFFAD4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0191" y="4811665"/>
                  <a:ext cx="1403269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3571" t="-3846" r="-3571" b="-346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左大括号 43">
              <a:extLst>
                <a:ext uri="{FF2B5EF4-FFF2-40B4-BE49-F238E27FC236}">
                  <a16:creationId xmlns:a16="http://schemas.microsoft.com/office/drawing/2014/main" id="{5F6751A2-3B0F-C4A8-C2A5-1D44B8FB91F1}"/>
                </a:ext>
              </a:extLst>
            </p:cNvPr>
            <p:cNvSpPr/>
            <p:nvPr/>
          </p:nvSpPr>
          <p:spPr>
            <a:xfrm>
              <a:off x="5122258" y="3163986"/>
              <a:ext cx="410428" cy="1764064"/>
            </a:xfrm>
            <a:prstGeom prst="leftBrace">
              <a:avLst>
                <a:gd name="adj1" fmla="val 37907"/>
                <a:gd name="adj2" fmla="val 22018"/>
              </a:avLst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5177957-E209-25DC-8EA6-24991C00B5D4}"/>
              </a:ext>
            </a:extLst>
          </p:cNvPr>
          <p:cNvGrpSpPr/>
          <p:nvPr/>
        </p:nvGrpSpPr>
        <p:grpSpPr>
          <a:xfrm>
            <a:off x="7797243" y="1101906"/>
            <a:ext cx="3314547" cy="5523227"/>
            <a:chOff x="7797243" y="1101906"/>
            <a:chExt cx="3314547" cy="55232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914B776-ABB2-4389-1651-908E5009992E}"/>
                    </a:ext>
                  </a:extLst>
                </p:cNvPr>
                <p:cNvSpPr txBox="1"/>
                <p:nvPr/>
              </p:nvSpPr>
              <p:spPr>
                <a:xfrm>
                  <a:off x="9396537" y="1101906"/>
                  <a:ext cx="48102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𝑆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914B776-ABB2-4389-1651-908E50099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537" y="1101906"/>
                  <a:ext cx="481029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12EABE07-9294-9B78-2AD4-1C4EE44DA3DD}"/>
                    </a:ext>
                  </a:extLst>
                </p:cNvPr>
                <p:cNvSpPr txBox="1"/>
                <p:nvPr/>
              </p:nvSpPr>
              <p:spPr>
                <a:xfrm>
                  <a:off x="8424145" y="1870075"/>
                  <a:ext cx="79464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𝑉𝑒𝑟𝑏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12EABE07-9294-9B78-2AD4-1C4EE44DA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4145" y="1870075"/>
                  <a:ext cx="794640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52FF3AA-69A5-0BD9-910E-681B0C1CB6DA}"/>
                    </a:ext>
                  </a:extLst>
                </p:cNvPr>
                <p:cNvSpPr txBox="1"/>
                <p:nvPr/>
              </p:nvSpPr>
              <p:spPr>
                <a:xfrm>
                  <a:off x="10018950" y="1870075"/>
                  <a:ext cx="59490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𝑁𝑃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52FF3AA-69A5-0BD9-910E-681B0C1CB6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8950" y="1870075"/>
                  <a:ext cx="594906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81E480E-CC65-E1BA-A8FB-40FF90DAB525}"/>
                </a:ext>
              </a:extLst>
            </p:cNvPr>
            <p:cNvSpPr txBox="1"/>
            <p:nvPr/>
          </p:nvSpPr>
          <p:spPr>
            <a:xfrm>
              <a:off x="8472496" y="2557322"/>
              <a:ext cx="6979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800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Book</a:t>
              </a:r>
              <a:endParaRPr kumimoji="1" lang="zh-CN" altLang="en-US" sz="1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线箭头连接符 17">
              <a:extLst>
                <a:ext uri="{FF2B5EF4-FFF2-40B4-BE49-F238E27FC236}">
                  <a16:creationId xmlns:a16="http://schemas.microsoft.com/office/drawing/2014/main" id="{062AC019-849B-0165-6D24-1A5F4B1D25B2}"/>
                </a:ext>
              </a:extLst>
            </p:cNvPr>
            <p:cNvCxnSpPr>
              <a:stCxn id="14" idx="2"/>
              <a:endCxn id="15" idx="0"/>
            </p:cNvCxnSpPr>
            <p:nvPr/>
          </p:nvCxnSpPr>
          <p:spPr>
            <a:xfrm flipH="1">
              <a:off x="8821465" y="1502016"/>
              <a:ext cx="815587" cy="36805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线箭头连接符 18">
              <a:extLst>
                <a:ext uri="{FF2B5EF4-FFF2-40B4-BE49-F238E27FC236}">
                  <a16:creationId xmlns:a16="http://schemas.microsoft.com/office/drawing/2014/main" id="{B45C2EE5-432A-EA02-9385-B2260BD465F0}"/>
                </a:ext>
              </a:extLst>
            </p:cNvPr>
            <p:cNvCxnSpPr>
              <a:cxnSpLocks/>
              <a:stCxn id="14" idx="2"/>
              <a:endCxn id="16" idx="0"/>
            </p:cNvCxnSpPr>
            <p:nvPr/>
          </p:nvCxnSpPr>
          <p:spPr>
            <a:xfrm>
              <a:off x="9637052" y="1502016"/>
              <a:ext cx="679351" cy="36805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线箭头连接符 19">
              <a:extLst>
                <a:ext uri="{FF2B5EF4-FFF2-40B4-BE49-F238E27FC236}">
                  <a16:creationId xmlns:a16="http://schemas.microsoft.com/office/drawing/2014/main" id="{BD273CBC-5B81-2578-F220-03145D71530B}"/>
                </a:ext>
              </a:extLst>
            </p:cNvPr>
            <p:cNvCxnSpPr>
              <a:cxnSpLocks/>
              <a:stCxn id="15" idx="2"/>
              <a:endCxn id="17" idx="0"/>
            </p:cNvCxnSpPr>
            <p:nvPr/>
          </p:nvCxnSpPr>
          <p:spPr>
            <a:xfrm>
              <a:off x="8821465" y="2270185"/>
              <a:ext cx="0" cy="287137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2B4F4554-C748-B20A-32A5-3FD845370168}"/>
                    </a:ext>
                  </a:extLst>
                </p:cNvPr>
                <p:cNvSpPr txBox="1"/>
                <p:nvPr/>
              </p:nvSpPr>
              <p:spPr>
                <a:xfrm>
                  <a:off x="9779489" y="2896718"/>
                  <a:ext cx="48699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𝑆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2B4F4554-C748-B20A-32A5-3FD8453701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9489" y="2896718"/>
                  <a:ext cx="486993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5A8E4DF-4DE4-F848-DF46-4AB67E0A8AB7}"/>
                    </a:ext>
                  </a:extLst>
                </p:cNvPr>
                <p:cNvSpPr txBox="1"/>
                <p:nvPr/>
              </p:nvSpPr>
              <p:spPr>
                <a:xfrm>
                  <a:off x="9112709" y="3670203"/>
                  <a:ext cx="56765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𝑉𝑃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5A8E4DF-4DE4-F848-DF46-4AB67E0A8A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12709" y="3670203"/>
                  <a:ext cx="567656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925D16F5-B7F0-FA3A-8E08-7ADFB989D0E7}"/>
                    </a:ext>
                  </a:extLst>
                </p:cNvPr>
                <p:cNvSpPr txBox="1"/>
                <p:nvPr/>
              </p:nvSpPr>
              <p:spPr>
                <a:xfrm>
                  <a:off x="9995532" y="3645245"/>
                  <a:ext cx="59490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𝑁𝑃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925D16F5-B7F0-FA3A-8E08-7ADFB989D0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95532" y="3645245"/>
                  <a:ext cx="594906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线箭头连接符 25">
              <a:extLst>
                <a:ext uri="{FF2B5EF4-FFF2-40B4-BE49-F238E27FC236}">
                  <a16:creationId xmlns:a16="http://schemas.microsoft.com/office/drawing/2014/main" id="{4A6AE9CE-8456-0AA2-8931-D50CCA77EC2F}"/>
                </a:ext>
              </a:extLst>
            </p:cNvPr>
            <p:cNvCxnSpPr>
              <a:stCxn id="22" idx="2"/>
              <a:endCxn id="23" idx="0"/>
            </p:cNvCxnSpPr>
            <p:nvPr/>
          </p:nvCxnSpPr>
          <p:spPr>
            <a:xfrm flipH="1">
              <a:off x="9396537" y="3296828"/>
              <a:ext cx="626449" cy="373375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箭头连接符 26">
              <a:extLst>
                <a:ext uri="{FF2B5EF4-FFF2-40B4-BE49-F238E27FC236}">
                  <a16:creationId xmlns:a16="http://schemas.microsoft.com/office/drawing/2014/main" id="{C379F59C-CA2F-7605-9BF0-0AC21328AF8F}"/>
                </a:ext>
              </a:extLst>
            </p:cNvPr>
            <p:cNvCxnSpPr>
              <a:cxnSpLocks/>
              <a:stCxn id="22" idx="2"/>
              <a:endCxn id="24" idx="0"/>
            </p:cNvCxnSpPr>
            <p:nvPr/>
          </p:nvCxnSpPr>
          <p:spPr>
            <a:xfrm>
              <a:off x="10022986" y="3296828"/>
              <a:ext cx="269999" cy="348417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AD61FDE3-E179-C051-9AE4-5369A3B55A8B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 flipH="1">
              <a:off x="9112709" y="4070313"/>
              <a:ext cx="283828" cy="30207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线箭头连接符 33">
              <a:extLst>
                <a:ext uri="{FF2B5EF4-FFF2-40B4-BE49-F238E27FC236}">
                  <a16:creationId xmlns:a16="http://schemas.microsoft.com/office/drawing/2014/main" id="{01C79F8F-9631-DBDC-2AFA-F7B7C55044DB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>
              <a:off x="9396537" y="4070313"/>
              <a:ext cx="283828" cy="30207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4561F221-C5F7-C824-229C-6F291A51828F}"/>
                    </a:ext>
                  </a:extLst>
                </p:cNvPr>
                <p:cNvSpPr txBox="1"/>
                <p:nvPr/>
              </p:nvSpPr>
              <p:spPr>
                <a:xfrm>
                  <a:off x="9528621" y="4870166"/>
                  <a:ext cx="48699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𝑆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4561F221-C5F7-C824-229C-6F291A5182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8621" y="4870166"/>
                  <a:ext cx="486993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C09F30C0-A90C-705D-1C72-39697A8AC3B3}"/>
                    </a:ext>
                  </a:extLst>
                </p:cNvPr>
                <p:cNvSpPr txBox="1"/>
                <p:nvPr/>
              </p:nvSpPr>
              <p:spPr>
                <a:xfrm>
                  <a:off x="8861841" y="5643651"/>
                  <a:ext cx="55015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𝑋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C09F30C0-A90C-705D-1C72-39697A8AC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1841" y="5643651"/>
                  <a:ext cx="550151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12634AE1-1A2C-0360-3323-42789F4782AC}"/>
                    </a:ext>
                  </a:extLst>
                </p:cNvPr>
                <p:cNvSpPr txBox="1"/>
                <p:nvPr/>
              </p:nvSpPr>
              <p:spPr>
                <a:xfrm>
                  <a:off x="9744664" y="5618693"/>
                  <a:ext cx="59490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𝑁𝑃</m:t>
                        </m:r>
                      </m:oMath>
                    </m:oMathPara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12634AE1-1A2C-0360-3323-42789F4782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4664" y="5618693"/>
                  <a:ext cx="594906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线箭头连接符 39">
              <a:extLst>
                <a:ext uri="{FF2B5EF4-FFF2-40B4-BE49-F238E27FC236}">
                  <a16:creationId xmlns:a16="http://schemas.microsoft.com/office/drawing/2014/main" id="{19ECEEE5-FB59-E978-7EAF-BA7257221F80}"/>
                </a:ext>
              </a:extLst>
            </p:cNvPr>
            <p:cNvCxnSpPr>
              <a:stCxn id="37" idx="2"/>
              <a:endCxn id="38" idx="0"/>
            </p:cNvCxnSpPr>
            <p:nvPr/>
          </p:nvCxnSpPr>
          <p:spPr>
            <a:xfrm flipH="1">
              <a:off x="9136917" y="5270276"/>
              <a:ext cx="635201" cy="373375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箭头连接符 40">
              <a:extLst>
                <a:ext uri="{FF2B5EF4-FFF2-40B4-BE49-F238E27FC236}">
                  <a16:creationId xmlns:a16="http://schemas.microsoft.com/office/drawing/2014/main" id="{D01FE8BE-B2A7-EE87-F92F-5C5193AC960D}"/>
                </a:ext>
              </a:extLst>
            </p:cNvPr>
            <p:cNvCxnSpPr>
              <a:cxnSpLocks/>
              <a:stCxn id="37" idx="2"/>
              <a:endCxn id="39" idx="0"/>
            </p:cNvCxnSpPr>
            <p:nvPr/>
          </p:nvCxnSpPr>
          <p:spPr>
            <a:xfrm>
              <a:off x="9772118" y="5270276"/>
              <a:ext cx="269999" cy="348417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线箭头连接符 41">
              <a:extLst>
                <a:ext uri="{FF2B5EF4-FFF2-40B4-BE49-F238E27FC236}">
                  <a16:creationId xmlns:a16="http://schemas.microsoft.com/office/drawing/2014/main" id="{45679700-C366-6E87-3B86-389186C466F0}"/>
                </a:ext>
              </a:extLst>
            </p:cNvPr>
            <p:cNvCxnSpPr>
              <a:cxnSpLocks/>
              <a:stCxn id="38" idx="2"/>
            </p:cNvCxnSpPr>
            <p:nvPr/>
          </p:nvCxnSpPr>
          <p:spPr>
            <a:xfrm flipH="1">
              <a:off x="8861841" y="6043761"/>
              <a:ext cx="275076" cy="30207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线箭头连接符 42">
              <a:extLst>
                <a:ext uri="{FF2B5EF4-FFF2-40B4-BE49-F238E27FC236}">
                  <a16:creationId xmlns:a16="http://schemas.microsoft.com/office/drawing/2014/main" id="{84BC312A-30E0-0662-1789-93D4FB733FAC}"/>
                </a:ext>
              </a:extLst>
            </p:cNvPr>
            <p:cNvCxnSpPr>
              <a:cxnSpLocks/>
              <a:stCxn id="38" idx="2"/>
            </p:cNvCxnSpPr>
            <p:nvPr/>
          </p:nvCxnSpPr>
          <p:spPr>
            <a:xfrm>
              <a:off x="9136917" y="6043761"/>
              <a:ext cx="292580" cy="30207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形标注 44">
              <a:extLst>
                <a:ext uri="{FF2B5EF4-FFF2-40B4-BE49-F238E27FC236}">
                  <a16:creationId xmlns:a16="http://schemas.microsoft.com/office/drawing/2014/main" id="{2FBB5EA2-0433-5F50-E090-A77D27C5F904}"/>
                </a:ext>
              </a:extLst>
            </p:cNvPr>
            <p:cNvSpPr/>
            <p:nvPr/>
          </p:nvSpPr>
          <p:spPr>
            <a:xfrm>
              <a:off x="7797243" y="1115383"/>
              <a:ext cx="3314547" cy="1942360"/>
            </a:xfrm>
            <a:prstGeom prst="wedgeEllipseCallout">
              <a:avLst>
                <a:gd name="adj1" fmla="val -63557"/>
                <a:gd name="adj2" fmla="val 47170"/>
              </a:avLst>
            </a:prstGeom>
            <a:solidFill>
              <a:schemeClr val="accent2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" name="椭圆形标注 46">
              <a:extLst>
                <a:ext uri="{FF2B5EF4-FFF2-40B4-BE49-F238E27FC236}">
                  <a16:creationId xmlns:a16="http://schemas.microsoft.com/office/drawing/2014/main" id="{847836E9-A5CD-485A-E0C4-0B7DBFDD8F42}"/>
                </a:ext>
              </a:extLst>
            </p:cNvPr>
            <p:cNvSpPr/>
            <p:nvPr/>
          </p:nvSpPr>
          <p:spPr>
            <a:xfrm>
              <a:off x="8554512" y="2926654"/>
              <a:ext cx="2371832" cy="1942360"/>
            </a:xfrm>
            <a:prstGeom prst="wedgeEllipseCallout">
              <a:avLst>
                <a:gd name="adj1" fmla="val -101427"/>
                <a:gd name="adj2" fmla="val 4676"/>
              </a:avLst>
            </a:prstGeom>
            <a:solidFill>
              <a:schemeClr val="accent2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" name="椭圆形标注 47">
              <a:extLst>
                <a:ext uri="{FF2B5EF4-FFF2-40B4-BE49-F238E27FC236}">
                  <a16:creationId xmlns:a16="http://schemas.microsoft.com/office/drawing/2014/main" id="{9678AA25-DB24-9883-2720-809259827A94}"/>
                </a:ext>
              </a:extLst>
            </p:cNvPr>
            <p:cNvSpPr/>
            <p:nvPr/>
          </p:nvSpPr>
          <p:spPr>
            <a:xfrm>
              <a:off x="8342705" y="4682773"/>
              <a:ext cx="2371832" cy="1942360"/>
            </a:xfrm>
            <a:prstGeom prst="wedgeEllipseCallout">
              <a:avLst>
                <a:gd name="adj1" fmla="val -103133"/>
                <a:gd name="adj2" fmla="val -31569"/>
              </a:avLst>
            </a:prstGeom>
            <a:solidFill>
              <a:schemeClr val="accent2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665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820050-55DD-4857-83D6-7C79C12B6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Pre-Neural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Solutions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302E3-D09F-115C-B86B-9998D1768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088"/>
            <a:ext cx="10515600" cy="4351338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Augment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CFG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to</a:t>
            </a:r>
            <a:r>
              <a:rPr kumimoji="1" lang="zh-CN" altLang="en-US" sz="2400" dirty="0"/>
              <a:t> </a:t>
            </a:r>
            <a:r>
              <a:rPr kumimoji="1" lang="en-US" altLang="zh-CN" sz="2400" b="1" dirty="0"/>
              <a:t>Probabilistic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Context-Free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Grammar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(PCFG)</a:t>
            </a:r>
          </a:p>
          <a:p>
            <a:endParaRPr kumimoji="1" lang="zh-CN" altLang="en-US" sz="2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625ECA-6E01-37FE-D70F-1E053E175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CE380F-54C5-BE1C-0685-F5D2FEFA6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BADFFD-B976-CE33-3514-1C1FA052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41</a:t>
            </a:fld>
            <a:endParaRPr kumimoji="1"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2AE810A-2E10-48F6-EB3A-FF21A38BE260}"/>
              </a:ext>
            </a:extLst>
          </p:cNvPr>
          <p:cNvGrpSpPr/>
          <p:nvPr/>
        </p:nvGrpSpPr>
        <p:grpSpPr>
          <a:xfrm>
            <a:off x="989987" y="2109543"/>
            <a:ext cx="4047629" cy="2400657"/>
            <a:chOff x="989987" y="2109543"/>
            <a:chExt cx="4047629" cy="24006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16D0708-9A5E-266C-8D4E-2B19DEDFB1E1}"/>
                    </a:ext>
                  </a:extLst>
                </p:cNvPr>
                <p:cNvSpPr txBox="1"/>
                <p:nvPr/>
              </p:nvSpPr>
              <p:spPr>
                <a:xfrm>
                  <a:off x="989987" y="2571208"/>
                  <a:ext cx="4047629" cy="1938992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342900" indent="-342900" algn="l">
                    <a:buFont typeface="Arial" panose="020B0604020202020204" pitchFamily="34" charset="0"/>
                    <a:buChar char="•"/>
                  </a:pPr>
                  <a:r>
                    <a:rPr kumimoji="1" lang="en-US" altLang="zh-CN" sz="2000" b="1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N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: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set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of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non-terminal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symbols</a:t>
                  </a:r>
                </a:p>
                <a:p>
                  <a:pPr marL="342900" indent="-342900" algn="l">
                    <a:buFont typeface="Arial" panose="020B0604020202020204" pitchFamily="34" charset="0"/>
                    <a:buChar char="•"/>
                  </a:pPr>
                  <a:r>
                    <a:rPr kumimoji="1" lang="en-US" altLang="zh-CN" sz="2000" b="1" i="1" dirty="0" err="1">
                      <a:latin typeface="Calibri" panose="020F0502020204030204" pitchFamily="34" charset="0"/>
                      <a:cs typeface="Calibri" panose="020F0502020204030204" pitchFamily="34" charset="0"/>
                    </a:rPr>
                    <a:t>Σ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: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set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of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terminal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symbols</a:t>
                  </a:r>
                </a:p>
                <a:p>
                  <a:pPr marL="342900" indent="-342900" algn="l">
                    <a:buFont typeface="Arial" panose="020B0604020202020204" pitchFamily="34" charset="0"/>
                    <a:buChar char="•"/>
                  </a:pPr>
                  <a:r>
                    <a:rPr kumimoji="1" lang="en-US" altLang="zh-CN" sz="2000" b="1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R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: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set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of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rules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(or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productions),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each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of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the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form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➝ 𝛽</a:t>
                  </a:r>
                  <a:b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</a:b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where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∈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𝑁</m:t>
                      </m:r>
                    </m:oMath>
                  </a14:m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,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and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𝛽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kumimoji="1" lang="en-US" altLang="zh-CN" sz="2000" b="0" i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Σ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∪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𝑁</m:t>
                      </m:r>
                    </m:oMath>
                  </a14:m>
                  <a:endPara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marL="342900" indent="-342900" algn="l">
                    <a:buFont typeface="Arial" panose="020B0604020202020204" pitchFamily="34" charset="0"/>
                    <a:buChar char="•"/>
                  </a:pPr>
                  <a:r>
                    <a:rPr kumimoji="1" lang="en-US" altLang="zh-CN" sz="2000" b="1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: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start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symbol</a:t>
                  </a: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16D0708-9A5E-266C-8D4E-2B19DEDFB1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987" y="2571208"/>
                  <a:ext cx="4047629" cy="1938992"/>
                </a:xfrm>
                <a:prstGeom prst="rect">
                  <a:avLst/>
                </a:prstGeom>
                <a:blipFill>
                  <a:blip r:embed="rId2"/>
                  <a:stretch>
                    <a:fillRect l="-1250" t="-1948" b="-45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CC8499F-F603-389F-97A2-1DD78126C70E}"/>
                </a:ext>
              </a:extLst>
            </p:cNvPr>
            <p:cNvSpPr txBox="1"/>
            <p:nvPr/>
          </p:nvSpPr>
          <p:spPr>
            <a:xfrm>
              <a:off x="2469930" y="2109543"/>
              <a:ext cx="6805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CFG</a:t>
              </a:r>
              <a:endPara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DAA8843-AFFD-73A6-9AD6-FCA0FBFA4B2B}"/>
              </a:ext>
            </a:extLst>
          </p:cNvPr>
          <p:cNvGrpSpPr/>
          <p:nvPr/>
        </p:nvGrpSpPr>
        <p:grpSpPr>
          <a:xfrm>
            <a:off x="3047960" y="2109543"/>
            <a:ext cx="7588270" cy="3016210"/>
            <a:chOff x="3047960" y="2109543"/>
            <a:chExt cx="7588270" cy="301621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E03F1DA-7FDD-A464-894E-8B995BA36D87}"/>
                </a:ext>
              </a:extLst>
            </p:cNvPr>
            <p:cNvSpPr txBox="1"/>
            <p:nvPr/>
          </p:nvSpPr>
          <p:spPr>
            <a:xfrm>
              <a:off x="8192813" y="2109543"/>
              <a:ext cx="8392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PCFG</a:t>
              </a:r>
              <a:endPara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40B1C22C-B263-6411-0AAF-3E8D102322EA}"/>
                    </a:ext>
                  </a:extLst>
                </p:cNvPr>
                <p:cNvSpPr txBox="1"/>
                <p:nvPr/>
              </p:nvSpPr>
              <p:spPr>
                <a:xfrm>
                  <a:off x="6588601" y="2571208"/>
                  <a:ext cx="4047629" cy="255454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342900" indent="-342900" algn="l">
                    <a:buFont typeface="Arial" panose="020B0604020202020204" pitchFamily="34" charset="0"/>
                    <a:buChar char="•"/>
                  </a:pPr>
                  <a:r>
                    <a:rPr kumimoji="1" lang="en-US" altLang="zh-CN" sz="2000" b="1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N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: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set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of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non-terminal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symbols</a:t>
                  </a:r>
                </a:p>
                <a:p>
                  <a:pPr marL="342900" indent="-342900" algn="l">
                    <a:buFont typeface="Arial" panose="020B0604020202020204" pitchFamily="34" charset="0"/>
                    <a:buChar char="•"/>
                  </a:pPr>
                  <a:r>
                    <a:rPr kumimoji="1" lang="en-US" altLang="zh-CN" sz="2000" b="1" i="1" dirty="0" err="1">
                      <a:latin typeface="Calibri" panose="020F0502020204030204" pitchFamily="34" charset="0"/>
                      <a:cs typeface="Calibri" panose="020F0502020204030204" pitchFamily="34" charset="0"/>
                    </a:rPr>
                    <a:t>Σ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: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set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of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terminal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symbols</a:t>
                  </a:r>
                </a:p>
                <a:p>
                  <a:pPr marL="342900" indent="-342900" algn="l">
                    <a:buFont typeface="Arial" panose="020B0604020202020204" pitchFamily="34" charset="0"/>
                    <a:buChar char="•"/>
                  </a:pPr>
                  <a:r>
                    <a:rPr kumimoji="1" lang="en-US" altLang="zh-CN" sz="2000" b="1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R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: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set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of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rules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(or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productions),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each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of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the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form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r>
                    <a:rPr kumimoji="1" lang="zh-CN" altLang="en-US" sz="2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➝ 𝛽 </a:t>
                  </a:r>
                  <a14:m>
                    <m:oMath xmlns:m="http://schemas.openxmlformats.org/officeDocument/2006/math">
                      <m:r>
                        <a:rPr kumimoji="1" lang="en-US" altLang="zh-CN" sz="20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[</m:t>
                      </m:r>
                      <m:r>
                        <a:rPr kumimoji="1" lang="en-US" altLang="zh-CN" sz="20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𝒑</m:t>
                      </m:r>
                      <m:r>
                        <a:rPr kumimoji="1" lang="en-US" altLang="zh-CN" sz="20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]</m:t>
                      </m:r>
                    </m:oMath>
                  </a14:m>
                  <a:br>
                    <a:rPr kumimoji="1" lang="en-US" altLang="zh-CN" sz="20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</a:b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where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∈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𝑁</m:t>
                      </m:r>
                    </m:oMath>
                  </a14:m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,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and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𝛽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kumimoji="1" lang="en-US" altLang="zh-CN" sz="2000" b="0" i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Σ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∪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𝑁</m:t>
                      </m:r>
                    </m:oMath>
                  </a14:m>
                  <a:b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</a:b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and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∈[0,1]</m:t>
                      </m:r>
                    </m:oMath>
                  </a14:m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is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the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conditional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probability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0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𝒑</m:t>
                      </m:r>
                      <m:d>
                        <m:dPr>
                          <m:ctrlPr>
                            <a:rPr kumimoji="1" lang="en-US" altLang="zh-CN" sz="20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𝜷</m:t>
                          </m:r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|</m:t>
                          </m:r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𝑨</m:t>
                          </m:r>
                        </m:e>
                      </m:d>
                    </m:oMath>
                  </a14:m>
                  <a:endParaRPr kumimoji="1"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marL="342900" indent="-342900" algn="l">
                    <a:buFont typeface="Arial" panose="020B0604020202020204" pitchFamily="34" charset="0"/>
                    <a:buChar char="•"/>
                  </a:pPr>
                  <a:r>
                    <a:rPr kumimoji="1" lang="en-US" altLang="zh-CN" sz="2000" b="1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: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start</a:t>
                  </a:r>
                  <a:r>
                    <a:rPr kumimoji="1" lang="zh-CN" altLang="en-US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1"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symbol</a:t>
                  </a: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40B1C22C-B263-6411-0AAF-3E8D102322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601" y="2571208"/>
                  <a:ext cx="4047629" cy="2554545"/>
                </a:xfrm>
                <a:prstGeom prst="rect">
                  <a:avLst/>
                </a:prstGeom>
                <a:blipFill>
                  <a:blip r:embed="rId3"/>
                  <a:stretch>
                    <a:fillRect l="-1250" t="-1485" b="-34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AA12CDE-8B37-422D-1FA8-B520C0E51A07}"/>
                </a:ext>
              </a:extLst>
            </p:cNvPr>
            <p:cNvSpPr/>
            <p:nvPr/>
          </p:nvSpPr>
          <p:spPr>
            <a:xfrm>
              <a:off x="8527325" y="3393499"/>
              <a:ext cx="1613338" cy="555871"/>
            </a:xfrm>
            <a:prstGeom prst="ellipse">
              <a:avLst/>
            </a:prstGeom>
            <a:solidFill>
              <a:srgbClr val="C00000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6B4687F-76DF-9D35-4C7C-ABAE5B52967E}"/>
                </a:ext>
              </a:extLst>
            </p:cNvPr>
            <p:cNvSpPr/>
            <p:nvPr/>
          </p:nvSpPr>
          <p:spPr>
            <a:xfrm>
              <a:off x="8058034" y="4342058"/>
              <a:ext cx="1140568" cy="555871"/>
            </a:xfrm>
            <a:prstGeom prst="ellipse">
              <a:avLst/>
            </a:prstGeom>
            <a:solidFill>
              <a:srgbClr val="C00000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B1D37B29-C786-CF39-0268-FE83F2E8E3C8}"/>
                </a:ext>
              </a:extLst>
            </p:cNvPr>
            <p:cNvSpPr/>
            <p:nvPr/>
          </p:nvSpPr>
          <p:spPr>
            <a:xfrm>
              <a:off x="3047960" y="3406359"/>
              <a:ext cx="1030053" cy="555871"/>
            </a:xfrm>
            <a:prstGeom prst="ellipse">
              <a:avLst/>
            </a:prstGeom>
            <a:solidFill>
              <a:srgbClr val="00B050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右箭头 13">
              <a:extLst>
                <a:ext uri="{FF2B5EF4-FFF2-40B4-BE49-F238E27FC236}">
                  <a16:creationId xmlns:a16="http://schemas.microsoft.com/office/drawing/2014/main" id="{80208984-5A22-BD8A-DA1F-2D9F4B59A6F0}"/>
                </a:ext>
              </a:extLst>
            </p:cNvPr>
            <p:cNvSpPr/>
            <p:nvPr/>
          </p:nvSpPr>
          <p:spPr>
            <a:xfrm>
              <a:off x="5336627" y="3212557"/>
              <a:ext cx="798786" cy="56755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9ACB100-FC3B-4F58-3EFB-20B15931B3E2}"/>
              </a:ext>
            </a:extLst>
          </p:cNvPr>
          <p:cNvGrpSpPr/>
          <p:nvPr/>
        </p:nvGrpSpPr>
        <p:grpSpPr>
          <a:xfrm>
            <a:off x="855587" y="4991408"/>
            <a:ext cx="5279826" cy="1314942"/>
            <a:chOff x="855587" y="4991408"/>
            <a:chExt cx="5279826" cy="1314942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7B809C2-1F4C-3D0A-B64A-3D291503B814}"/>
                </a:ext>
              </a:extLst>
            </p:cNvPr>
            <p:cNvSpPr txBox="1"/>
            <p:nvPr/>
          </p:nvSpPr>
          <p:spPr>
            <a:xfrm>
              <a:off x="855587" y="4991408"/>
              <a:ext cx="52798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Consider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all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possible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expansions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of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non-terminal,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then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55B3BE9-D96E-BF0E-9D68-06A73C283514}"/>
                    </a:ext>
                  </a:extLst>
                </p:cNvPr>
                <p:cNvSpPr txBox="1"/>
                <p:nvPr/>
              </p:nvSpPr>
              <p:spPr>
                <a:xfrm>
                  <a:off x="2881348" y="5521968"/>
                  <a:ext cx="1961627" cy="7843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kumimoji="1" lang="zh-CN" altLang="en-US" sz="200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𝛽</m:t>
                            </m:r>
                          </m:sub>
                          <m:sup/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𝐴</m:t>
                                </m:r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→</m:t>
                                </m:r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𝛽</m:t>
                                </m:r>
                              </m:e>
                            </m:d>
                          </m:e>
                        </m:nary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=1</m:t>
                        </m:r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55B3BE9-D96E-BF0E-9D68-06A73C2835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1348" y="5521968"/>
                  <a:ext cx="1961627" cy="784382"/>
                </a:xfrm>
                <a:prstGeom prst="rect">
                  <a:avLst/>
                </a:prstGeom>
                <a:blipFill>
                  <a:blip r:embed="rId4"/>
                  <a:stretch>
                    <a:fillRect l="-47742" t="-138095" r="-1935" b="-18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5708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179FE-ADD8-B61C-C05D-F45C8DC9F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76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PCFG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8A88F431-7053-9E46-6A0A-0521C0305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66917"/>
            <a:ext cx="7078444" cy="4630354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ECBF07-9B95-3109-5DF8-CEB18BE1C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B67179-0554-ADE1-911B-07BF982D5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139FB6-CE04-7A58-9701-C2F5AB549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42</a:t>
            </a:fld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723F3E-F6D5-DFC1-D89B-83F234C6E262}"/>
              </a:ext>
            </a:extLst>
          </p:cNvPr>
          <p:cNvSpPr txBox="1"/>
          <p:nvPr/>
        </p:nvSpPr>
        <p:spPr>
          <a:xfrm>
            <a:off x="8309640" y="1947041"/>
            <a:ext cx="32189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Probabilities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estimated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corpus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B854DB-21ED-551D-8F5E-52531C52D2A5}"/>
              </a:ext>
            </a:extLst>
          </p:cNvPr>
          <p:cNvSpPr txBox="1"/>
          <p:nvPr/>
        </p:nvSpPr>
        <p:spPr>
          <a:xfrm>
            <a:off x="8252540" y="2820265"/>
            <a:ext cx="34593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These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numbers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pedagogical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purposes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Any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real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corpus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would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rules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real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probabilities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will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much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smaller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9D05BBA-5409-A828-2D82-0EE6A997353A}"/>
                  </a:ext>
                </a:extLst>
              </p:cNvPr>
              <p:cNvSpPr txBox="1"/>
              <p:nvPr/>
            </p:nvSpPr>
            <p:spPr>
              <a:xfrm>
                <a:off x="838200" y="1166807"/>
                <a:ext cx="38425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PCFG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version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grammar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ℒ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9D05BBA-5409-A828-2D82-0EE6A9973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66807"/>
                <a:ext cx="3842527" cy="400110"/>
              </a:xfrm>
              <a:prstGeom prst="rect">
                <a:avLst/>
              </a:prstGeom>
              <a:blipFill>
                <a:blip r:embed="rId3"/>
                <a:stretch>
                  <a:fillRect l="-1980" t="-6061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33603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8825EF-4D6A-93F3-F670-986718162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PCFG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disambiguating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results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B286BD-5EF8-8322-4FD9-B6B16DF607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probability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particular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parse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tree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defined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product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probabilities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all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rules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expand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each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non-terminals</a:t>
                </a:r>
              </a:p>
              <a:p>
                <a:endParaRPr kumimoji="1" lang="en-US" altLang="zh-CN" sz="2400" dirty="0"/>
              </a:p>
              <a:p>
                <a:endParaRPr kumimoji="1" lang="en-US" altLang="zh-CN" sz="2400" dirty="0"/>
              </a:p>
              <a:p>
                <a:endParaRPr kumimoji="1" lang="en-US" altLang="zh-CN" sz="2400" dirty="0"/>
              </a:p>
              <a:p>
                <a:r>
                  <a:rPr kumimoji="1" lang="en-US" altLang="zh-CN" sz="2400" dirty="0"/>
                  <a:t>Consider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all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possible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parse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trees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sentence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kumimoji="1" lang="en-US" altLang="zh-CN" sz="2400" dirty="0"/>
                  <a:t>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need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pick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tree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with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highest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probability</a:t>
                </a:r>
                <a:endParaRPr kumimoji="1"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B286BD-5EF8-8322-4FD9-B6B16DF607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7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CF5F27-A48A-ECBB-AECF-37FD340EB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F46B03-737E-50CD-4ADA-987FDE7A4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F44F9B-2F27-A3EC-DEF6-024A3A603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43</a:t>
            </a:fld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8522784-4DB2-8415-C74C-DFA97B6387AA}"/>
                  </a:ext>
                </a:extLst>
              </p:cNvPr>
              <p:cNvSpPr txBox="1"/>
              <p:nvPr/>
            </p:nvSpPr>
            <p:spPr>
              <a:xfrm>
                <a:off x="4038600" y="2656490"/>
                <a:ext cx="3024739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𝑝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8522784-4DB2-8415-C74C-DFA97B638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2656490"/>
                <a:ext cx="3024739" cy="1008225"/>
              </a:xfrm>
              <a:prstGeom prst="rect">
                <a:avLst/>
              </a:prstGeom>
              <a:blipFill>
                <a:blip r:embed="rId3"/>
                <a:stretch>
                  <a:fillRect l="-3766" t="-122500" b="-18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F7F922F-AC86-63E2-7A97-2C96165FA71B}"/>
                  </a:ext>
                </a:extLst>
              </p:cNvPr>
              <p:cNvSpPr txBox="1"/>
              <p:nvPr/>
            </p:nvSpPr>
            <p:spPr>
              <a:xfrm>
                <a:off x="4038600" y="5123794"/>
                <a:ext cx="2790636" cy="4996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zh-CN" altLang="en-US" sz="24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𝑆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𝑇</m:t>
                                  </m:r>
                                </m:lim>
                              </m:limLow>
                            </m:fName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F7F922F-AC86-63E2-7A97-2C96165FA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5123794"/>
                <a:ext cx="2790636" cy="499624"/>
              </a:xfrm>
              <a:prstGeom prst="rect">
                <a:avLst/>
              </a:prstGeom>
              <a:blipFill>
                <a:blip r:embed="rId4"/>
                <a:stretch>
                  <a:fillRect l="-2273" t="-17500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019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F1B628-251C-1A96-5AF9-2D8CFB152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PCFG</a:t>
            </a:r>
            <a:r>
              <a:rPr kumimoji="1" lang="zh-CN" altLang="en-US" dirty="0"/>
              <a:t> </a:t>
            </a:r>
            <a:r>
              <a:rPr kumimoji="1" lang="en-US" altLang="zh-CN" dirty="0"/>
              <a:t>Usage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BED79682-5F9B-A97F-4786-81E8416119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206" y="1990561"/>
            <a:ext cx="6156387" cy="3746314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6B9E93-DFE0-2CE8-9403-6D531E91F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30EFE6-5CB2-6F32-299C-052C57531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AD6537-AE5E-F074-374B-30507AF79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44</a:t>
            </a:fld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3E294B-48A1-7FBD-E374-68595BB3619C}"/>
              </a:ext>
            </a:extLst>
          </p:cNvPr>
          <p:cNvSpPr txBox="1"/>
          <p:nvPr/>
        </p:nvSpPr>
        <p:spPr>
          <a:xfrm>
            <a:off x="890598" y="1235190"/>
            <a:ext cx="35402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Sentence: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kumimoji="1"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1"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dinner</a:t>
            </a:r>
            <a:r>
              <a:rPr kumimoji="1"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</a:t>
            </a:r>
            <a:endParaRPr kumimoji="1"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6A5FCB5-779A-DE73-CB65-33590051C26C}"/>
              </a:ext>
            </a:extLst>
          </p:cNvPr>
          <p:cNvGrpSpPr/>
          <p:nvPr/>
        </p:nvGrpSpPr>
        <p:grpSpPr>
          <a:xfrm>
            <a:off x="5096582" y="960056"/>
            <a:ext cx="6113635" cy="854280"/>
            <a:chOff x="5115911" y="1437364"/>
            <a:chExt cx="6113635" cy="854280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D372618-A637-9A56-4C67-139EC789DA53}"/>
                </a:ext>
              </a:extLst>
            </p:cNvPr>
            <p:cNvSpPr txBox="1"/>
            <p:nvPr/>
          </p:nvSpPr>
          <p:spPr>
            <a:xfrm>
              <a:off x="5115911" y="1690688"/>
              <a:ext cx="14069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two</a:t>
              </a:r>
              <a:r>
                <a: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senses: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0C5BEAF-1CA2-21F6-9F6C-7240D0CF5113}"/>
                </a:ext>
              </a:extLst>
            </p:cNvPr>
            <p:cNvSpPr txBox="1"/>
            <p:nvPr/>
          </p:nvSpPr>
          <p:spPr>
            <a:xfrm>
              <a:off x="6928945" y="1437364"/>
              <a:ext cx="36585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“Book</a:t>
              </a:r>
              <a:r>
                <a: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flight</a:t>
              </a:r>
              <a:r>
                <a: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that</a:t>
              </a:r>
              <a:r>
                <a: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serves</a:t>
              </a:r>
              <a:r>
                <a:rPr kumimoji="1" lang="zh-CN" altLang="en-US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dinner”</a:t>
              </a:r>
              <a:endParaRPr kumimoji="1" lang="zh-CN" alt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19F20C1-6BD7-5BDB-DD77-6F03A8F81A31}"/>
                </a:ext>
              </a:extLst>
            </p:cNvPr>
            <p:cNvSpPr txBox="1"/>
            <p:nvPr/>
          </p:nvSpPr>
          <p:spPr>
            <a:xfrm>
              <a:off x="6928945" y="1891534"/>
              <a:ext cx="43006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“Book</a:t>
              </a:r>
              <a:r>
                <a:rPr kumimoji="1" lang="zh-CN" altLang="en-US" sz="2000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kumimoji="1" lang="zh-CN" altLang="en-US" sz="2000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flight</a:t>
              </a:r>
              <a:r>
                <a:rPr kumimoji="1" lang="zh-CN" altLang="en-US" sz="2000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on</a:t>
              </a:r>
              <a:r>
                <a:rPr kumimoji="1" lang="zh-CN" altLang="en-US" sz="2000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behalf</a:t>
              </a:r>
              <a:r>
                <a:rPr kumimoji="1" lang="zh-CN" altLang="en-US" sz="2000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of</a:t>
              </a:r>
              <a:r>
                <a:rPr kumimoji="1" lang="zh-CN" altLang="en-US" sz="2000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‘the</a:t>
              </a:r>
              <a:r>
                <a:rPr kumimoji="1" lang="zh-CN" altLang="en-US" sz="2000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2000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dinner’”</a:t>
              </a:r>
              <a:endParaRPr kumimoji="1" lang="zh-CN" altLang="en-US" sz="20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左大括号 12">
              <a:extLst>
                <a:ext uri="{FF2B5EF4-FFF2-40B4-BE49-F238E27FC236}">
                  <a16:creationId xmlns:a16="http://schemas.microsoft.com/office/drawing/2014/main" id="{E8BD828E-F57D-C723-617F-DDFE2F372B76}"/>
                </a:ext>
              </a:extLst>
            </p:cNvPr>
            <p:cNvSpPr/>
            <p:nvPr/>
          </p:nvSpPr>
          <p:spPr>
            <a:xfrm>
              <a:off x="6647994" y="1653724"/>
              <a:ext cx="204051" cy="453379"/>
            </a:xfrm>
            <a:prstGeom prst="leftBrace">
              <a:avLst>
                <a:gd name="adj1" fmla="val 31512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292B6F6-623B-E4AA-7EF8-55E210698D7D}"/>
                  </a:ext>
                </a:extLst>
              </p:cNvPr>
              <p:cNvSpPr txBox="1"/>
              <p:nvPr/>
            </p:nvSpPr>
            <p:spPr>
              <a:xfrm>
                <a:off x="6909616" y="2433811"/>
                <a:ext cx="479445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Compute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using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probabilities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PCFG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ℒ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292B6F6-623B-E4AA-7EF8-55E210698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616" y="2433811"/>
                <a:ext cx="4794454" cy="400110"/>
              </a:xfrm>
              <a:prstGeom prst="rect">
                <a:avLst/>
              </a:prstGeom>
              <a:blipFill>
                <a:blip r:embed="rId3"/>
                <a:stretch>
                  <a:fillRect l="-1055" t="-6061" r="-528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>
            <a:extLst>
              <a:ext uri="{FF2B5EF4-FFF2-40B4-BE49-F238E27FC236}">
                <a16:creationId xmlns:a16="http://schemas.microsoft.com/office/drawing/2014/main" id="{BC16E334-FD9D-4840-D4CE-4C2EE325F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213" y="4924368"/>
            <a:ext cx="1531682" cy="146116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6F22B0B-B9F6-2DB0-55ED-6FDCCA2971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527" y="5139716"/>
            <a:ext cx="1526673" cy="1450761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39AA2E45-1877-1E50-F995-4218A5F2EFDC}"/>
              </a:ext>
            </a:extLst>
          </p:cNvPr>
          <p:cNvGrpSpPr/>
          <p:nvPr/>
        </p:nvGrpSpPr>
        <p:grpSpPr>
          <a:xfrm>
            <a:off x="6909616" y="3231932"/>
            <a:ext cx="4271698" cy="2365715"/>
            <a:chOff x="6909616" y="3231932"/>
            <a:chExt cx="4271698" cy="23657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6BE9947-A532-6F25-0D43-E16844A140A6}"/>
                    </a:ext>
                  </a:extLst>
                </p:cNvPr>
                <p:cNvSpPr txBox="1"/>
                <p:nvPr/>
              </p:nvSpPr>
              <p:spPr>
                <a:xfrm>
                  <a:off x="6909616" y="3231932"/>
                  <a:ext cx="4114800" cy="10277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</m:t>
                        </m:r>
                        <m:r>
                          <a:rPr kumimoji="1" lang="en-US" altLang="zh-CN" sz="20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0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left</m:t>
                            </m:r>
                          </m:sub>
                        </m:sSub>
                        <m:r>
                          <a:rPr kumimoji="1" lang="en-US" altLang="zh-CN" sz="20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) = .05∗.20∗.20∗.20∗.75∗.30∗.60∗.10∗.40 = </m:t>
                        </m:r>
                        <m:r>
                          <a:rPr kumimoji="1" lang="en-US" altLang="zh-CN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𝟐</m:t>
                        </m:r>
                        <m:r>
                          <a:rPr kumimoji="1" lang="en-US" altLang="zh-CN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kumimoji="1" lang="en-US" altLang="zh-CN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𝟐</m:t>
                        </m:r>
                        <m:r>
                          <a:rPr kumimoji="1" lang="en-US" altLang="zh-CN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×</m:t>
                        </m:r>
                        <m:sSup>
                          <m:sSupPr>
                            <m:ctrlPr>
                              <a:rPr kumimoji="1" lang="en-US" altLang="zh-CN" sz="20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𝟏𝟎</m:t>
                            </m:r>
                          </m:e>
                          <m:sup>
                            <m:r>
                              <a:rPr kumimoji="1" lang="en-US" altLang="zh-CN" sz="20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</m:t>
                            </m:r>
                            <m:r>
                              <a:rPr kumimoji="1" lang="en-US" altLang="zh-CN" sz="20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𝟔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6BE9947-A532-6F25-0D43-E16844A140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9616" y="3231932"/>
                  <a:ext cx="4114800" cy="1027782"/>
                </a:xfrm>
                <a:prstGeom prst="rect">
                  <a:avLst/>
                </a:prstGeom>
                <a:blipFill>
                  <a:blip r:embed="rId6"/>
                  <a:stretch>
                    <a:fillRect b="-36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B9586B2-1BB7-E394-F59B-29D641F9370A}"/>
                    </a:ext>
                  </a:extLst>
                </p:cNvPr>
                <p:cNvSpPr txBox="1"/>
                <p:nvPr/>
              </p:nvSpPr>
              <p:spPr>
                <a:xfrm>
                  <a:off x="7066514" y="4560119"/>
                  <a:ext cx="4114800" cy="10375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𝑃</m:t>
                        </m:r>
                        <m:r>
                          <a:rPr kumimoji="1" lang="en-US" altLang="zh-CN" sz="20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0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right</m:t>
                            </m:r>
                          </m:sub>
                        </m:sSub>
                        <m:r>
                          <a:rPr kumimoji="1" lang="en-US" altLang="zh-CN" sz="20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) =.05∗.10∗.20∗.15∗.75∗.75∗.30∗.60∗.10∗.40 = </m:t>
                        </m:r>
                        <m:r>
                          <a:rPr kumimoji="1" lang="en-US" altLang="zh-CN" sz="2000" b="1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𝟔</m:t>
                        </m:r>
                        <m:r>
                          <a:rPr kumimoji="1" lang="en-US" altLang="zh-CN" sz="2000" b="1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.</m:t>
                        </m:r>
                        <m:r>
                          <a:rPr kumimoji="1" lang="en-US" altLang="zh-CN" sz="2000" b="1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𝟏</m:t>
                        </m:r>
                        <m:r>
                          <a:rPr kumimoji="1" lang="en-US" altLang="zh-CN" sz="2000" b="1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×</m:t>
                        </m:r>
                        <m:sSup>
                          <m:sSupPr>
                            <m:ctrlPr>
                              <a:rPr kumimoji="1" lang="en-US" altLang="zh-CN" sz="2000" b="1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1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𝟏𝟎</m:t>
                            </m:r>
                          </m:e>
                          <m:sup>
                            <m:r>
                              <a:rPr kumimoji="1" lang="en-US" altLang="zh-CN" sz="2000" b="1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</m:t>
                            </m:r>
                            <m:r>
                              <a:rPr kumimoji="1" lang="en-US" altLang="zh-CN" sz="2000" b="1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𝟕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B9586B2-1BB7-E394-F59B-29D641F937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6514" y="4560119"/>
                  <a:ext cx="4114800" cy="1037528"/>
                </a:xfrm>
                <a:prstGeom prst="rect">
                  <a:avLst/>
                </a:prstGeom>
                <a:blipFill>
                  <a:blip r:embed="rId7"/>
                  <a:stretch>
                    <a:fillRect b="-73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71587B85-4D49-0259-418A-75CE9525398C}"/>
              </a:ext>
            </a:extLst>
          </p:cNvPr>
          <p:cNvSpPr txBox="1"/>
          <p:nvPr/>
        </p:nvSpPr>
        <p:spPr>
          <a:xfrm>
            <a:off x="10938347" y="365754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👍</a:t>
            </a:r>
          </a:p>
        </p:txBody>
      </p:sp>
    </p:spTree>
    <p:extLst>
      <p:ext uri="{BB962C8B-B14F-4D97-AF65-F5344CB8AC3E}">
        <p14:creationId xmlns:p14="http://schemas.microsoft.com/office/powerpoint/2010/main" val="184317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A0EFC-EE88-7B3F-F084-F7CF180F3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Overview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33C1D7-3FF7-75C7-1188-D2829879C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bg2">
                    <a:lumMod val="90000"/>
                  </a:schemeClr>
                </a:solidFill>
              </a:rPr>
              <a:t>Context</a:t>
            </a:r>
            <a:r>
              <a:rPr kumimoji="1" lang="zh-CN" altLang="en-US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2">
                    <a:lumMod val="90000"/>
                  </a:schemeClr>
                </a:solidFill>
              </a:rPr>
              <a:t>Free</a:t>
            </a:r>
            <a:r>
              <a:rPr kumimoji="1" lang="zh-CN" altLang="en-US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2">
                    <a:lumMod val="90000"/>
                  </a:schemeClr>
                </a:solidFill>
              </a:rPr>
              <a:t>Grammars</a:t>
            </a:r>
            <a:r>
              <a:rPr kumimoji="1" lang="zh-CN" altLang="en-US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2">
                    <a:lumMod val="90000"/>
                  </a:schemeClr>
                </a:solidFill>
              </a:rPr>
              <a:t>(CFG)</a:t>
            </a:r>
          </a:p>
          <a:p>
            <a:r>
              <a:rPr kumimoji="1" lang="en-US" altLang="zh-CN" dirty="0">
                <a:solidFill>
                  <a:schemeClr val="bg2">
                    <a:lumMod val="90000"/>
                  </a:schemeClr>
                </a:solidFill>
              </a:rPr>
              <a:t>Constituency</a:t>
            </a:r>
            <a:r>
              <a:rPr kumimoji="1" lang="zh-CN" altLang="en-US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2">
                    <a:lumMod val="90000"/>
                  </a:schemeClr>
                </a:solidFill>
              </a:rPr>
              <a:t>Parsing</a:t>
            </a:r>
          </a:p>
          <a:p>
            <a:r>
              <a:rPr kumimoji="1" lang="en-US" altLang="zh-CN" b="1" dirty="0"/>
              <a:t>Neural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Constituency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Parsing</a:t>
            </a:r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9B49E5-2AC7-71F2-FFC7-3E6FC2B9C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785920-3802-CDFA-4F32-32F782E2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t>45</a:t>
            </a:fld>
            <a:endParaRPr kumimoji="1" lang="zh-CN" altLang="en-US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B934E61-FC27-3DFE-6ACA-0CCABCE7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41691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71703-5BFC-9E79-EFDA-9A6E66E3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Neural Constituency Parsing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ED1573-3567-FA6E-9125-9C228C1A3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A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neural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extension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of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CKY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algorithm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to</a:t>
            </a:r>
            <a:r>
              <a:rPr kumimoji="1" lang="zh-CN" altLang="en-US" sz="2400" dirty="0"/>
              <a:t> </a:t>
            </a:r>
            <a:r>
              <a:rPr kumimoji="1" lang="en-US" altLang="zh-CN" sz="2400" b="1" dirty="0"/>
              <a:t>disambiguate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among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possible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parses</a:t>
            </a:r>
          </a:p>
          <a:p>
            <a:r>
              <a:rPr kumimoji="1" lang="en-US" altLang="zh-CN" sz="2400" b="1" dirty="0"/>
              <a:t>Span-based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constituency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parsing,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or</a:t>
            </a:r>
            <a:r>
              <a:rPr kumimoji="1" lang="zh-CN" altLang="en-US" sz="2400" dirty="0"/>
              <a:t> </a:t>
            </a:r>
            <a:r>
              <a:rPr kumimoji="1" lang="en-US" altLang="zh-CN" sz="2400" b="1" dirty="0"/>
              <a:t>neural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CKY</a:t>
            </a:r>
          </a:p>
          <a:p>
            <a:r>
              <a:rPr kumimoji="1" lang="en-US" altLang="zh-CN" sz="2400" b="1" dirty="0"/>
              <a:t>Idea:</a:t>
            </a:r>
          </a:p>
          <a:p>
            <a:r>
              <a:rPr kumimoji="1" lang="en-US" altLang="zh-CN" sz="2400" dirty="0"/>
              <a:t>Like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classic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CKY: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learns to map a span of words to a constituent,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and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hierarchically combines larger and larger spans to build the parse-tree bottom-up</a:t>
            </a:r>
          </a:p>
          <a:p>
            <a:r>
              <a:rPr kumimoji="1" lang="en-US" altLang="zh-CN" sz="2400" b="1" i="1" dirty="0">
                <a:solidFill>
                  <a:srgbClr val="C00000"/>
                </a:solidFill>
              </a:rPr>
              <a:t>Unlike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classic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CKY: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doesn’t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use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hand-written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grammar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constrain</a:t>
            </a:r>
            <a:r>
              <a:rPr kumimoji="1" lang="zh-CN" altLang="en-US" sz="2400" dirty="0"/>
              <a:t> </a:t>
            </a:r>
            <a:r>
              <a:rPr kumimoji="1" lang="en-US" altLang="zh-CN" sz="2400" i="1" dirty="0"/>
              <a:t>what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constituents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can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be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combined;</a:t>
            </a:r>
          </a:p>
          <a:p>
            <a:r>
              <a:rPr kumimoji="1" lang="en-US" altLang="zh-CN" sz="2400" dirty="0"/>
              <a:t>Instead,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just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relying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learned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neural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representations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of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spans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predict</a:t>
            </a:r>
            <a:r>
              <a:rPr kumimoji="1" lang="zh-CN" altLang="en-US" sz="2400" dirty="0"/>
              <a:t> </a:t>
            </a:r>
            <a:r>
              <a:rPr kumimoji="1" lang="en-US" altLang="zh-CN" sz="2400" i="1" dirty="0"/>
              <a:t>likely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combinations ⇒ </a:t>
            </a:r>
            <a:r>
              <a:rPr kumimoji="1" lang="en-US" altLang="zh-CN" sz="2400" b="1" dirty="0">
                <a:solidFill>
                  <a:srgbClr val="0070C0"/>
                </a:solidFill>
              </a:rPr>
              <a:t>probabilities</a:t>
            </a:r>
            <a:endParaRPr kumimoji="1" lang="en-US" altLang="zh-CN" sz="2400" dirty="0"/>
          </a:p>
          <a:p>
            <a:r>
              <a:rPr kumimoji="1" lang="en-US" altLang="zh-CN" sz="2400" dirty="0"/>
              <a:t>Ex.</a:t>
            </a:r>
            <a:r>
              <a:rPr kumimoji="1" lang="zh-CN" altLang="en-US" sz="2400" dirty="0"/>
              <a:t> </a:t>
            </a:r>
            <a:r>
              <a:rPr kumimoji="1" lang="en-US" altLang="zh-CN" sz="2400" dirty="0" err="1"/>
              <a:t>Kitaev</a:t>
            </a:r>
            <a:r>
              <a:rPr kumimoji="1" lang="en-US" altLang="zh-CN" sz="2400" dirty="0"/>
              <a:t> et al. (2019)</a:t>
            </a:r>
          </a:p>
          <a:p>
            <a:endParaRPr kumimoji="1" lang="zh-CN" altLang="en-US" sz="24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506AE1-5FF0-16B0-3144-BC2312C21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39C832-4A7D-F15C-0FF2-B2FAE5239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46</a:t>
            </a:fld>
            <a:endParaRPr kumimoji="1" lang="zh-CN" altLang="en-US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62EF6808-BE0D-7EA2-E144-D6B4B5ADB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B73615-E9AF-B3D7-84CD-FBD8D87F61DB}"/>
              </a:ext>
            </a:extLst>
          </p:cNvPr>
          <p:cNvSpPr txBox="1"/>
          <p:nvPr/>
        </p:nvSpPr>
        <p:spPr>
          <a:xfrm>
            <a:off x="6206592" y="144618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rgbClr val="0070C0"/>
                </a:solidFill>
                <a:latin typeface="Songti SC" panose="02010600040101010101" pitchFamily="2" charset="-122"/>
                <a:ea typeface="Songti SC" panose="02010600040101010101" pitchFamily="2" charset="-122"/>
                <a:cs typeface="Calibri" panose="020F0502020204030204" pitchFamily="34" charset="0"/>
              </a:rPr>
              <a:t>消除歧义</a:t>
            </a:r>
          </a:p>
        </p:txBody>
      </p:sp>
    </p:spTree>
    <p:extLst>
      <p:ext uri="{BB962C8B-B14F-4D97-AF65-F5344CB8AC3E}">
        <p14:creationId xmlns:p14="http://schemas.microsoft.com/office/powerpoint/2010/main" val="91286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BCEDF3-441C-A52B-61CB-ABDCD0E9A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Neural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CKY</a:t>
            </a:r>
            <a:r>
              <a:rPr kumimoji="1" lang="zh-CN" altLang="en-US" dirty="0"/>
              <a:t> </a:t>
            </a:r>
            <a:r>
              <a:rPr kumimoji="1" lang="en-US" altLang="zh-CN" dirty="0"/>
              <a:t>Architecture</a:t>
            </a:r>
            <a:endParaRPr kumimoji="1"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B672C495-F894-2FB3-C15C-1CE16CB87A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768"/>
          <a:stretch/>
        </p:blipFill>
        <p:spPr>
          <a:xfrm>
            <a:off x="695003" y="1445299"/>
            <a:ext cx="5400997" cy="4351338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F09026-DCB9-966A-B33F-97A02C9EF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ED2D35-9728-F25D-5195-477901A0F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7DA00D-F718-789F-839A-8CC52B8B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47</a:t>
            </a:fld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40D1E0-DCF3-7A80-C841-189AA06750E7}"/>
              </a:ext>
            </a:extLst>
          </p:cNvPr>
          <p:cNvSpPr txBox="1"/>
          <p:nvPr/>
        </p:nvSpPr>
        <p:spPr>
          <a:xfrm>
            <a:off x="838200" y="6139130"/>
            <a:ext cx="2048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Fig.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17.15.,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Ch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17,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pp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17,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SLP3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ED6F95-811A-ACB8-565F-AE7928830713}"/>
              </a:ext>
            </a:extLst>
          </p:cNvPr>
          <p:cNvSpPr txBox="1"/>
          <p:nvPr/>
        </p:nvSpPr>
        <p:spPr>
          <a:xfrm>
            <a:off x="2403335" y="5739020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9AFBF90-82D1-07DC-2895-E91211B90D4C}"/>
              </a:ext>
            </a:extLst>
          </p:cNvPr>
          <p:cNvSpPr txBox="1"/>
          <p:nvPr/>
        </p:nvSpPr>
        <p:spPr>
          <a:xfrm>
            <a:off x="2926152" y="5750669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9CB26A-B4BA-FDCF-FEAD-71AC9ED982A0}"/>
              </a:ext>
            </a:extLst>
          </p:cNvPr>
          <p:cNvSpPr txBox="1"/>
          <p:nvPr/>
        </p:nvSpPr>
        <p:spPr>
          <a:xfrm>
            <a:off x="3448969" y="5750669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77313C5-EB67-4E7C-FA34-97E705A0267D}"/>
              </a:ext>
            </a:extLst>
          </p:cNvPr>
          <p:cNvSpPr txBox="1"/>
          <p:nvPr/>
        </p:nvSpPr>
        <p:spPr>
          <a:xfrm>
            <a:off x="3971786" y="5750669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1" lang="zh-CN" alt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7356FC-59DE-DE53-0C20-257798276B15}"/>
              </a:ext>
            </a:extLst>
          </p:cNvPr>
          <p:cNvSpPr txBox="1"/>
          <p:nvPr/>
        </p:nvSpPr>
        <p:spPr>
          <a:xfrm>
            <a:off x="4579307" y="5750669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kumimoji="1" lang="zh-CN" alt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4C00286-DC4B-9DD4-5CC2-94315369580D}"/>
              </a:ext>
            </a:extLst>
          </p:cNvPr>
          <p:cNvSpPr txBox="1"/>
          <p:nvPr/>
        </p:nvSpPr>
        <p:spPr>
          <a:xfrm>
            <a:off x="5180398" y="5749693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kumimoji="1" lang="zh-CN" alt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AA84E17-2D76-BEA2-C7F9-F5FA0CD25A01}"/>
                  </a:ext>
                </a:extLst>
              </p:cNvPr>
              <p:cNvSpPr txBox="1"/>
              <p:nvPr/>
            </p:nvSpPr>
            <p:spPr>
              <a:xfrm>
                <a:off x="6309145" y="1343818"/>
                <a:ext cx="496041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Consider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span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lies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between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positions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</m:oMath>
                </a14:m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non-terminal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label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𝑙</m:t>
                    </m:r>
                  </m:oMath>
                </a14:m>
                <a:endPara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AA84E17-2D76-BEA2-C7F9-F5FA0CD25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145" y="1343818"/>
                <a:ext cx="4960417" cy="707886"/>
              </a:xfrm>
              <a:prstGeom prst="rect">
                <a:avLst/>
              </a:prstGeom>
              <a:blipFill>
                <a:blip r:embed="rId3"/>
                <a:stretch>
                  <a:fillRect l="-1276" t="-3509" b="-14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A862076-77E3-09A9-0217-3F7AB8B7E6B4}"/>
                  </a:ext>
                </a:extLst>
              </p:cNvPr>
              <p:cNvSpPr txBox="1"/>
              <p:nvPr/>
            </p:nvSpPr>
            <p:spPr>
              <a:xfrm>
                <a:off x="6309145" y="2062663"/>
                <a:ext cx="55592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Assign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score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𝒔</m:t>
                    </m:r>
                    <m:r>
                      <a:rPr kumimoji="1" lang="en-US" altLang="zh-CN" sz="2000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kumimoji="1" lang="en-US" altLang="zh-CN" sz="2000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𝒊</m:t>
                    </m:r>
                    <m:r>
                      <a:rPr kumimoji="1" lang="en-US" altLang="zh-CN" sz="2000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kumimoji="1" lang="en-US" altLang="zh-CN" sz="2000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𝒋</m:t>
                    </m:r>
                    <m:r>
                      <a:rPr kumimoji="1" lang="en-US" altLang="zh-CN" sz="2000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kumimoji="1" lang="en-US" altLang="zh-CN" sz="2000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𝒍</m:t>
                    </m:r>
                    <m:r>
                      <a:rPr kumimoji="1" lang="en-US" altLang="zh-CN" sz="2000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kumimoji="1" lang="zh-CN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this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span</a:t>
                </a:r>
                <a:endPara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A862076-77E3-09A9-0217-3F7AB8B7E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145" y="2062663"/>
                <a:ext cx="5559228" cy="400110"/>
              </a:xfrm>
              <a:prstGeom prst="rect">
                <a:avLst/>
              </a:prstGeom>
              <a:blipFill>
                <a:blip r:embed="rId4"/>
                <a:stretch>
                  <a:fillRect l="-1139" t="-9375" b="-28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DDD2FB2D-D6C1-72E6-CCC3-9BA0772E53D8}"/>
              </a:ext>
            </a:extLst>
          </p:cNvPr>
          <p:cNvSpPr txBox="1"/>
          <p:nvPr/>
        </p:nvSpPr>
        <p:spPr>
          <a:xfrm>
            <a:off x="6309145" y="2490268"/>
            <a:ext cx="55592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How</a:t>
            </a:r>
            <a:r>
              <a:rPr kumimoji="1"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kumimoji="1"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compute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score?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represent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spans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embedding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vectors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4AC3635B-CDF0-0D12-F8FB-096DEE2E2043}"/>
              </a:ext>
            </a:extLst>
          </p:cNvPr>
          <p:cNvSpPr/>
          <p:nvPr/>
        </p:nvSpPr>
        <p:spPr>
          <a:xfrm>
            <a:off x="1944731" y="4599876"/>
            <a:ext cx="4054109" cy="785002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C345698-9306-EB0A-ED2D-72D29643C6D3}"/>
              </a:ext>
            </a:extLst>
          </p:cNvPr>
          <p:cNvSpPr txBox="1"/>
          <p:nvPr/>
        </p:nvSpPr>
        <p:spPr>
          <a:xfrm>
            <a:off x="2182130" y="4792322"/>
            <a:ext cx="3712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Encoder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(RNN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LSTM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BERT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…)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CA1B81A-07E3-FDB5-C08F-E0CFD204C0F6}"/>
                  </a:ext>
                </a:extLst>
              </p:cNvPr>
              <p:cNvSpPr txBox="1"/>
              <p:nvPr/>
            </p:nvSpPr>
            <p:spPr>
              <a:xfrm>
                <a:off x="6309145" y="3338918"/>
                <a:ext cx="5664424" cy="727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First,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obtain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word</a:t>
                </a:r>
                <a:r>
                  <a:rPr kumimoji="1" lang="zh-CN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vectors</a:t>
                </a:r>
                <a:r>
                  <a:rPr kumimoji="1" lang="zh-CN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0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𝒚</m:t>
                        </m:r>
                      </m:e>
                      <m:sup>
                        <m:d>
                          <m:dPr>
                            <m:begChr m:val="⟨"/>
                            <m:endChr m:val="⟩"/>
                            <m:ctrlPr>
                              <a:rPr kumimoji="1" lang="en-US" altLang="zh-CN" sz="2000" b="1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b="1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𝒕</m:t>
                            </m:r>
                          </m:e>
                        </m:d>
                      </m:sup>
                    </m:sSup>
                  </m:oMath>
                </a14:m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encoder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(i.e.,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hidden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state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LSTM,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or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last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layer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Transformer)</a:t>
                </a:r>
                <a:endPara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CA1B81A-07E3-FDB5-C08F-E0CFD204C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145" y="3338918"/>
                <a:ext cx="5664424" cy="727635"/>
              </a:xfrm>
              <a:prstGeom prst="rect">
                <a:avLst/>
              </a:prstGeom>
              <a:blipFill>
                <a:blip r:embed="rId5"/>
                <a:stretch>
                  <a:fillRect l="-1119" t="-3448" r="-895" b="-120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A1534BB-2850-EF98-E93D-5C26F4B252E7}"/>
                  </a:ext>
                </a:extLst>
              </p:cNvPr>
              <p:cNvSpPr txBox="1"/>
              <p:nvPr/>
            </p:nvSpPr>
            <p:spPr>
              <a:xfrm>
                <a:off x="6309145" y="4162412"/>
                <a:ext cx="5664424" cy="1074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Then,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split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0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𝒚</m:t>
                        </m:r>
                      </m:e>
                      <m:sup>
                        <m:d>
                          <m:dPr>
                            <m:begChr m:val="⟨"/>
                            <m:endChr m:val="⟩"/>
                            <m:ctrlPr>
                              <a:rPr kumimoji="1" lang="en-US" altLang="zh-CN" sz="2000" b="1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b="1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𝒕</m:t>
                            </m:r>
                          </m:e>
                        </m:d>
                      </m:sup>
                    </m:sSup>
                  </m:oMath>
                </a14:m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into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two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halves: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0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kumimoji="1" lang="en-US" altLang="zh-CN" sz="2000" b="1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000" b="1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𝒚</m:t>
                            </m:r>
                          </m:e>
                        </m:acc>
                      </m:e>
                      <m:sup>
                        <m:d>
                          <m:dPr>
                            <m:begChr m:val="⟨"/>
                            <m:endChr m:val="⟩"/>
                            <m:ctrlPr>
                              <a:rPr kumimoji="1" lang="en-US" altLang="zh-CN" sz="2000" b="1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b="1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𝒕</m:t>
                            </m:r>
                          </m:e>
                        </m:d>
                      </m:sup>
                    </m:sSup>
                  </m:oMath>
                </a14:m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spans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starting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this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position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0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acc>
                          <m:accPr>
                            <m:chr m:val="⃖"/>
                            <m:ctrlPr>
                              <a:rPr kumimoji="1" lang="en-US" altLang="zh-CN" sz="2000" b="1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000" b="1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𝒚</m:t>
                            </m:r>
                          </m:e>
                        </m:acc>
                      </m:e>
                      <m:sup>
                        <m:d>
                          <m:dPr>
                            <m:begChr m:val="⟨"/>
                            <m:endChr m:val="⟩"/>
                            <m:ctrlPr>
                              <a:rPr kumimoji="1" lang="en-US" altLang="zh-CN" sz="2000" b="1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b="1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𝒕</m:t>
                            </m:r>
                          </m:e>
                        </m:d>
                      </m:sup>
                    </m:sSup>
                  </m:oMath>
                </a14:m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spans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b="1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ending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this</a:t>
                </a:r>
                <a:r>
                  <a: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position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A1534BB-2850-EF98-E93D-5C26F4B25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145" y="4162412"/>
                <a:ext cx="5664424" cy="1074910"/>
              </a:xfrm>
              <a:prstGeom prst="rect">
                <a:avLst/>
              </a:prstGeom>
              <a:blipFill>
                <a:blip r:embed="rId6"/>
                <a:stretch>
                  <a:fillRect l="-1119" t="-2326" b="-9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组合 33">
            <a:extLst>
              <a:ext uri="{FF2B5EF4-FFF2-40B4-BE49-F238E27FC236}">
                <a16:creationId xmlns:a16="http://schemas.microsoft.com/office/drawing/2014/main" id="{7F10F4CA-4FA8-5CE2-F9FC-E85CE6591136}"/>
              </a:ext>
            </a:extLst>
          </p:cNvPr>
          <p:cNvGrpSpPr/>
          <p:nvPr/>
        </p:nvGrpSpPr>
        <p:grpSpPr>
          <a:xfrm>
            <a:off x="276389" y="3776413"/>
            <a:ext cx="1211499" cy="2373390"/>
            <a:chOff x="276389" y="3776413"/>
            <a:chExt cx="1211499" cy="2373390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FD9D8C8-918A-BA3C-C5BF-E3AD34EA79F8}"/>
                </a:ext>
              </a:extLst>
            </p:cNvPr>
            <p:cNvSpPr txBox="1"/>
            <p:nvPr/>
          </p:nvSpPr>
          <p:spPr>
            <a:xfrm>
              <a:off x="359371" y="4745355"/>
              <a:ext cx="1038554" cy="40011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Encoder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594FC784-A79B-5427-3BB6-3C8507655172}"/>
                    </a:ext>
                  </a:extLst>
                </p:cNvPr>
                <p:cNvSpPr txBox="1"/>
                <p:nvPr/>
              </p:nvSpPr>
              <p:spPr>
                <a:xfrm>
                  <a:off x="571288" y="5377179"/>
                  <a:ext cx="614719" cy="4198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𝑒</m:t>
                            </m:r>
                          </m:e>
                          <m:sup>
                            <m:d>
                              <m:dPr>
                                <m:begChr m:val="⟨"/>
                                <m:endChr m:val="⟩"/>
                                <m:ctrlP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594FC784-A79B-5427-3BB6-3C85076551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288" y="5377179"/>
                  <a:ext cx="614719" cy="41985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66AD9B8-F797-A372-C77A-D0E14A4B3D7E}"/>
                    </a:ext>
                  </a:extLst>
                </p:cNvPr>
                <p:cNvSpPr txBox="1"/>
                <p:nvPr/>
              </p:nvSpPr>
              <p:spPr>
                <a:xfrm>
                  <a:off x="571288" y="4093254"/>
                  <a:ext cx="631070" cy="4198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begChr m:val="⟨"/>
                                <m:endChr m:val="⟩"/>
                                <m:ctrlP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0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kumimoji="1"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66AD9B8-F797-A372-C77A-D0E14A4B3D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288" y="4093254"/>
                  <a:ext cx="631070" cy="419859"/>
                </a:xfrm>
                <a:prstGeom prst="rect">
                  <a:avLst/>
                </a:prstGeom>
                <a:blipFill>
                  <a:blip r:embed="rId8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直线箭头连接符 26">
              <a:extLst>
                <a:ext uri="{FF2B5EF4-FFF2-40B4-BE49-F238E27FC236}">
                  <a16:creationId xmlns:a16="http://schemas.microsoft.com/office/drawing/2014/main" id="{382D4F5E-2442-552C-EB1E-F216A78A3CE2}"/>
                </a:ext>
              </a:extLst>
            </p:cNvPr>
            <p:cNvCxnSpPr>
              <a:stCxn id="23" idx="0"/>
              <a:endCxn id="25" idx="2"/>
            </p:cNvCxnSpPr>
            <p:nvPr/>
          </p:nvCxnSpPr>
          <p:spPr>
            <a:xfrm flipV="1">
              <a:off x="878648" y="4513113"/>
              <a:ext cx="8175" cy="23224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D921BE2E-B7E3-E3E2-B000-1035E0BE37E1}"/>
                </a:ext>
              </a:extLst>
            </p:cNvPr>
            <p:cNvCxnSpPr>
              <a:cxnSpLocks/>
              <a:stCxn id="24" idx="0"/>
              <a:endCxn id="23" idx="2"/>
            </p:cNvCxnSpPr>
            <p:nvPr/>
          </p:nvCxnSpPr>
          <p:spPr>
            <a:xfrm flipV="1">
              <a:off x="878648" y="5145465"/>
              <a:ext cx="0" cy="23171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椭圆形标注 32">
              <a:extLst>
                <a:ext uri="{FF2B5EF4-FFF2-40B4-BE49-F238E27FC236}">
                  <a16:creationId xmlns:a16="http://schemas.microsoft.com/office/drawing/2014/main" id="{82755574-B9FC-8D6C-0640-4561E8284DA3}"/>
                </a:ext>
              </a:extLst>
            </p:cNvPr>
            <p:cNvSpPr/>
            <p:nvPr/>
          </p:nvSpPr>
          <p:spPr>
            <a:xfrm>
              <a:off x="276389" y="3776413"/>
              <a:ext cx="1211499" cy="2373390"/>
            </a:xfrm>
            <a:prstGeom prst="wedgeEllipseCallout">
              <a:avLst>
                <a:gd name="adj1" fmla="val 78114"/>
                <a:gd name="adj2" fmla="val -4667"/>
              </a:avLst>
            </a:prstGeom>
            <a:solidFill>
              <a:schemeClr val="accent4">
                <a:alpha val="36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36" name="图片 35">
            <a:extLst>
              <a:ext uri="{FF2B5EF4-FFF2-40B4-BE49-F238E27FC236}">
                <a16:creationId xmlns:a16="http://schemas.microsoft.com/office/drawing/2014/main" id="{D00AACF1-34FA-330C-363E-4E7FDAA471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6644" y="5397269"/>
            <a:ext cx="3152149" cy="1141643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C273B6E2-9481-477F-03AA-5584FCDDEAB1}"/>
              </a:ext>
            </a:extLst>
          </p:cNvPr>
          <p:cNvSpPr txBox="1"/>
          <p:nvPr/>
        </p:nvSpPr>
        <p:spPr>
          <a:xfrm>
            <a:off x="3059486" y="6139130"/>
            <a:ext cx="33370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architecture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Kitaev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 et al. (2019)</a:t>
            </a:r>
          </a:p>
        </p:txBody>
      </p:sp>
    </p:spTree>
    <p:extLst>
      <p:ext uri="{BB962C8B-B14F-4D97-AF65-F5344CB8AC3E}">
        <p14:creationId xmlns:p14="http://schemas.microsoft.com/office/powerpoint/2010/main" val="1545686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1" grpId="0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C270E-50C7-ED5B-E639-99F21BBF2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268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Represent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spans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embedding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vectors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0A06C1E-D065-D986-CA92-115A3E3A8C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8588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span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can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represented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taking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difference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between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its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b="1" dirty="0"/>
                  <a:t>start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and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b="1" dirty="0"/>
                  <a:t>end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embeddings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(Wang and Chang, 2016)</a:t>
                </a:r>
              </a:p>
              <a:p>
                <a:endParaRPr kumimoji="1" lang="en-US" altLang="zh-CN" sz="2400" dirty="0"/>
              </a:p>
              <a:p>
                <a:endParaRPr kumimoji="1" lang="en-US" altLang="zh-CN" sz="2400" dirty="0"/>
              </a:p>
              <a:p>
                <a:endParaRPr kumimoji="1" lang="en-US" altLang="zh-CN" sz="2400" dirty="0"/>
              </a:p>
              <a:p>
                <a:endParaRPr kumimoji="1" lang="en-US" altLang="zh-CN" sz="2400" dirty="0"/>
              </a:p>
              <a:p>
                <a:r>
                  <a:rPr kumimoji="1" lang="en-US" altLang="zh-CN" sz="2400" dirty="0"/>
                  <a:t>span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represented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by: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 dirty="0" smtClean="0">
                        <a:latin typeface="Cambria Math" panose="02040503050406030204" pitchFamily="18" charset="0"/>
                      </a:rPr>
                      <m:t>𝒗</m:t>
                    </m:r>
                    <m:d>
                      <m:dPr>
                        <m:ctrlPr>
                          <a:rPr kumimoji="1" lang="en-US" altLang="zh-CN" sz="24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kumimoji="1" lang="en-US" altLang="zh-CN" sz="2400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4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d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kumimoji="1"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zh-CN" sz="24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p>
                            <m:d>
                              <m:dPr>
                                <m:begChr m:val="⟨"/>
                                <m:endChr m:val="⟩"/>
                                <m:ctrlPr>
                                  <a:rPr kumimoji="1"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e>
                            </m:d>
                          </m:sup>
                        </m:sSup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kumimoji="1"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kumimoji="1"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zh-CN" sz="24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p>
                            <m:d>
                              <m:dPr>
                                <m:begChr m:val="⟨"/>
                                <m:endChr m:val="⟩"/>
                                <m:ctrlPr>
                                  <a:rPr kumimoji="1"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</m:sup>
                        </m:s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kumimoji="1"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⃖"/>
                                <m:ctrlPr>
                                  <a:rPr kumimoji="1"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zh-CN" sz="24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p>
                            <m:d>
                              <m:dPr>
                                <m:begChr m:val="⟨"/>
                                <m:endChr m:val="⟩"/>
                                <m:ctrlPr>
                                  <a:rPr kumimoji="1"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kumimoji="1" lang="en-US" altLang="zh-CN" sz="24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1"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kumimoji="1"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⃖"/>
                                <m:ctrlPr>
                                  <a:rPr kumimoji="1"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zh-CN" sz="24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p>
                            <m:d>
                              <m:dPr>
                                <m:begChr m:val="⟨"/>
                                <m:endChr m:val="⟩"/>
                                <m:ctrlPr>
                                  <a:rPr kumimoji="1"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kumimoji="1" lang="en-US" altLang="zh-CN" sz="24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1" lang="en-US" altLang="zh-CN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kumimoji="1" lang="en-US" altLang="zh-CN" sz="2400" b="0" dirty="0"/>
              </a:p>
              <a:p>
                <a:r>
                  <a:rPr kumimoji="1" lang="en-US" altLang="zh-CN" sz="2400" dirty="0"/>
                  <a:t>Then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span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vector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passed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through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 classifier (e.g., MLP),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whose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output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size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vocabulary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size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non-terminal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labels</a:t>
                </a:r>
                <a:endParaRPr kumimoji="1"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0A06C1E-D065-D986-CA92-115A3E3A8C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8588"/>
                <a:ext cx="10515600" cy="4351338"/>
              </a:xfrm>
              <a:blipFill>
                <a:blip r:embed="rId2"/>
                <a:stretch>
                  <a:fillRect l="-844" t="-17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9D06F1-F074-8807-AF77-FD2D6170E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75B68D-3616-0568-063E-FA4A1841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AFE0BA-513A-CAA3-DA29-59AED6281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48</a:t>
            </a:fld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F7EFCE3-9B92-F59F-0198-7CF2EE313B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834"/>
          <a:stretch/>
        </p:blipFill>
        <p:spPr>
          <a:xfrm>
            <a:off x="1893537" y="2428152"/>
            <a:ext cx="7772400" cy="123125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1E17129-8213-6E1E-B476-53DB3C108167}"/>
              </a:ext>
            </a:extLst>
          </p:cNvPr>
          <p:cNvSpPr txBox="1"/>
          <p:nvPr/>
        </p:nvSpPr>
        <p:spPr>
          <a:xfrm>
            <a:off x="5235547" y="3534202"/>
            <a:ext cx="12747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span</a:t>
            </a:r>
            <a:r>
              <a:rPr kumimoji="1" lang="zh-CN" alt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[1,</a:t>
            </a:r>
            <a:r>
              <a:rPr kumimoji="1" lang="zh-CN" alt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3]</a:t>
            </a:r>
            <a:endParaRPr kumimoji="1" lang="zh-CN" alt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05EEDED-E698-AD9B-AA65-429188AFE277}"/>
                  </a:ext>
                </a:extLst>
              </p:cNvPr>
              <p:cNvSpPr txBox="1"/>
              <p:nvPr/>
            </p:nvSpPr>
            <p:spPr>
              <a:xfrm>
                <a:off x="2786351" y="5538201"/>
                <a:ext cx="6173100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𝒔</m:t>
                      </m:r>
                      <m:d>
                        <m:dPr>
                          <m:ctrlPr>
                            <a:rPr kumimoji="1" lang="en-US" altLang="zh-CN" sz="24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𝒊</m:t>
                          </m:r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𝒋</m:t>
                          </m:r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𝒍</m:t>
                          </m:r>
                        </m:e>
                      </m:d>
                      <m:r>
                        <a:rPr kumimoji="1" lang="en-US" altLang="zh-CN" sz="2400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4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𝑾</m:t>
                          </m:r>
                        </m:e>
                        <m:sub>
                          <m:r>
                            <a:rPr kumimoji="1" lang="en-US" altLang="zh-CN" sz="24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𝟐</m:t>
                          </m:r>
                        </m:sub>
                      </m:sSub>
                      <m:r>
                        <m:rPr>
                          <m:sty m:val="p"/>
                        </m:rPr>
                        <a:rPr kumimoji="1" lang="en-US" altLang="zh-CN" sz="2400" b="1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ReLU</m:t>
                      </m:r>
                      <m:d>
                        <m:dPr>
                          <m:ctrlPr>
                            <a:rPr kumimoji="1" lang="en-US" altLang="zh-CN" sz="2400" b="1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zh-CN" sz="2400" b="1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LayerNorm</m:t>
                          </m:r>
                          <m:d>
                            <m:dPr>
                              <m:ctrlP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400" b="1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b="1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kumimoji="1" lang="en-US" altLang="zh-CN" sz="2400" b="1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𝒗</m:t>
                              </m:r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(</m:t>
                              </m:r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𝒊</m:t>
                              </m:r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</m:t>
                              </m:r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𝒋</m:t>
                              </m:r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))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05EEDED-E698-AD9B-AA65-429188AFE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351" y="5538201"/>
                <a:ext cx="6173100" cy="509178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47DC5D49-CDC6-488D-2DAE-0A5998D84782}"/>
              </a:ext>
            </a:extLst>
          </p:cNvPr>
          <p:cNvSpPr txBox="1"/>
          <p:nvPr/>
        </p:nvSpPr>
        <p:spPr>
          <a:xfrm>
            <a:off x="8959451" y="6063365"/>
            <a:ext cx="1606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ref:</a:t>
            </a:r>
            <a:r>
              <a:rPr kumimoji="1"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Kitaev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</a:rPr>
              <a:t> et al. (2019)</a:t>
            </a:r>
            <a:endParaRPr kumimoji="1" lang="zh-CN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76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3D08F-3D7E-6321-5FCA-71679D2E1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070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Span</a:t>
            </a:r>
            <a:r>
              <a:rPr kumimoji="1" lang="zh-CN" altLang="en-US" dirty="0"/>
              <a:t> </a:t>
            </a:r>
            <a:r>
              <a:rPr kumimoji="1" lang="en-US" altLang="zh-CN" dirty="0"/>
              <a:t>Scores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4EF3C9C-CFE0-77AD-968E-1A997EFD0A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0956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CN" sz="2400" dirty="0"/>
                  <a:t>Now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have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score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for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each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labeled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span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𝒔</m:t>
                    </m:r>
                    <m:d>
                      <m:dPr>
                        <m:ctrlP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</m:d>
                  </m:oMath>
                </a14:m>
                <a:r>
                  <a:rPr kumimoji="1" lang="en-US" altLang="zh-CN" sz="2400" dirty="0"/>
                  <a:t>.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How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about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score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for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entire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parse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tree?</a:t>
                </a:r>
              </a:p>
              <a:p>
                <a:r>
                  <a:rPr kumimoji="1" lang="en-US" altLang="zh-CN" sz="2400" dirty="0"/>
                  <a:t>Formally,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parse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tree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set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labeled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spans,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where</a:t>
                </a:r>
              </a:p>
              <a:p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CN" sz="2400" dirty="0" err="1"/>
                  <a:t>th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span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starting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position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d>
                          <m:dPr>
                            <m:begChr m:val="⟨"/>
                            <m:endChr m:val="⟩"/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and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ending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at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d>
                          <m:dPr>
                            <m:begChr m:val="⟨"/>
                            <m:endChr m:val="⟩"/>
                            <m:ctrlPr>
                              <a:rPr kumimoji="1"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r>
                  <a:rPr kumimoji="1" lang="en-US" altLang="zh-CN" sz="2400" dirty="0"/>
                  <a:t>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with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label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d>
                          <m:dPr>
                            <m:begChr m:val="⟨"/>
                            <m:endChr m:val="⟩"/>
                            <m:ctrlPr>
                              <a:rPr kumimoji="1"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r>
                  <a:rPr kumimoji="1" lang="en-US" altLang="zh-CN" sz="2400" dirty="0"/>
                  <a:t>:</a:t>
                </a:r>
              </a:p>
              <a:p>
                <a:endParaRPr kumimoji="1" lang="en-US" altLang="zh-CN" sz="2400" dirty="0"/>
              </a:p>
              <a:p>
                <a:endParaRPr kumimoji="1" lang="en-US" altLang="zh-CN" sz="2400" dirty="0"/>
              </a:p>
              <a:p>
                <a:r>
                  <a:rPr kumimoji="1" lang="en-US" altLang="zh-CN" sz="2400" dirty="0"/>
                  <a:t>Compute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score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for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whole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tree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summing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over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scores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its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constituent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spans:</a:t>
                </a:r>
                <a:endParaRPr kumimoji="1"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4EF3C9C-CFE0-77AD-968E-1A997EFD0A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0956"/>
                <a:ext cx="10515600" cy="4351338"/>
              </a:xfrm>
              <a:blipFill>
                <a:blip r:embed="rId2"/>
                <a:stretch>
                  <a:fillRect l="-844" t="-1744" r="-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2BB123-6CF1-0E7A-AF3B-9F795A49A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46B583-ED2A-B2F0-090C-C76EF5E14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D9C42C-9809-065D-BEE0-1EFBA2CB9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49</a:t>
            </a:fld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D7BB41D-15CC-D622-00E5-E7ED6A32969D}"/>
                  </a:ext>
                </a:extLst>
              </p:cNvPr>
              <p:cNvSpPr txBox="1"/>
              <p:nvPr/>
            </p:nvSpPr>
            <p:spPr>
              <a:xfrm>
                <a:off x="3688021" y="3555381"/>
                <a:ext cx="4293227" cy="4224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𝑇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kumimoji="1"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kumimoji="1"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p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kumimoji="1"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kumimoji="1"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p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kumimoji="1"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,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𝑡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=1,…,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D7BB41D-15CC-D622-00E5-E7ED6A329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8021" y="3555381"/>
                <a:ext cx="4293227" cy="422488"/>
              </a:xfrm>
              <a:prstGeom prst="rect">
                <a:avLst/>
              </a:prstGeom>
              <a:blipFill>
                <a:blip r:embed="rId3"/>
                <a:stretch>
                  <a:fillRect l="-118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6C7E211-D937-BDE8-B7DF-E6430202E247}"/>
                  </a:ext>
                </a:extLst>
              </p:cNvPr>
              <p:cNvSpPr txBox="1"/>
              <p:nvPr/>
            </p:nvSpPr>
            <p:spPr>
              <a:xfrm>
                <a:off x="4371252" y="5002421"/>
                <a:ext cx="2926763" cy="939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𝑠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𝑗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𝑙</m:t>
                              </m:r>
                            </m:e>
                          </m:d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∈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𝑇</m:t>
                          </m:r>
                        </m:sub>
                        <m:sup/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𝑠</m:t>
                          </m:r>
                          <m:d>
                            <m:d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𝑗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,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𝑙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6C7E211-D937-BDE8-B7DF-E6430202E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252" y="5002421"/>
                <a:ext cx="2926763" cy="939873"/>
              </a:xfrm>
              <a:prstGeom prst="rect">
                <a:avLst/>
              </a:prstGeom>
              <a:blipFill>
                <a:blip r:embed="rId4"/>
                <a:stretch>
                  <a:fillRect l="-866" t="-142667" b="-18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896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D03263-349A-03A0-B673-D967306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Span</a:t>
            </a:r>
            <a:r>
              <a:rPr kumimoji="1" lang="zh-CN" altLang="en-US" dirty="0"/>
              <a:t> </a:t>
            </a:r>
            <a:r>
              <a:rPr kumimoji="1" lang="en-US" altLang="zh-CN" dirty="0"/>
              <a:t>Scores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977279-BCA6-76C2-48EC-81715E065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5692"/>
            <a:ext cx="10515600" cy="4351338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We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can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choose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final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parse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tree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one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with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b="1" dirty="0">
                <a:solidFill>
                  <a:srgbClr val="0070C0"/>
                </a:solidFill>
              </a:rPr>
              <a:t>maximum</a:t>
            </a:r>
            <a:r>
              <a:rPr kumimoji="1" lang="zh-CN" altLang="en-US" sz="2400" b="1" dirty="0">
                <a:solidFill>
                  <a:srgbClr val="0070C0"/>
                </a:solidFill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</a:rPr>
              <a:t>score</a:t>
            </a:r>
            <a:r>
              <a:rPr kumimoji="1" lang="en-US" altLang="zh-CN" sz="2400" dirty="0"/>
              <a:t>:</a:t>
            </a:r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en-US" altLang="zh-CN" sz="2400" dirty="0"/>
              <a:t>Simplest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method</a:t>
            </a:r>
            <a:r>
              <a:rPr kumimoji="1" lang="zh-CN" altLang="en-US" sz="2400" dirty="0"/>
              <a:t> ⇒ </a:t>
            </a:r>
            <a:r>
              <a:rPr kumimoji="1" lang="en-US" altLang="zh-CN" sz="2400" b="1" dirty="0"/>
              <a:t>greedy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decoding</a:t>
            </a:r>
            <a:r>
              <a:rPr kumimoji="1" lang="en-US" altLang="zh-CN" sz="2400" dirty="0"/>
              <a:t>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choose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highest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scoring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label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for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each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span</a:t>
            </a:r>
          </a:p>
          <a:p>
            <a:r>
              <a:rPr kumimoji="1" lang="en-US" altLang="zh-CN" sz="2400" dirty="0"/>
              <a:t>Drawback: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not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guaranteed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produce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tree,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since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best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scored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label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might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not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fit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into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complete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tree</a:t>
            </a:r>
          </a:p>
          <a:p>
            <a:r>
              <a:rPr kumimoji="1" lang="en-US" altLang="zh-CN" sz="2400" dirty="0"/>
              <a:t>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practice,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95%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of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predicted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trees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from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greedy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decoding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are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valid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(Gaddy et al.,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2018)</a:t>
            </a:r>
            <a:endParaRPr kumimoji="1" lang="zh-CN" altLang="en-US" sz="2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B458C2-36B4-CA72-B126-82D51932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8F3738-7456-4570-A268-12D6BFB09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2CB393-7392-1269-FF36-077E31992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50</a:t>
            </a:fld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5C2873C-2AFC-234D-EA5A-019EEB43D43C}"/>
                  </a:ext>
                </a:extLst>
              </p:cNvPr>
              <p:cNvSpPr txBox="1"/>
              <p:nvPr/>
            </p:nvSpPr>
            <p:spPr>
              <a:xfrm>
                <a:off x="4537684" y="2244471"/>
                <a:ext cx="2431948" cy="4996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</m:acc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b="0" i="0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𝑇</m:t>
                                  </m:r>
                                </m:lim>
                              </m:limLow>
                            </m:fName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kumimoji="1"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5C2873C-2AFC-234D-EA5A-019EEB43D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684" y="2244471"/>
                <a:ext cx="2431948" cy="499624"/>
              </a:xfrm>
              <a:prstGeom prst="rect">
                <a:avLst/>
              </a:prstGeom>
              <a:blipFill>
                <a:blip r:embed="rId2"/>
                <a:stretch>
                  <a:fillRect l="-521" t="-17073"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605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B6103-357F-C9E7-01B6-076AD614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Span</a:t>
            </a:r>
            <a:r>
              <a:rPr kumimoji="1" lang="zh-CN" altLang="en-US" dirty="0"/>
              <a:t> </a:t>
            </a:r>
            <a:r>
              <a:rPr kumimoji="1" lang="en-US" altLang="zh-CN" dirty="0"/>
              <a:t>Scores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05A6B2-F00A-987E-992E-EC4679B917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2088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CN" sz="2400" dirty="0"/>
                  <a:t>It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more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common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use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variant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CKY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algorithm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to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find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parse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tree,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defined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follow:</a:t>
                </a:r>
              </a:p>
              <a:p>
                <a:r>
                  <a:rPr kumimoji="1" lang="en-US" altLang="zh-CN" sz="2400" dirty="0"/>
                  <a:t>Let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kumimoji="1" lang="en-US" altLang="zh-CN" sz="2400" b="1" i="0" smtClean="0">
                            <a:latin typeface="Cambria Math" panose="02040503050406030204" pitchFamily="18" charset="0"/>
                          </a:rPr>
                          <m:t>𝐛𝐞𝐬𝐭</m:t>
                        </m:r>
                      </m:sub>
                    </m:sSub>
                    <m:d>
                      <m:dPr>
                        <m:ctrlP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4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d>
                  </m:oMath>
                </a14:m>
                <a:r>
                  <a:rPr kumimoji="1" lang="zh-CN" altLang="en-US" sz="2400" b="1" dirty="0"/>
                  <a:t> </a:t>
                </a:r>
                <a:r>
                  <a:rPr kumimoji="1" lang="en-US" altLang="zh-CN" sz="2400" dirty="0"/>
                  <a:t>be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score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best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subtree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spanning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kumimoji="1" lang="en-US" altLang="zh-CN" sz="2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4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kumimoji="1" lang="en-US" altLang="zh-CN" sz="2400" dirty="0"/>
              </a:p>
              <a:p>
                <a:r>
                  <a:rPr kumimoji="1" lang="en-US" altLang="zh-CN" sz="2400" dirty="0"/>
                  <a:t>If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zh-CN" sz="240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kumimoji="1" lang="en-US" altLang="zh-CN" sz="2400" dirty="0"/>
                  <a:t>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i.e.,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spans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length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one,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simply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choose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best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label</a:t>
                </a:r>
              </a:p>
              <a:p>
                <a:endParaRPr kumimoji="1" lang="en-US" altLang="zh-CN" sz="2400" dirty="0"/>
              </a:p>
              <a:p>
                <a:endParaRPr kumimoji="1" lang="en-US" altLang="zh-CN" sz="2400" dirty="0"/>
              </a:p>
              <a:p>
                <a:r>
                  <a:rPr kumimoji="1" lang="en-US" altLang="zh-CN" sz="2400" dirty="0"/>
                  <a:t>Other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wise,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use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recursion:</a:t>
                </a:r>
                <a:endParaRPr kumimoji="1"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805A6B2-F00A-987E-992E-EC4679B917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2088"/>
                <a:ext cx="10515600" cy="4351338"/>
              </a:xfrm>
              <a:blipFill>
                <a:blip r:embed="rId2"/>
                <a:stretch>
                  <a:fillRect l="-844" t="-17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09099F-D2D7-381A-DECF-810212762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4DB2A5-142F-5B34-E542-2AE76A338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B155A8-77D1-68BB-8164-DFA30E5A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51</a:t>
            </a:fld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17AA2E3-42F7-6506-059D-E947972B2480}"/>
                  </a:ext>
                </a:extLst>
              </p:cNvPr>
              <p:cNvSpPr txBox="1"/>
              <p:nvPr/>
            </p:nvSpPr>
            <p:spPr>
              <a:xfrm>
                <a:off x="3581400" y="3278725"/>
                <a:ext cx="4080409" cy="575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1">
                              <a:latin typeface="Cambria Math" panose="02040503050406030204" pitchFamily="18" charset="0"/>
                            </a:rPr>
                            <m:t>best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17AA2E3-42F7-6506-059D-E947972B2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3278725"/>
                <a:ext cx="4080409" cy="575286"/>
              </a:xfrm>
              <a:prstGeom prst="rect">
                <a:avLst/>
              </a:prstGeom>
              <a:blipFill>
                <a:blip r:embed="rId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C12E504-E47B-D509-DDB2-E8D57A5E7D7A}"/>
                  </a:ext>
                </a:extLst>
              </p:cNvPr>
              <p:cNvSpPr txBox="1"/>
              <p:nvPr/>
            </p:nvSpPr>
            <p:spPr>
              <a:xfrm>
                <a:off x="2398405" y="4577614"/>
                <a:ext cx="7522221" cy="60196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1">
                              <a:latin typeface="Cambria Math" panose="02040503050406030204" pitchFamily="18" charset="0"/>
                            </a:rPr>
                            <m:t>best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i="1">
                                      <a:latin typeface="Cambria Math" panose="02040503050406030204" pitchFamily="18" charset="0"/>
                                    </a:rPr>
                                    <m:t>best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zh-CN" sz="2400" i="1">
                                      <a:latin typeface="Cambria Math" panose="02040503050406030204" pitchFamily="18" charset="0"/>
                                    </a:rPr>
                                    <m:t>best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C12E504-E47B-D509-DDB2-E8D57A5E7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405" y="4577614"/>
                <a:ext cx="7522221" cy="601960"/>
              </a:xfrm>
              <a:prstGeom prst="rect">
                <a:avLst/>
              </a:prstGeom>
              <a:blipFill>
                <a:blip r:embed="rId4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56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EE203-9B0D-CB23-3B00-7F87DD3F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4000" dirty="0"/>
              <a:t>Actually, a much earlier neural parsing solution</a:t>
            </a:r>
            <a:endParaRPr kumimoji="1"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3BB394-3F22-A02E-65A9-AB8E48515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Maybe the very first one: </a:t>
            </a:r>
            <a:r>
              <a:rPr kumimoji="1" lang="en-US" altLang="zh-CN" sz="2400" dirty="0">
                <a:solidFill>
                  <a:srgbClr val="0070C0"/>
                </a:solidFill>
              </a:rPr>
              <a:t>Grammar as a Foreign Language</a:t>
            </a:r>
            <a:r>
              <a:rPr kumimoji="1" lang="en-US" altLang="zh-CN" sz="2400" dirty="0"/>
              <a:t>. 2015. NIPS</a:t>
            </a:r>
          </a:p>
          <a:p>
            <a:r>
              <a:rPr kumimoji="1" lang="en-US" altLang="zh-CN" sz="2400" dirty="0"/>
              <a:t>Author list: Oriol </a:t>
            </a:r>
            <a:r>
              <a:rPr kumimoji="1" lang="en-US" altLang="zh-CN" sz="2400" dirty="0" err="1"/>
              <a:t>Vinyals</a:t>
            </a:r>
            <a:r>
              <a:rPr kumimoji="1" lang="en-US" altLang="zh-CN" sz="2400" dirty="0"/>
              <a:t>, Lukasz Kaiser, …, </a:t>
            </a:r>
            <a:r>
              <a:rPr kumimoji="1" lang="en-US" altLang="zh-CN" sz="2400" b="1" dirty="0"/>
              <a:t>Ilya </a:t>
            </a:r>
            <a:r>
              <a:rPr kumimoji="1" lang="en-US" altLang="zh-CN" sz="2400" b="1" dirty="0" err="1"/>
              <a:t>Sutskever</a:t>
            </a:r>
            <a:r>
              <a:rPr kumimoji="1" lang="en-US" altLang="zh-CN" sz="2400" dirty="0"/>
              <a:t>, </a:t>
            </a:r>
            <a:r>
              <a:rPr kumimoji="1" lang="en-US" altLang="zh-CN" sz="2400" b="1" dirty="0"/>
              <a:t>Geoffrey Hinton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67D682-FB9F-B58F-F456-FAA1AB487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0CFA5B-8EA9-58D5-7327-43940C98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AF7302-73B4-973A-DA27-9601C7603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52</a:t>
            </a:fld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79A018C-D7C7-B70D-7DD8-8C696D992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13" y="3019771"/>
            <a:ext cx="5560907" cy="212508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6E8DD3D0-F54A-54EE-2848-34CD7E08EA19}"/>
              </a:ext>
            </a:extLst>
          </p:cNvPr>
          <p:cNvGrpSpPr/>
          <p:nvPr/>
        </p:nvGrpSpPr>
        <p:grpSpPr>
          <a:xfrm>
            <a:off x="689943" y="5242769"/>
            <a:ext cx="5765542" cy="1015663"/>
            <a:chOff x="689943" y="5242769"/>
            <a:chExt cx="5765542" cy="1015663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246F113-C743-6927-5B39-A9ADCAB45E6F}"/>
                </a:ext>
              </a:extLst>
            </p:cNvPr>
            <p:cNvSpPr txBox="1"/>
            <p:nvPr/>
          </p:nvSpPr>
          <p:spPr>
            <a:xfrm>
              <a:off x="689943" y="5242769"/>
              <a:ext cx="374583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LSTM + Attention</a:t>
              </a:r>
            </a:p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Input: the </a:t>
              </a:r>
              <a:r>
                <a:rPr kumimoji="1" lang="en-US" altLang="zh-CN" sz="2000" i="1" dirty="0">
                  <a:latin typeface="Calibri" panose="020F0502020204030204" pitchFamily="34" charset="0"/>
                  <a:cs typeface="Calibri" panose="020F0502020204030204" pitchFamily="34" charset="0"/>
                </a:rPr>
                <a:t>reversed</a:t>
              </a:r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 syntactic tree</a:t>
              </a:r>
            </a:p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Output: the correct tree</a:t>
              </a:r>
              <a:endParaRPr kumimoji="1" lang="zh-CN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3040DDB-773C-D01D-BD3E-D333867BE306}"/>
                </a:ext>
              </a:extLst>
            </p:cNvPr>
            <p:cNvSpPr txBox="1"/>
            <p:nvPr/>
          </p:nvSpPr>
          <p:spPr>
            <a:xfrm>
              <a:off x="4287519" y="5564081"/>
              <a:ext cx="21679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160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(where the title is from)</a:t>
              </a:r>
              <a:endParaRPr kumimoji="1" lang="zh-CN" altLang="en-US" sz="16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7531303A-738C-81D7-A7AD-27CD4A724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107" y="3299610"/>
            <a:ext cx="5560907" cy="156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98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9C2DFE-7D65-2118-1846-AD17D8BA5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Evaluating Parsers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8F73419-8DDF-B455-7BDC-8CF9C2DC99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2088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CN" sz="2400" b="1" dirty="0"/>
                  <a:t>PARSEVAL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metrics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(Black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al.,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1991):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measures how much the </a:t>
                </a:r>
                <a:r>
                  <a:rPr kumimoji="1" lang="en-US" altLang="zh-CN" sz="2400" b="1" dirty="0"/>
                  <a:t>constituents</a:t>
                </a:r>
                <a:r>
                  <a:rPr kumimoji="1" lang="en-US" altLang="zh-CN" sz="2400" dirty="0"/>
                  <a:t> in the hypothesis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(predicted) parse tree look like the those in a hand-labeled, </a:t>
                </a:r>
                <a:r>
                  <a:rPr kumimoji="1" lang="en-US" altLang="zh-CN" sz="2400" b="1" dirty="0"/>
                  <a:t>reference</a:t>
                </a:r>
                <a:r>
                  <a:rPr kumimoji="1" lang="en-US" altLang="zh-CN" sz="2400" dirty="0"/>
                  <a:t> parse</a:t>
                </a:r>
              </a:p>
              <a:p>
                <a:r>
                  <a:rPr kumimoji="1" lang="en-US" altLang="zh-CN" sz="2400" dirty="0"/>
                  <a:t>Need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“</a:t>
                </a:r>
                <a:r>
                  <a:rPr kumimoji="1" lang="en-US" altLang="zh-CN" sz="2400" b="1" dirty="0">
                    <a:solidFill>
                      <a:srgbClr val="00B050"/>
                    </a:solidFill>
                  </a:rPr>
                  <a:t>golden</a:t>
                </a:r>
                <a:r>
                  <a:rPr kumimoji="1" lang="zh-CN" altLang="en-US" sz="2400" b="1" dirty="0">
                    <a:solidFill>
                      <a:srgbClr val="00B050"/>
                    </a:solidFill>
                  </a:rPr>
                  <a:t> </a:t>
                </a:r>
                <a:r>
                  <a:rPr kumimoji="1" lang="en-US" altLang="zh-CN" sz="2400" b="1" dirty="0">
                    <a:solidFill>
                      <a:srgbClr val="00B050"/>
                    </a:solidFill>
                  </a:rPr>
                  <a:t>standard</a:t>
                </a:r>
                <a:r>
                  <a:rPr kumimoji="1" lang="en-US" altLang="zh-CN" sz="2400" dirty="0"/>
                  <a:t>”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(human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labeled)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tree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for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each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sentence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test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set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(usually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drawn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from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Penn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Treebank)</a:t>
                </a:r>
              </a:p>
              <a:p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constituent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hypothesis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parse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labeled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b="1" i="1" dirty="0"/>
                  <a:t>correct</a:t>
                </a:r>
                <a:r>
                  <a:rPr kumimoji="1" lang="zh-CN" altLang="en-US" sz="2400" dirty="0"/>
                  <a:t> </a:t>
                </a:r>
                <a:endParaRPr kumimoji="1" lang="en-US" altLang="zh-CN" sz="2400" dirty="0"/>
              </a:p>
              <a:p>
                <a:r>
                  <a:rPr kumimoji="1" lang="en-US" altLang="zh-CN" sz="2400" dirty="0"/>
                  <a:t>if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there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is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constituent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reference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parse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with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the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same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b="1" dirty="0">
                    <a:solidFill>
                      <a:srgbClr val="0070C0"/>
                    </a:solidFill>
                  </a:rPr>
                  <a:t>starting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point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zh-CN" sz="2400" dirty="0"/>
                  <a:t>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b="1" dirty="0">
                    <a:solidFill>
                      <a:schemeClr val="accent2"/>
                    </a:solidFill>
                  </a:rPr>
                  <a:t>ending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point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kumimoji="1" lang="en-US" altLang="zh-CN" sz="2400" dirty="0"/>
                  <a:t>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and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b="1" dirty="0">
                    <a:solidFill>
                      <a:srgbClr val="C00000"/>
                    </a:solidFill>
                  </a:rPr>
                  <a:t>non-terminal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label.</a:t>
                </a:r>
              </a:p>
              <a:p>
                <a:r>
                  <a:rPr kumimoji="1" lang="en-US" altLang="zh-CN" sz="2400" dirty="0"/>
                  <a:t>Then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can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define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precision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and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recall:</a:t>
                </a:r>
                <a:endParaRPr kumimoji="1"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8F73419-8DDF-B455-7BDC-8CF9C2DC99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2088"/>
                <a:ext cx="10515600" cy="4351338"/>
              </a:xfrm>
              <a:blipFill>
                <a:blip r:embed="rId2"/>
                <a:stretch>
                  <a:fillRect l="-844" t="-17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429BF1-4FCE-F7FF-D42B-BA0F897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BA80E1-9AD0-E1AC-39E8-547CE29F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53</a:t>
            </a:fld>
            <a:endParaRPr kumimoji="1" lang="zh-CN" altLang="en-US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3B143D55-B558-5706-6AD5-148D97A14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189C55C-8EE8-9A79-03CA-3CF5CEA9684D}"/>
                  </a:ext>
                </a:extLst>
              </p:cNvPr>
              <p:cNvSpPr txBox="1"/>
              <p:nvPr/>
            </p:nvSpPr>
            <p:spPr>
              <a:xfrm>
                <a:off x="1069827" y="5395912"/>
                <a:ext cx="4805995" cy="6370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1" i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𝐩𝐫𝐞𝐜𝐢𝐬𝐢𝐨𝐧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#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of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correct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constituents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in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#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of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total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consitituents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in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189C55C-8EE8-9A79-03CA-3CF5CEA96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27" y="5395912"/>
                <a:ext cx="4805995" cy="637097"/>
              </a:xfrm>
              <a:prstGeom prst="rect">
                <a:avLst/>
              </a:prstGeom>
              <a:blipFill>
                <a:blip r:embed="rId3"/>
                <a:stretch>
                  <a:fillRect l="-1319" t="-7692" b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A9BD271-1D7C-C12C-116C-9DB6950A5532}"/>
                  </a:ext>
                </a:extLst>
              </p:cNvPr>
              <p:cNvSpPr txBox="1"/>
              <p:nvPr/>
            </p:nvSpPr>
            <p:spPr>
              <a:xfrm>
                <a:off x="6258471" y="5395912"/>
                <a:ext cx="4357155" cy="6354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1" i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𝐫𝐞𝐜𝐚𝐥𝐥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#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of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correct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constituents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in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#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of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total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consitituents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in</m:t>
                          </m:r>
                          <m:r>
                            <a:rPr kumimoji="1" lang="zh-CN" alt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A9BD271-1D7C-C12C-116C-9DB6950A5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471" y="5395912"/>
                <a:ext cx="4357155" cy="635430"/>
              </a:xfrm>
              <a:prstGeom prst="rect">
                <a:avLst/>
              </a:prstGeom>
              <a:blipFill>
                <a:blip r:embed="rId4"/>
                <a:stretch>
                  <a:fillRect l="-872" t="-7843" r="-291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9327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51763-8D48-2870-87F3-A4B0FCC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200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LLMs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do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Constituency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5EFFF9-E315-E17E-C4C7-9825F7798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81EE46-BC7A-E024-A8C1-06BF3AF2B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63CE80-C6D6-588C-C8CB-FCF97343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54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310B95D-CEBB-7D2F-36FF-BE34F4FC2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05" y="1618576"/>
            <a:ext cx="9471622" cy="111833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B70AEB1-B708-D797-0181-4A69BE281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67" y="2609945"/>
            <a:ext cx="9625298" cy="349247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B1A2704-422B-8E3A-6F55-E20289C0D6F6}"/>
              </a:ext>
            </a:extLst>
          </p:cNvPr>
          <p:cNvSpPr txBox="1"/>
          <p:nvPr/>
        </p:nvSpPr>
        <p:spPr>
          <a:xfrm>
            <a:off x="855567" y="1172398"/>
            <a:ext cx="3458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DeepSeek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v3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(2025.3)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7985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A101A-A766-9D7E-5D87-38CECC876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394"/>
            <a:ext cx="10515600" cy="1022241"/>
          </a:xfrm>
        </p:spPr>
        <p:txBody>
          <a:bodyPr/>
          <a:lstStyle/>
          <a:p>
            <a:r>
              <a:rPr kumimoji="1" lang="en-US" altLang="zh-CN" dirty="0"/>
              <a:t>LLMs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do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Constituency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9A0E17-5789-7697-CE1A-853CBA010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E28ABF-AA0F-FB6D-50D3-3E688057D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C3770D-7BC5-B05F-3DAD-8745D3277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55</a:t>
            </a:fld>
            <a:endParaRPr kumimoji="1"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66EBD3A-1A56-FB35-FAAA-B38CD81C6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95" y="2430250"/>
            <a:ext cx="9777248" cy="30561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3E7631E-343F-392C-DF39-57B61A3185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595"/>
          <a:stretch/>
        </p:blipFill>
        <p:spPr>
          <a:xfrm>
            <a:off x="5236143" y="1690224"/>
            <a:ext cx="5141800" cy="86818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B557C43-930A-3C2A-FD46-8DD5CA5772FC}"/>
              </a:ext>
            </a:extLst>
          </p:cNvPr>
          <p:cNvSpPr txBox="1"/>
          <p:nvPr/>
        </p:nvSpPr>
        <p:spPr>
          <a:xfrm>
            <a:off x="855567" y="1371267"/>
            <a:ext cx="3458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DeepSeek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v3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(2025.3)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2731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7CCE4-C809-AF94-9FAB-F080021A6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4167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Universals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human</a:t>
            </a:r>
            <a:r>
              <a:rPr kumimoji="1" lang="zh-CN" altLang="en-US" dirty="0"/>
              <a:t> </a:t>
            </a:r>
            <a:r>
              <a:rPr kumimoji="1" lang="en-US" altLang="zh-CN" dirty="0"/>
              <a:t>languages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6EC758-C94C-F60F-D5DD-89FC7967E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A7A5CC-6C1C-8002-7BFE-5F8602F13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9E8B4E-8F4F-E8BA-97E5-27E9AD32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56</a:t>
            </a:fld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A47C064-EAFD-D5BD-D738-581811618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55599"/>
            <a:ext cx="4410012" cy="394468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40073EB-895C-98DE-39B2-389C2B390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052" y="2069432"/>
            <a:ext cx="4128695" cy="3830854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1DEA4A3C-2FA2-6CD6-3D89-8AA3AC99D7F0}"/>
              </a:ext>
            </a:extLst>
          </p:cNvPr>
          <p:cNvSpPr/>
          <p:nvPr/>
        </p:nvSpPr>
        <p:spPr>
          <a:xfrm>
            <a:off x="1888595" y="2146752"/>
            <a:ext cx="413886" cy="413886"/>
          </a:xfrm>
          <a:prstGeom prst="ellipse">
            <a:avLst/>
          </a:prstGeom>
          <a:solidFill>
            <a:schemeClr val="accent4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4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DCA85F5-7709-ED3D-5FAC-8FF46CF3EF26}"/>
              </a:ext>
            </a:extLst>
          </p:cNvPr>
          <p:cNvSpPr/>
          <p:nvPr/>
        </p:nvSpPr>
        <p:spPr>
          <a:xfrm>
            <a:off x="7185751" y="2238862"/>
            <a:ext cx="413886" cy="413886"/>
          </a:xfrm>
          <a:prstGeom prst="ellipse">
            <a:avLst/>
          </a:prstGeom>
          <a:solidFill>
            <a:schemeClr val="accent4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4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96B7DE1-D138-629D-BF25-3961D09F4114}"/>
              </a:ext>
            </a:extLst>
          </p:cNvPr>
          <p:cNvSpPr/>
          <p:nvPr/>
        </p:nvSpPr>
        <p:spPr>
          <a:xfrm>
            <a:off x="8071679" y="2995018"/>
            <a:ext cx="1574737" cy="413886"/>
          </a:xfrm>
          <a:prstGeom prst="ellipse">
            <a:avLst/>
          </a:prstGeom>
          <a:solidFill>
            <a:schemeClr val="accent4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4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C0BB04B-8F73-17F2-AA6D-1C4DFB8ED607}"/>
              </a:ext>
            </a:extLst>
          </p:cNvPr>
          <p:cNvSpPr/>
          <p:nvPr/>
        </p:nvSpPr>
        <p:spPr>
          <a:xfrm>
            <a:off x="2816020" y="2896210"/>
            <a:ext cx="845767" cy="413886"/>
          </a:xfrm>
          <a:prstGeom prst="ellipse">
            <a:avLst/>
          </a:prstGeom>
          <a:solidFill>
            <a:schemeClr val="accent4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4"/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074A1B4-F483-9423-FD08-1EF56CF57E56}"/>
              </a:ext>
            </a:extLst>
          </p:cNvPr>
          <p:cNvSpPr/>
          <p:nvPr/>
        </p:nvSpPr>
        <p:spPr>
          <a:xfrm>
            <a:off x="3414652" y="3680807"/>
            <a:ext cx="413886" cy="413886"/>
          </a:xfrm>
          <a:prstGeom prst="ellipse">
            <a:avLst/>
          </a:prstGeom>
          <a:solidFill>
            <a:schemeClr val="accent4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4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E671860D-980C-5C91-08F4-8C94C8B4A43B}"/>
              </a:ext>
            </a:extLst>
          </p:cNvPr>
          <p:cNvSpPr/>
          <p:nvPr/>
        </p:nvSpPr>
        <p:spPr>
          <a:xfrm>
            <a:off x="8652103" y="3720999"/>
            <a:ext cx="753153" cy="413886"/>
          </a:xfrm>
          <a:prstGeom prst="ellipse">
            <a:avLst/>
          </a:prstGeom>
          <a:solidFill>
            <a:schemeClr val="accent4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4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4427B14-C1A7-DA32-ABC9-D3C8383C0E0B}"/>
              </a:ext>
            </a:extLst>
          </p:cNvPr>
          <p:cNvSpPr/>
          <p:nvPr/>
        </p:nvSpPr>
        <p:spPr>
          <a:xfrm>
            <a:off x="3414652" y="4172030"/>
            <a:ext cx="413886" cy="413886"/>
          </a:xfrm>
          <a:prstGeom prst="ellipse">
            <a:avLst/>
          </a:prstGeom>
          <a:solidFill>
            <a:schemeClr val="accent4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4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85F9EF1-5F8B-1240-EC30-93C8AE088FE0}"/>
              </a:ext>
            </a:extLst>
          </p:cNvPr>
          <p:cNvSpPr/>
          <p:nvPr/>
        </p:nvSpPr>
        <p:spPr>
          <a:xfrm>
            <a:off x="8610600" y="4176890"/>
            <a:ext cx="413886" cy="413886"/>
          </a:xfrm>
          <a:prstGeom prst="ellipse">
            <a:avLst/>
          </a:prstGeom>
          <a:solidFill>
            <a:schemeClr val="accent4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4"/>
              </a:solidFill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6919E0B-7A05-A3C8-4CE0-B2D63F5DCD6C}"/>
              </a:ext>
            </a:extLst>
          </p:cNvPr>
          <p:cNvSpPr/>
          <p:nvPr/>
        </p:nvSpPr>
        <p:spPr>
          <a:xfrm>
            <a:off x="3929743" y="4932191"/>
            <a:ext cx="413886" cy="413886"/>
          </a:xfrm>
          <a:prstGeom prst="ellipse">
            <a:avLst/>
          </a:prstGeom>
          <a:solidFill>
            <a:schemeClr val="accent4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4"/>
              </a:solidFill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9316720-3C11-BF08-8804-23ED8CE6B60F}"/>
              </a:ext>
            </a:extLst>
          </p:cNvPr>
          <p:cNvSpPr/>
          <p:nvPr/>
        </p:nvSpPr>
        <p:spPr>
          <a:xfrm>
            <a:off x="3952581" y="5416238"/>
            <a:ext cx="413886" cy="413886"/>
          </a:xfrm>
          <a:prstGeom prst="ellipse">
            <a:avLst/>
          </a:prstGeom>
          <a:solidFill>
            <a:schemeClr val="accent4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4"/>
              </a:solidFill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74394725-0353-0E37-86B2-BDCFE7CD87FA}"/>
              </a:ext>
            </a:extLst>
          </p:cNvPr>
          <p:cNvSpPr/>
          <p:nvPr/>
        </p:nvSpPr>
        <p:spPr>
          <a:xfrm>
            <a:off x="9058823" y="4944876"/>
            <a:ext cx="753153" cy="413886"/>
          </a:xfrm>
          <a:prstGeom prst="ellipse">
            <a:avLst/>
          </a:prstGeom>
          <a:solidFill>
            <a:schemeClr val="accent4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4"/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BC4FC8A-8E01-B7C7-3E70-88CF42F27C51}"/>
              </a:ext>
            </a:extLst>
          </p:cNvPr>
          <p:cNvSpPr/>
          <p:nvPr/>
        </p:nvSpPr>
        <p:spPr>
          <a:xfrm>
            <a:off x="9058823" y="5435505"/>
            <a:ext cx="753153" cy="413886"/>
          </a:xfrm>
          <a:prstGeom prst="ellipse">
            <a:avLst/>
          </a:prstGeom>
          <a:solidFill>
            <a:schemeClr val="accent4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4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9C91E44-A9CE-25AA-DE3A-21A6026175B1}"/>
              </a:ext>
            </a:extLst>
          </p:cNvPr>
          <p:cNvSpPr txBox="1"/>
          <p:nvPr/>
        </p:nvSpPr>
        <p:spPr>
          <a:xfrm>
            <a:off x="4511710" y="1318147"/>
            <a:ext cx="2832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kumimoji="1" lang="zh-CN" altLang="en-US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1" lang="zh-CN" altLang="en-US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co-incidence!</a:t>
            </a:r>
            <a:endParaRPr kumimoji="1" lang="zh-CN" alt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4262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689628-FAE1-FAB7-63CA-C00219677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963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Constituency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LLMs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6AABB0-C012-49FF-7995-15A4C7CF8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526"/>
            <a:ext cx="10515600" cy="4351338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Induce constituency parse trees relying only on the internal knowledge of pre-trained language models.</a:t>
            </a:r>
          </a:p>
          <a:p>
            <a:r>
              <a:rPr kumimoji="1" lang="en-US" altLang="zh-CN" sz="2400" dirty="0"/>
              <a:t>Competitive with common unsupervised parsers;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more effective than typical supervised parsers in few-shot settings.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(Kim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2022)</a:t>
            </a:r>
            <a:endParaRPr kumimoji="1" lang="zh-CN" altLang="en-US" sz="2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899446-1797-AFEE-3084-5D1BFB15A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7C245A-813C-AAA6-EDC0-9E715666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D355E4-414A-4DAE-CFED-EB931A7DE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57</a:t>
            </a:fld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281E5CB-B13E-2813-A54F-99442CF0D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79" y="3292119"/>
            <a:ext cx="7772400" cy="282848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1F2D2BE-46D3-8470-D329-9C3D79969813}"/>
              </a:ext>
            </a:extLst>
          </p:cNvPr>
          <p:cNvSpPr txBox="1"/>
          <p:nvPr/>
        </p:nvSpPr>
        <p:spPr>
          <a:xfrm>
            <a:off x="9051758" y="5351166"/>
            <a:ext cx="24351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Figure</a:t>
            </a:r>
            <a:r>
              <a:rPr kumimoji="1" lang="zh-CN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kumimoji="1" lang="zh-CN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100" b="0" dirty="0" err="1">
                <a:effectLst/>
                <a:latin typeface="NimbusRomNo9L"/>
              </a:rPr>
              <a:t>Taeuk</a:t>
            </a:r>
            <a:r>
              <a:rPr lang="en-US" altLang="zh-CN" sz="1100" b="0" dirty="0">
                <a:effectLst/>
                <a:latin typeface="NimbusRomNo9L"/>
              </a:rPr>
              <a:t> Kim </a:t>
            </a:r>
            <a:r>
              <a:rPr kumimoji="1"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(2022)</a:t>
            </a:r>
            <a:r>
              <a:rPr kumimoji="1" lang="zh-CN" alt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Revisiting the Practical Effectiveness of Constituency Parse Extraction from Pre-trained Language Models</a:t>
            </a:r>
            <a:endParaRPr kumimoji="1" lang="zh-CN" altLang="en-US" sz="11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5038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2CB93-F0E1-7DE2-0B78-5588CFBD9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582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References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076A71-A768-8112-7FC2-0866A3002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67"/>
            <a:ext cx="10515600" cy="4930986"/>
          </a:xfrm>
        </p:spPr>
        <p:txBody>
          <a:bodyPr>
            <a:normAutofit fontScale="92500" lnSpcReduction="20000"/>
          </a:bodyPr>
          <a:lstStyle/>
          <a:p>
            <a:r>
              <a:rPr kumimoji="1" lang="en-US" altLang="zh-CN" sz="1800" dirty="0"/>
              <a:t>Chomsky, N. 1956. Three models for the description of language. IRE Transactions on Information Theory, 2(3):113–124.</a:t>
            </a:r>
          </a:p>
          <a:p>
            <a:r>
              <a:rPr lang="en-US" altLang="zh-CN" sz="1800" dirty="0">
                <a:effectLst/>
                <a:latin typeface="NimbusRomNo9L"/>
              </a:rPr>
              <a:t>Backus, J. W. 1959. The syntax and semantics of the proposed international algebraic language of the Zurich ACM-GAMM Conference. </a:t>
            </a:r>
            <a:r>
              <a:rPr lang="en-US" altLang="zh-CN" sz="1800" i="1" dirty="0">
                <a:effectLst/>
                <a:latin typeface="NimbusRomNo9L"/>
              </a:rPr>
              <a:t>Information Processing: Pro- </a:t>
            </a:r>
            <a:r>
              <a:rPr lang="en-US" altLang="zh-CN" sz="1800" i="1" dirty="0" err="1">
                <a:effectLst/>
                <a:latin typeface="NimbusRomNo9L"/>
              </a:rPr>
              <a:t>ceedings</a:t>
            </a:r>
            <a:r>
              <a:rPr lang="en-US" altLang="zh-CN" sz="1800" i="1" dirty="0">
                <a:effectLst/>
                <a:latin typeface="NimbusRomNo9L"/>
              </a:rPr>
              <a:t> of the International Conference on Information Processing, Paris</a:t>
            </a:r>
            <a:r>
              <a:rPr lang="en-US" altLang="zh-CN" sz="1800" dirty="0">
                <a:effectLst/>
                <a:latin typeface="NimbusRomNo9L"/>
              </a:rPr>
              <a:t>. UNESCO. </a:t>
            </a:r>
            <a:endParaRPr kumimoji="1" lang="en-US" altLang="zh-CN" sz="1800" dirty="0"/>
          </a:p>
          <a:p>
            <a:r>
              <a:rPr kumimoji="1" lang="en-US" altLang="zh-CN" sz="1800" dirty="0" err="1"/>
              <a:t>Naur</a:t>
            </a:r>
            <a:r>
              <a:rPr kumimoji="1" lang="en-US" altLang="zh-CN" sz="1800" dirty="0"/>
              <a:t>, P., J. W. Backus, et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al. 1960. Report on the algorithmic language ALGOL 60. CACM, 3(5):299–314. Revised in CACM 6:1, 1-17, 1963.</a:t>
            </a:r>
          </a:p>
          <a:p>
            <a:r>
              <a:rPr kumimoji="1" lang="en-US" altLang="zh-CN" sz="1800" dirty="0"/>
              <a:t>Younger, D. H. 1967. Recognition and parsing of context-free languages in time n</a:t>
            </a:r>
            <a:r>
              <a:rPr kumimoji="1" lang="en-US" altLang="zh-CN" sz="1800" baseline="30000" dirty="0"/>
              <a:t>3</a:t>
            </a:r>
            <a:r>
              <a:rPr kumimoji="1" lang="en-US" altLang="zh-CN" sz="1800" dirty="0"/>
              <a:t>. Information and Control, 10:189–208.</a:t>
            </a:r>
          </a:p>
          <a:p>
            <a:r>
              <a:rPr kumimoji="1" lang="en-US" altLang="zh-CN" sz="1800" dirty="0" err="1"/>
              <a:t>Kasami</a:t>
            </a:r>
            <a:r>
              <a:rPr kumimoji="1" lang="en-US" altLang="zh-CN" sz="1800" dirty="0"/>
              <a:t>, T. 1965. An efficient recognition and syntax analysis algorithm for context-free languages. Technical Report AFCRL-65-758, Air Force Cambridge Research Laboratory, Bedford, MA.</a:t>
            </a:r>
          </a:p>
          <a:p>
            <a:r>
              <a:rPr kumimoji="1" lang="en-US" altLang="zh-CN" sz="1800" dirty="0"/>
              <a:t>Kay, M. 1967. Experiments with a powerful parser. COLING.</a:t>
            </a:r>
          </a:p>
          <a:p>
            <a:r>
              <a:rPr lang="en-US" altLang="zh-CN" sz="1800" dirty="0" err="1">
                <a:effectLst/>
                <a:latin typeface="NimbusRomNo9L"/>
              </a:rPr>
              <a:t>Vinyals</a:t>
            </a:r>
            <a:r>
              <a:rPr lang="en-US" altLang="zh-CN" sz="1800" dirty="0">
                <a:effectLst/>
                <a:latin typeface="NimbusRomNo9L"/>
              </a:rPr>
              <a:t>, O., </a:t>
            </a:r>
            <a:r>
              <a:rPr lang="en-US" altLang="zh-CN" sz="1800" dirty="0" err="1">
                <a:effectLst/>
                <a:latin typeface="NimbusRomNo9L"/>
              </a:rPr>
              <a:t>Ł</a:t>
            </a:r>
            <a:r>
              <a:rPr lang="en-US" altLang="zh-CN" sz="1800" dirty="0">
                <a:effectLst/>
                <a:latin typeface="NimbusRomNo9L"/>
              </a:rPr>
              <a:t>. Kaiser, T. Koo, S. Petrov, I. </a:t>
            </a:r>
            <a:r>
              <a:rPr lang="en-US" altLang="zh-CN" sz="1800" dirty="0" err="1">
                <a:effectLst/>
                <a:latin typeface="NimbusRomNo9L"/>
              </a:rPr>
              <a:t>Sutskever</a:t>
            </a:r>
            <a:r>
              <a:rPr lang="en-US" altLang="zh-CN" sz="1800" dirty="0">
                <a:effectLst/>
                <a:latin typeface="NimbusRomNo9L"/>
              </a:rPr>
              <a:t>, and G. Hinton. 2015. Grammar as a foreign language. </a:t>
            </a:r>
            <a:r>
              <a:rPr lang="en-US" altLang="zh-CN" sz="1800" i="1" dirty="0" err="1">
                <a:effectLst/>
                <a:latin typeface="NimbusRomNo9L"/>
              </a:rPr>
              <a:t>NeurIPS</a:t>
            </a:r>
            <a:r>
              <a:rPr lang="en-US" altLang="zh-CN" sz="1800" dirty="0">
                <a:effectLst/>
                <a:latin typeface="NimbusRomNo9L"/>
              </a:rPr>
              <a:t>. </a:t>
            </a:r>
            <a:endParaRPr kumimoji="1" lang="en-US" altLang="zh-CN" sz="1800" dirty="0"/>
          </a:p>
          <a:p>
            <a:r>
              <a:rPr lang="en-US" altLang="zh-CN" sz="1800" dirty="0" err="1">
                <a:effectLst/>
                <a:latin typeface="NimbusRomNo9L"/>
              </a:rPr>
              <a:t>Kitaev</a:t>
            </a:r>
            <a:r>
              <a:rPr lang="en-US" altLang="zh-CN" sz="1800" dirty="0">
                <a:effectLst/>
                <a:latin typeface="NimbusRomNo9L"/>
              </a:rPr>
              <a:t>, N., S. Cao, and D. Klein. 2019. </a:t>
            </a:r>
            <a:r>
              <a:rPr kumimoji="1" lang="en-US" altLang="zh-CN" sz="1800" dirty="0"/>
              <a:t>Multilingual constituency parsing with self-attention and pre-training. ACL. </a:t>
            </a:r>
          </a:p>
          <a:p>
            <a:r>
              <a:rPr kumimoji="1" lang="en-US" altLang="zh-CN" sz="1800" dirty="0"/>
              <a:t>Wang, W. and B. Chang. 2016. Graph-based dependency parsing with bidirectional LSTM. ACL. </a:t>
            </a:r>
          </a:p>
          <a:p>
            <a:r>
              <a:rPr kumimoji="1" lang="en-US" altLang="zh-CN" sz="1800" dirty="0"/>
              <a:t>Black, E., et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al. 1991. A procedure for quantitatively comparing the syntactic coverage of English grammars. Speech and Natural Language Workshop.</a:t>
            </a:r>
          </a:p>
          <a:p>
            <a:r>
              <a:rPr kumimoji="1" lang="en-US" altLang="zh-CN" sz="1800" dirty="0"/>
              <a:t>Kim,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T.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2022.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Revisiting the Practical Effectiveness of Constituency Parse Extraction from Pre-trained Language Models.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ACL.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5B52-3FA1-C447-C2F1-5074FEA29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CN"/>
              <a:t>FA 2026</a:t>
            </a:r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DA3864-193F-B17C-1449-76CD20AF5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CSE5026 CogSci</a:t>
            </a:r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8E958E-CA7C-93EF-1896-BAE9D2B16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E8C85-A08E-0745-AC03-803657F4B28A}" type="slidenum">
              <a:rPr kumimoji="1" lang="zh-CN" altLang="en-US" smtClean="0"/>
              <a:pPr/>
              <a:t>58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9111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kumimoji="1" sz="2000" dirty="0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9543</TotalTime>
  <Words>4697</Words>
  <Application>Microsoft Macintosh PowerPoint</Application>
  <PresentationFormat>宽屏</PresentationFormat>
  <Paragraphs>866</Paragraphs>
  <Slides>58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0" baseType="lpstr">
      <vt:lpstr>等线</vt:lpstr>
      <vt:lpstr>Gilroy</vt:lpstr>
      <vt:lpstr>NimbusRomNo9L</vt:lpstr>
      <vt:lpstr>Songti SC</vt:lpstr>
      <vt:lpstr>Arial</vt:lpstr>
      <vt:lpstr>Calibri</vt:lpstr>
      <vt:lpstr>Cambria Math</vt:lpstr>
      <vt:lpstr>Consolas</vt:lpstr>
      <vt:lpstr>Edwardian Script ITC</vt:lpstr>
      <vt:lpstr>Georgia</vt:lpstr>
      <vt:lpstr>Times New Roman</vt:lpstr>
      <vt:lpstr>Office 主题​​</vt:lpstr>
      <vt:lpstr>CSE5026 Introduction and Frontiers of Cognitive Science 认知科学导论与前沿 Lecture 0x - Context-Free Grammars and Constituency Parsing</vt:lpstr>
      <vt:lpstr>Overview</vt:lpstr>
      <vt:lpstr>Grammar ≈ Syntax</vt:lpstr>
      <vt:lpstr>Constituency </vt:lpstr>
      <vt:lpstr>Evidence for constituency (more examples)</vt:lpstr>
      <vt:lpstr>Terminology</vt:lpstr>
      <vt:lpstr>How do we use constituency to describe grammar?</vt:lpstr>
      <vt:lpstr>Context-Free Grammars (CFG)</vt:lpstr>
      <vt:lpstr>Rules can be hierarchically embedded</vt:lpstr>
      <vt:lpstr>CFG as a device for generating sentences</vt:lpstr>
      <vt:lpstr>CFG: More terms and rules</vt:lpstr>
      <vt:lpstr>CFG: Examples from AITS corpus</vt:lpstr>
      <vt:lpstr>Use ATIS grammar to generate “AITS-language”</vt:lpstr>
      <vt:lpstr>CFG: Bracketed Notation</vt:lpstr>
      <vt:lpstr>Formal definition of CFG</vt:lpstr>
      <vt:lpstr>Treebank</vt:lpstr>
      <vt:lpstr>Chomsky normal form (CNF)</vt:lpstr>
      <vt:lpstr>Why CNF?</vt:lpstr>
      <vt:lpstr>Problem in syntactic parsing: Ambiguity</vt:lpstr>
      <vt:lpstr>Overview</vt:lpstr>
      <vt:lpstr>Parsing: A Dynamic Programming Approach</vt:lpstr>
      <vt:lpstr>CKY Algo. Preprocessing: Conversion to CNF</vt:lpstr>
      <vt:lpstr>CKY Algo. Preprocessing: Conversion to CNF</vt:lpstr>
      <vt:lpstr>Grammar in CNF: Example</vt:lpstr>
      <vt:lpstr>CKY Recognition</vt:lpstr>
      <vt:lpstr>CKY Recognition: Task breakdown</vt:lpstr>
      <vt:lpstr>CKY Recognition: Example</vt:lpstr>
      <vt:lpstr>CKY Recognition: Example</vt:lpstr>
      <vt:lpstr>CKY Recognition: Example</vt:lpstr>
      <vt:lpstr>CKY Recognition: Example</vt:lpstr>
      <vt:lpstr>CKY Recognition: Example</vt:lpstr>
      <vt:lpstr>CKY Recognition: Example</vt:lpstr>
      <vt:lpstr>CKY Algorithm</vt:lpstr>
      <vt:lpstr>CKY Parsing</vt:lpstr>
      <vt:lpstr>CKY Parsing - Add pointers</vt:lpstr>
      <vt:lpstr>CKY Parsing - Multiple versions for same non-terminal</vt:lpstr>
      <vt:lpstr>CKY Parsing - Build the parse tree recursively</vt:lpstr>
      <vt:lpstr>CKY Parsing - Build the parse tree recursively</vt:lpstr>
      <vt:lpstr>CKY Parsing - Build the parse tree recursively</vt:lpstr>
      <vt:lpstr>Basic CKY Parsing’s Problem</vt:lpstr>
      <vt:lpstr>Pre-Neural Solutions</vt:lpstr>
      <vt:lpstr>PCFG Example</vt:lpstr>
      <vt:lpstr>Use PCFG for disambiguating parsing results</vt:lpstr>
      <vt:lpstr>PCFG Usage Example</vt:lpstr>
      <vt:lpstr>Overview</vt:lpstr>
      <vt:lpstr>Neural Constituency Parsing</vt:lpstr>
      <vt:lpstr>Neural CKY Architecture</vt:lpstr>
      <vt:lpstr>Represent spans with embedding vectors</vt:lpstr>
      <vt:lpstr>Use Span Scores for Parsing</vt:lpstr>
      <vt:lpstr>Use Span Scores for Parsing</vt:lpstr>
      <vt:lpstr>Use Span Scores for Parsing</vt:lpstr>
      <vt:lpstr>Actually, a much earlier neural parsing solution</vt:lpstr>
      <vt:lpstr>Evaluating Parsers</vt:lpstr>
      <vt:lpstr>LLMs can do Constituency Parsing</vt:lpstr>
      <vt:lpstr>LLMs can do Constituency Parsing</vt:lpstr>
      <vt:lpstr>Universals in human languages</vt:lpstr>
      <vt:lpstr>Constituency Parsing with LLMs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xy</dc:creator>
  <cp:lastModifiedBy>Yang Xu</cp:lastModifiedBy>
  <cp:revision>6</cp:revision>
  <dcterms:created xsi:type="dcterms:W3CDTF">2023-12-15T07:20:10Z</dcterms:created>
  <dcterms:modified xsi:type="dcterms:W3CDTF">2026-09-01T04:45:28Z</dcterms:modified>
</cp:coreProperties>
</file>